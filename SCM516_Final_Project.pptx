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notesMasterIdLst>
    <p:notesMasterId r:id="rId43"/>
  </p:notesMasterIdLst>
  <p:sldIdLst>
    <p:sldId id="256" r:id="rId2"/>
    <p:sldId id="257" r:id="rId3"/>
    <p:sldId id="259" r:id="rId4"/>
    <p:sldId id="270" r:id="rId5"/>
    <p:sldId id="275" r:id="rId6"/>
    <p:sldId id="261" r:id="rId7"/>
    <p:sldId id="273" r:id="rId8"/>
    <p:sldId id="277" r:id="rId9"/>
    <p:sldId id="304" r:id="rId10"/>
    <p:sldId id="271" r:id="rId11"/>
    <p:sldId id="272" r:id="rId12"/>
    <p:sldId id="278" r:id="rId13"/>
    <p:sldId id="279" r:id="rId14"/>
    <p:sldId id="280" r:id="rId15"/>
    <p:sldId id="274" r:id="rId16"/>
    <p:sldId id="281" r:id="rId17"/>
    <p:sldId id="288" r:id="rId18"/>
    <p:sldId id="289" r:id="rId19"/>
    <p:sldId id="276" r:id="rId20"/>
    <p:sldId id="262" r:id="rId21"/>
    <p:sldId id="305" r:id="rId22"/>
    <p:sldId id="263" r:id="rId23"/>
    <p:sldId id="282" r:id="rId24"/>
    <p:sldId id="268" r:id="rId25"/>
    <p:sldId id="284" r:id="rId26"/>
    <p:sldId id="292" r:id="rId27"/>
    <p:sldId id="286" r:id="rId28"/>
    <p:sldId id="295" r:id="rId29"/>
    <p:sldId id="296" r:id="rId30"/>
    <p:sldId id="293" r:id="rId31"/>
    <p:sldId id="294" r:id="rId32"/>
    <p:sldId id="297" r:id="rId33"/>
    <p:sldId id="301" r:id="rId34"/>
    <p:sldId id="299" r:id="rId35"/>
    <p:sldId id="300" r:id="rId36"/>
    <p:sldId id="312" r:id="rId37"/>
    <p:sldId id="308" r:id="rId38"/>
    <p:sldId id="309" r:id="rId39"/>
    <p:sldId id="310" r:id="rId40"/>
    <p:sldId id="311" r:id="rId41"/>
    <p:sldId id="30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5BEC16-F49E-2411-8800-784F1F998608}" v="268" dt="2025-03-01T21:55:25.560"/>
    <p1510:client id="{7B0A91C6-C269-823A-6034-F1060BCBFA0A}" v="11" dt="2025-03-01T14:59:26.622"/>
    <p1510:client id="{8D067219-A540-CF45-81B9-F71DD1C058D9}" v="2456" dt="2025-02-28T22:56:00.796"/>
    <p1510:client id="{B5481FE2-5AE7-BA5D-5437-74CC18ACC737}" v="4" dt="2025-02-28T19:27:30.855"/>
    <p1510:client id="{EC153690-7205-FBC0-13A4-AD24C6BE8410}" v="411" dt="2025-03-01T01:35:42.028"/>
    <p1510:client id="{EE95D426-0D6E-56B0-89A9-A033E402B134}" v="128" dt="2025-03-01T23:40:37.302"/>
    <p1510:client id="{FB950066-C1AF-95A5-0F0B-60055B746744}" v="1" dt="2025-02-28T19:58:58.9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939"/>
    <p:restoredTop sz="94687"/>
  </p:normalViewPr>
  <p:slideViewPr>
    <p:cSldViewPr snapToGrid="0">
      <p:cViewPr varScale="1">
        <p:scale>
          <a:sx n="46" d="100"/>
          <a:sy n="46" d="100"/>
        </p:scale>
        <p:origin x="192" y="1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6612E3-9162-4166-A8DF-3E78FE5ED085}"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27B6855-CA23-4AAE-8D30-6126FF2E54F1}">
      <dgm:prSet/>
      <dgm:spPr/>
      <dgm:t>
        <a:bodyPr/>
        <a:lstStyle/>
        <a:p>
          <a:r>
            <a:rPr lang="en-US" b="0" i="0">
              <a:solidFill>
                <a:srgbClr val="374151"/>
              </a:solidFill>
              <a:effectLst/>
              <a:latin typeface="__foundersGrotesk_c3e0d2"/>
            </a:rPr>
            <a:t>To harness predictive modeling to extract meaningful insights from data using classification and regression algorithms.</a:t>
          </a:r>
          <a:endParaRPr lang="en-US"/>
        </a:p>
      </dgm:t>
    </dgm:pt>
    <dgm:pt modelId="{C0BD3652-BEB2-4647-A083-4B87A2A091AB}" type="parTrans" cxnId="{D64F8301-C5AF-4997-8216-36632249A22E}">
      <dgm:prSet/>
      <dgm:spPr/>
      <dgm:t>
        <a:bodyPr/>
        <a:lstStyle/>
        <a:p>
          <a:endParaRPr lang="en-US"/>
        </a:p>
      </dgm:t>
    </dgm:pt>
    <dgm:pt modelId="{E310BA6F-ECCD-43AF-BCA5-C9BA26CFB7D6}" type="sibTrans" cxnId="{D64F8301-C5AF-4997-8216-36632249A22E}">
      <dgm:prSet phldrT="1" phldr="0"/>
      <dgm:spPr/>
      <dgm:t>
        <a:bodyPr/>
        <a:lstStyle/>
        <a:p>
          <a:endParaRPr lang="en-US"/>
        </a:p>
      </dgm:t>
    </dgm:pt>
    <dgm:pt modelId="{DE693C4E-ACF3-4F08-B446-BA030096EE29}">
      <dgm:prSet/>
      <dgm:spPr/>
      <dgm:t>
        <a:bodyPr/>
        <a:lstStyle/>
        <a:p>
          <a:r>
            <a:rPr lang="en-US" b="1"/>
            <a:t>Classification dataset: </a:t>
          </a:r>
          <a:r>
            <a:rPr lang="en-US" b="0" i="0"/>
            <a:t>Naïve Bayes, Decision Tree, Random Forest, KNN, feature importance and conditional probability.</a:t>
          </a:r>
          <a:endParaRPr lang="en-US"/>
        </a:p>
      </dgm:t>
    </dgm:pt>
    <dgm:pt modelId="{3E4F19D0-C983-4D95-8833-A0FBD1F145D4}" type="parTrans" cxnId="{D1F08119-8F9F-4FE7-A081-49BE09935988}">
      <dgm:prSet/>
      <dgm:spPr/>
      <dgm:t>
        <a:bodyPr/>
        <a:lstStyle/>
        <a:p>
          <a:endParaRPr lang="en-US"/>
        </a:p>
      </dgm:t>
    </dgm:pt>
    <dgm:pt modelId="{9FA3E49C-162A-419F-A157-625434D8AA22}" type="sibTrans" cxnId="{D1F08119-8F9F-4FE7-A081-49BE09935988}">
      <dgm:prSet phldrT="2" phldr="0"/>
      <dgm:spPr/>
      <dgm:t>
        <a:bodyPr/>
        <a:lstStyle/>
        <a:p>
          <a:endParaRPr lang="en-US"/>
        </a:p>
      </dgm:t>
    </dgm:pt>
    <dgm:pt modelId="{3DBFCAD1-3CD4-421E-B3E6-2A064F3D88E1}">
      <dgm:prSet/>
      <dgm:spPr/>
      <dgm:t>
        <a:bodyPr/>
        <a:lstStyle/>
        <a:p>
          <a:r>
            <a:rPr lang="en-US" b="1" i="0"/>
            <a:t>Regression dataset: </a:t>
          </a:r>
          <a:r>
            <a:rPr lang="en-US" b="0" i="0"/>
            <a:t>linear and polynomial regression models to predict the values of a response (target) variable. </a:t>
          </a:r>
          <a:endParaRPr lang="en-US"/>
        </a:p>
      </dgm:t>
    </dgm:pt>
    <dgm:pt modelId="{B8186B5D-E943-4624-8B24-6A22E814E647}" type="parTrans" cxnId="{682481EF-FE0E-4D41-9F36-659B57D0CB2B}">
      <dgm:prSet/>
      <dgm:spPr/>
      <dgm:t>
        <a:bodyPr/>
        <a:lstStyle/>
        <a:p>
          <a:endParaRPr lang="en-US"/>
        </a:p>
      </dgm:t>
    </dgm:pt>
    <dgm:pt modelId="{E20943A7-8F92-48D0-BB05-C2DD804E8B84}" type="sibTrans" cxnId="{682481EF-FE0E-4D41-9F36-659B57D0CB2B}">
      <dgm:prSet phldrT="3" phldr="0"/>
      <dgm:spPr/>
      <dgm:t>
        <a:bodyPr/>
        <a:lstStyle/>
        <a:p>
          <a:endParaRPr lang="en-US"/>
        </a:p>
      </dgm:t>
    </dgm:pt>
    <dgm:pt modelId="{0A0CE136-BDF4-4A76-8526-A8EBD747E27F}">
      <dgm:prSet/>
      <dgm:spPr/>
      <dgm:t>
        <a:bodyPr/>
        <a:lstStyle/>
        <a:p>
          <a:r>
            <a:rPr lang="en-US" b="0" i="0">
              <a:solidFill>
                <a:srgbClr val="374151"/>
              </a:solidFill>
              <a:effectLst/>
              <a:latin typeface="__foundersGrotesk_c3e0d2"/>
            </a:rPr>
            <a:t>By the end, we aim to identify the most effective model and assess its generalization ability.</a:t>
          </a:r>
          <a:endParaRPr lang="en-US"/>
        </a:p>
      </dgm:t>
    </dgm:pt>
    <dgm:pt modelId="{FBEBFB0C-C9AE-4A64-9901-8E23CDCF902B}" type="parTrans" cxnId="{D70AB45E-2CF7-4C53-B480-3A941D59F4C1}">
      <dgm:prSet/>
      <dgm:spPr/>
      <dgm:t>
        <a:bodyPr/>
        <a:lstStyle/>
        <a:p>
          <a:endParaRPr lang="en-US"/>
        </a:p>
      </dgm:t>
    </dgm:pt>
    <dgm:pt modelId="{50C76B15-EEA8-469C-B237-B99A2F6A8067}" type="sibTrans" cxnId="{D70AB45E-2CF7-4C53-B480-3A941D59F4C1}">
      <dgm:prSet phldrT="4" phldr="0"/>
      <dgm:spPr/>
      <dgm:t>
        <a:bodyPr/>
        <a:lstStyle/>
        <a:p>
          <a:endParaRPr lang="en-US"/>
        </a:p>
      </dgm:t>
    </dgm:pt>
    <dgm:pt modelId="{A762F423-1DFC-8648-9ECF-F68A76DB37AA}" type="pres">
      <dgm:prSet presAssocID="{146612E3-9162-4166-A8DF-3E78FE5ED085}" presName="vert0" presStyleCnt="0">
        <dgm:presLayoutVars>
          <dgm:dir/>
          <dgm:animOne val="branch"/>
          <dgm:animLvl val="lvl"/>
        </dgm:presLayoutVars>
      </dgm:prSet>
      <dgm:spPr/>
    </dgm:pt>
    <dgm:pt modelId="{0EAEE6E1-80E2-764C-9FDE-44ABEA390E60}" type="pres">
      <dgm:prSet presAssocID="{C27B6855-CA23-4AAE-8D30-6126FF2E54F1}" presName="thickLine" presStyleLbl="alignNode1" presStyleIdx="0" presStyleCnt="4"/>
      <dgm:spPr/>
    </dgm:pt>
    <dgm:pt modelId="{F9816324-96BB-AC46-9D5B-85E6550A4B31}" type="pres">
      <dgm:prSet presAssocID="{C27B6855-CA23-4AAE-8D30-6126FF2E54F1}" presName="horz1" presStyleCnt="0"/>
      <dgm:spPr/>
    </dgm:pt>
    <dgm:pt modelId="{F580A9BC-B7E8-1B47-8AC4-E7549CCBAD4B}" type="pres">
      <dgm:prSet presAssocID="{C27B6855-CA23-4AAE-8D30-6126FF2E54F1}" presName="tx1" presStyleLbl="revTx" presStyleIdx="0" presStyleCnt="4"/>
      <dgm:spPr/>
    </dgm:pt>
    <dgm:pt modelId="{2297757D-62E5-F046-9136-F29042BFF536}" type="pres">
      <dgm:prSet presAssocID="{C27B6855-CA23-4AAE-8D30-6126FF2E54F1}" presName="vert1" presStyleCnt="0"/>
      <dgm:spPr/>
    </dgm:pt>
    <dgm:pt modelId="{7B59B68D-0D47-9948-9585-B49037613661}" type="pres">
      <dgm:prSet presAssocID="{DE693C4E-ACF3-4F08-B446-BA030096EE29}" presName="thickLine" presStyleLbl="alignNode1" presStyleIdx="1" presStyleCnt="4"/>
      <dgm:spPr/>
    </dgm:pt>
    <dgm:pt modelId="{D93EE78A-843B-BD47-8FF9-6791664E8C4F}" type="pres">
      <dgm:prSet presAssocID="{DE693C4E-ACF3-4F08-B446-BA030096EE29}" presName="horz1" presStyleCnt="0"/>
      <dgm:spPr/>
    </dgm:pt>
    <dgm:pt modelId="{24915F1D-9F86-644A-AC9A-464D3F49AF4B}" type="pres">
      <dgm:prSet presAssocID="{DE693C4E-ACF3-4F08-B446-BA030096EE29}" presName="tx1" presStyleLbl="revTx" presStyleIdx="1" presStyleCnt="4"/>
      <dgm:spPr/>
    </dgm:pt>
    <dgm:pt modelId="{E1C46517-E572-DC42-B12C-4D6D37BA4C6D}" type="pres">
      <dgm:prSet presAssocID="{DE693C4E-ACF3-4F08-B446-BA030096EE29}" presName="vert1" presStyleCnt="0"/>
      <dgm:spPr/>
    </dgm:pt>
    <dgm:pt modelId="{370A52F4-0917-2B43-8BF4-EE923E33ADA7}" type="pres">
      <dgm:prSet presAssocID="{3DBFCAD1-3CD4-421E-B3E6-2A064F3D88E1}" presName="thickLine" presStyleLbl="alignNode1" presStyleIdx="2" presStyleCnt="4"/>
      <dgm:spPr/>
    </dgm:pt>
    <dgm:pt modelId="{426B73E6-0C98-8747-9807-1211F579AE05}" type="pres">
      <dgm:prSet presAssocID="{3DBFCAD1-3CD4-421E-B3E6-2A064F3D88E1}" presName="horz1" presStyleCnt="0"/>
      <dgm:spPr/>
    </dgm:pt>
    <dgm:pt modelId="{8D21573E-4E76-8441-8434-963DC0A3F929}" type="pres">
      <dgm:prSet presAssocID="{3DBFCAD1-3CD4-421E-B3E6-2A064F3D88E1}" presName="tx1" presStyleLbl="revTx" presStyleIdx="2" presStyleCnt="4"/>
      <dgm:spPr/>
    </dgm:pt>
    <dgm:pt modelId="{BBFEBB9B-FF65-1646-82E6-49B38884C070}" type="pres">
      <dgm:prSet presAssocID="{3DBFCAD1-3CD4-421E-B3E6-2A064F3D88E1}" presName="vert1" presStyleCnt="0"/>
      <dgm:spPr/>
    </dgm:pt>
    <dgm:pt modelId="{7A58768B-0214-2C4A-A789-297B2AD9DF11}" type="pres">
      <dgm:prSet presAssocID="{0A0CE136-BDF4-4A76-8526-A8EBD747E27F}" presName="thickLine" presStyleLbl="alignNode1" presStyleIdx="3" presStyleCnt="4"/>
      <dgm:spPr/>
    </dgm:pt>
    <dgm:pt modelId="{3B4A6F13-0630-AE4E-99FF-C60D14082A25}" type="pres">
      <dgm:prSet presAssocID="{0A0CE136-BDF4-4A76-8526-A8EBD747E27F}" presName="horz1" presStyleCnt="0"/>
      <dgm:spPr/>
    </dgm:pt>
    <dgm:pt modelId="{D026EFA6-80E9-4945-BEED-D491B9CAB56A}" type="pres">
      <dgm:prSet presAssocID="{0A0CE136-BDF4-4A76-8526-A8EBD747E27F}" presName="tx1" presStyleLbl="revTx" presStyleIdx="3" presStyleCnt="4"/>
      <dgm:spPr/>
    </dgm:pt>
    <dgm:pt modelId="{05E29DB8-9F0F-EA42-A250-EDB3A22435F6}" type="pres">
      <dgm:prSet presAssocID="{0A0CE136-BDF4-4A76-8526-A8EBD747E27F}" presName="vert1" presStyleCnt="0"/>
      <dgm:spPr/>
    </dgm:pt>
  </dgm:ptLst>
  <dgm:cxnLst>
    <dgm:cxn modelId="{D64F8301-C5AF-4997-8216-36632249A22E}" srcId="{146612E3-9162-4166-A8DF-3E78FE5ED085}" destId="{C27B6855-CA23-4AAE-8D30-6126FF2E54F1}" srcOrd="0" destOrd="0" parTransId="{C0BD3652-BEB2-4647-A083-4B87A2A091AB}" sibTransId="{E310BA6F-ECCD-43AF-BCA5-C9BA26CFB7D6}"/>
    <dgm:cxn modelId="{D1F08119-8F9F-4FE7-A081-49BE09935988}" srcId="{146612E3-9162-4166-A8DF-3E78FE5ED085}" destId="{DE693C4E-ACF3-4F08-B446-BA030096EE29}" srcOrd="1" destOrd="0" parTransId="{3E4F19D0-C983-4D95-8833-A0FBD1F145D4}" sibTransId="{9FA3E49C-162A-419F-A157-625434D8AA22}"/>
    <dgm:cxn modelId="{00A9DF5C-AF71-244C-9DC7-1FB6B2481EB0}" type="presOf" srcId="{3DBFCAD1-3CD4-421E-B3E6-2A064F3D88E1}" destId="{8D21573E-4E76-8441-8434-963DC0A3F929}" srcOrd="0" destOrd="0" presId="urn:microsoft.com/office/officeart/2008/layout/LinedList"/>
    <dgm:cxn modelId="{D70AB45E-2CF7-4C53-B480-3A941D59F4C1}" srcId="{146612E3-9162-4166-A8DF-3E78FE5ED085}" destId="{0A0CE136-BDF4-4A76-8526-A8EBD747E27F}" srcOrd="3" destOrd="0" parTransId="{FBEBFB0C-C9AE-4A64-9901-8E23CDCF902B}" sibTransId="{50C76B15-EEA8-469C-B237-B99A2F6A8067}"/>
    <dgm:cxn modelId="{9BAFD87C-9E0C-CA4D-AAAC-2A249E9E8F89}" type="presOf" srcId="{C27B6855-CA23-4AAE-8D30-6126FF2E54F1}" destId="{F580A9BC-B7E8-1B47-8AC4-E7549CCBAD4B}" srcOrd="0" destOrd="0" presId="urn:microsoft.com/office/officeart/2008/layout/LinedList"/>
    <dgm:cxn modelId="{97D97B99-E2FE-BE48-A62A-7DD7B50BFF63}" type="presOf" srcId="{146612E3-9162-4166-A8DF-3E78FE5ED085}" destId="{A762F423-1DFC-8648-9ECF-F68A76DB37AA}" srcOrd="0" destOrd="0" presId="urn:microsoft.com/office/officeart/2008/layout/LinedList"/>
    <dgm:cxn modelId="{B3F7A49F-FBE3-8042-98FF-FBEB6A6A422C}" type="presOf" srcId="{DE693C4E-ACF3-4F08-B446-BA030096EE29}" destId="{24915F1D-9F86-644A-AC9A-464D3F49AF4B}" srcOrd="0" destOrd="0" presId="urn:microsoft.com/office/officeart/2008/layout/LinedList"/>
    <dgm:cxn modelId="{682481EF-FE0E-4D41-9F36-659B57D0CB2B}" srcId="{146612E3-9162-4166-A8DF-3E78FE5ED085}" destId="{3DBFCAD1-3CD4-421E-B3E6-2A064F3D88E1}" srcOrd="2" destOrd="0" parTransId="{B8186B5D-E943-4624-8B24-6A22E814E647}" sibTransId="{E20943A7-8F92-48D0-BB05-C2DD804E8B84}"/>
    <dgm:cxn modelId="{C47CEAFF-6759-0344-8D07-E91A2C91D4B7}" type="presOf" srcId="{0A0CE136-BDF4-4A76-8526-A8EBD747E27F}" destId="{D026EFA6-80E9-4945-BEED-D491B9CAB56A}" srcOrd="0" destOrd="0" presId="urn:microsoft.com/office/officeart/2008/layout/LinedList"/>
    <dgm:cxn modelId="{F65F1B7B-2829-DF46-B4F8-03CBD39FE962}" type="presParOf" srcId="{A762F423-1DFC-8648-9ECF-F68A76DB37AA}" destId="{0EAEE6E1-80E2-764C-9FDE-44ABEA390E60}" srcOrd="0" destOrd="0" presId="urn:microsoft.com/office/officeart/2008/layout/LinedList"/>
    <dgm:cxn modelId="{3D64CC13-198E-E042-8BCA-38C5B3DAD48D}" type="presParOf" srcId="{A762F423-1DFC-8648-9ECF-F68A76DB37AA}" destId="{F9816324-96BB-AC46-9D5B-85E6550A4B31}" srcOrd="1" destOrd="0" presId="urn:microsoft.com/office/officeart/2008/layout/LinedList"/>
    <dgm:cxn modelId="{9897ED88-5F40-6148-BECA-A47475065176}" type="presParOf" srcId="{F9816324-96BB-AC46-9D5B-85E6550A4B31}" destId="{F580A9BC-B7E8-1B47-8AC4-E7549CCBAD4B}" srcOrd="0" destOrd="0" presId="urn:microsoft.com/office/officeart/2008/layout/LinedList"/>
    <dgm:cxn modelId="{7F851D20-E1AF-FA46-BAAB-30896916300D}" type="presParOf" srcId="{F9816324-96BB-AC46-9D5B-85E6550A4B31}" destId="{2297757D-62E5-F046-9136-F29042BFF536}" srcOrd="1" destOrd="0" presId="urn:microsoft.com/office/officeart/2008/layout/LinedList"/>
    <dgm:cxn modelId="{A1F235F1-99A2-7845-9889-D718661E2814}" type="presParOf" srcId="{A762F423-1DFC-8648-9ECF-F68A76DB37AA}" destId="{7B59B68D-0D47-9948-9585-B49037613661}" srcOrd="2" destOrd="0" presId="urn:microsoft.com/office/officeart/2008/layout/LinedList"/>
    <dgm:cxn modelId="{D0000BB6-6C2E-4447-BA80-5C590DA925F6}" type="presParOf" srcId="{A762F423-1DFC-8648-9ECF-F68A76DB37AA}" destId="{D93EE78A-843B-BD47-8FF9-6791664E8C4F}" srcOrd="3" destOrd="0" presId="urn:microsoft.com/office/officeart/2008/layout/LinedList"/>
    <dgm:cxn modelId="{202459E6-71CA-AC46-8FF1-043C6E2E1102}" type="presParOf" srcId="{D93EE78A-843B-BD47-8FF9-6791664E8C4F}" destId="{24915F1D-9F86-644A-AC9A-464D3F49AF4B}" srcOrd="0" destOrd="0" presId="urn:microsoft.com/office/officeart/2008/layout/LinedList"/>
    <dgm:cxn modelId="{D5954959-782B-5840-911B-C09B22A2A165}" type="presParOf" srcId="{D93EE78A-843B-BD47-8FF9-6791664E8C4F}" destId="{E1C46517-E572-DC42-B12C-4D6D37BA4C6D}" srcOrd="1" destOrd="0" presId="urn:microsoft.com/office/officeart/2008/layout/LinedList"/>
    <dgm:cxn modelId="{A8DDC1F6-048E-0D4C-A75E-F43CA75AE8AD}" type="presParOf" srcId="{A762F423-1DFC-8648-9ECF-F68A76DB37AA}" destId="{370A52F4-0917-2B43-8BF4-EE923E33ADA7}" srcOrd="4" destOrd="0" presId="urn:microsoft.com/office/officeart/2008/layout/LinedList"/>
    <dgm:cxn modelId="{E55F9DD6-4F64-B54B-A9A4-A324B8B6CF61}" type="presParOf" srcId="{A762F423-1DFC-8648-9ECF-F68A76DB37AA}" destId="{426B73E6-0C98-8747-9807-1211F579AE05}" srcOrd="5" destOrd="0" presId="urn:microsoft.com/office/officeart/2008/layout/LinedList"/>
    <dgm:cxn modelId="{9FA08839-C8CC-B24D-864F-370BB9508A83}" type="presParOf" srcId="{426B73E6-0C98-8747-9807-1211F579AE05}" destId="{8D21573E-4E76-8441-8434-963DC0A3F929}" srcOrd="0" destOrd="0" presId="urn:microsoft.com/office/officeart/2008/layout/LinedList"/>
    <dgm:cxn modelId="{C4A97A10-F8D8-A740-B020-BE855A76B768}" type="presParOf" srcId="{426B73E6-0C98-8747-9807-1211F579AE05}" destId="{BBFEBB9B-FF65-1646-82E6-49B38884C070}" srcOrd="1" destOrd="0" presId="urn:microsoft.com/office/officeart/2008/layout/LinedList"/>
    <dgm:cxn modelId="{948BCA15-3DA1-274C-B1F9-867460CD5460}" type="presParOf" srcId="{A762F423-1DFC-8648-9ECF-F68A76DB37AA}" destId="{7A58768B-0214-2C4A-A789-297B2AD9DF11}" srcOrd="6" destOrd="0" presId="urn:microsoft.com/office/officeart/2008/layout/LinedList"/>
    <dgm:cxn modelId="{CA49E42F-5682-C14C-90D9-F357BA3FAA67}" type="presParOf" srcId="{A762F423-1DFC-8648-9ECF-F68A76DB37AA}" destId="{3B4A6F13-0630-AE4E-99FF-C60D14082A25}" srcOrd="7" destOrd="0" presId="urn:microsoft.com/office/officeart/2008/layout/LinedList"/>
    <dgm:cxn modelId="{F7A39A53-A844-5F45-8AA6-88CF3D391340}" type="presParOf" srcId="{3B4A6F13-0630-AE4E-99FF-C60D14082A25}" destId="{D026EFA6-80E9-4945-BEED-D491B9CAB56A}" srcOrd="0" destOrd="0" presId="urn:microsoft.com/office/officeart/2008/layout/LinedList"/>
    <dgm:cxn modelId="{E6D2BB96-446E-0841-AAC6-E9BD793115CA}" type="presParOf" srcId="{3B4A6F13-0630-AE4E-99FF-C60D14082A25}" destId="{05E29DB8-9F0F-EA42-A250-EDB3A22435F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F84B33-282D-47CA-9039-9755BC8D558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88B2C16-70FD-419E-B7D7-83E448C0A917}">
      <dgm:prSet/>
      <dgm:spPr/>
      <dgm:t>
        <a:bodyPr/>
        <a:lstStyle/>
        <a:p>
          <a:r>
            <a:rPr lang="en-US" b="1"/>
            <a:t>Dataset Overview:</a:t>
          </a:r>
          <a:endParaRPr lang="en-US"/>
        </a:p>
      </dgm:t>
    </dgm:pt>
    <dgm:pt modelId="{1A3C26DA-240F-4E5D-B031-EB1DA75C02CA}" type="parTrans" cxnId="{6699F39D-0A96-4F84-B8A2-E30409161923}">
      <dgm:prSet/>
      <dgm:spPr/>
      <dgm:t>
        <a:bodyPr/>
        <a:lstStyle/>
        <a:p>
          <a:endParaRPr lang="en-US"/>
        </a:p>
      </dgm:t>
    </dgm:pt>
    <dgm:pt modelId="{C269ED5A-C2A7-4E3A-9D2B-668A39C2DDA4}" type="sibTrans" cxnId="{6699F39D-0A96-4F84-B8A2-E30409161923}">
      <dgm:prSet/>
      <dgm:spPr/>
      <dgm:t>
        <a:bodyPr/>
        <a:lstStyle/>
        <a:p>
          <a:endParaRPr lang="en-US"/>
        </a:p>
      </dgm:t>
    </dgm:pt>
    <dgm:pt modelId="{500929F5-CF93-4FE6-A782-A2BE31BBD333}">
      <dgm:prSet/>
      <dgm:spPr/>
      <dgm:t>
        <a:bodyPr/>
        <a:lstStyle/>
        <a:p>
          <a:r>
            <a:rPr lang="en-US"/>
            <a:t>We will be predicting customer churn where definition of the target variable is:</a:t>
          </a:r>
        </a:p>
      </dgm:t>
    </dgm:pt>
    <dgm:pt modelId="{F9306A44-277E-480F-9C39-9FBED14284BF}" type="parTrans" cxnId="{198D6499-AA52-461E-9198-D5F349096069}">
      <dgm:prSet/>
      <dgm:spPr/>
      <dgm:t>
        <a:bodyPr/>
        <a:lstStyle/>
        <a:p>
          <a:endParaRPr lang="en-US"/>
        </a:p>
      </dgm:t>
    </dgm:pt>
    <dgm:pt modelId="{4699CCA5-5875-41D5-8A17-37788C1F64E5}" type="sibTrans" cxnId="{198D6499-AA52-461E-9198-D5F349096069}">
      <dgm:prSet/>
      <dgm:spPr/>
      <dgm:t>
        <a:bodyPr/>
        <a:lstStyle/>
        <a:p>
          <a:endParaRPr lang="en-US"/>
        </a:p>
      </dgm:t>
    </dgm:pt>
    <dgm:pt modelId="{D90634EC-26DC-4237-8AB8-65F78729A414}">
      <dgm:prSet/>
      <dgm:spPr/>
      <dgm:t>
        <a:bodyPr/>
        <a:lstStyle/>
        <a:p>
          <a:r>
            <a:rPr lang="en-US"/>
            <a:t>Churn: 1 = Customer left, </a:t>
          </a:r>
        </a:p>
      </dgm:t>
    </dgm:pt>
    <dgm:pt modelId="{17CF1990-B53E-4D67-B32C-187283CAF9F4}" type="parTrans" cxnId="{E4F5F59C-3E89-4F45-98DE-373C7AB6E92D}">
      <dgm:prSet/>
      <dgm:spPr/>
      <dgm:t>
        <a:bodyPr/>
        <a:lstStyle/>
        <a:p>
          <a:endParaRPr lang="en-US"/>
        </a:p>
      </dgm:t>
    </dgm:pt>
    <dgm:pt modelId="{EC0C7B17-8B52-4D67-83EC-36D2D6E0AA68}" type="sibTrans" cxnId="{E4F5F59C-3E89-4F45-98DE-373C7AB6E92D}">
      <dgm:prSet/>
      <dgm:spPr/>
      <dgm:t>
        <a:bodyPr/>
        <a:lstStyle/>
        <a:p>
          <a:endParaRPr lang="en-US"/>
        </a:p>
      </dgm:t>
    </dgm:pt>
    <dgm:pt modelId="{262114E4-E5BC-4E58-B723-BE36A5A4F0C7}">
      <dgm:prSet/>
      <dgm:spPr/>
      <dgm:t>
        <a:bodyPr/>
        <a:lstStyle/>
        <a:p>
          <a:r>
            <a:rPr lang="en-US"/>
            <a:t>0 = Customer stayed.</a:t>
          </a:r>
        </a:p>
      </dgm:t>
    </dgm:pt>
    <dgm:pt modelId="{6C6DD7A8-2805-4282-812E-7E1D38DC48E9}" type="parTrans" cxnId="{C2CFB0C9-9BDE-4467-B6D9-7F3AECE54FA4}">
      <dgm:prSet/>
      <dgm:spPr/>
      <dgm:t>
        <a:bodyPr/>
        <a:lstStyle/>
        <a:p>
          <a:endParaRPr lang="en-US"/>
        </a:p>
      </dgm:t>
    </dgm:pt>
    <dgm:pt modelId="{27C352C9-35E3-4618-9E01-CCDC5E035E65}" type="sibTrans" cxnId="{C2CFB0C9-9BDE-4467-B6D9-7F3AECE54FA4}">
      <dgm:prSet/>
      <dgm:spPr/>
      <dgm:t>
        <a:bodyPr/>
        <a:lstStyle/>
        <a:p>
          <a:endParaRPr lang="en-US"/>
        </a:p>
      </dgm:t>
    </dgm:pt>
    <dgm:pt modelId="{E63B0E6A-FEDC-44B5-BB9C-906DB00DF9EC}">
      <dgm:prSet/>
      <dgm:spPr/>
      <dgm:t>
        <a:bodyPr/>
        <a:lstStyle/>
        <a:p>
          <a:r>
            <a:rPr lang="en-US" b="1"/>
            <a:t>Key Features:</a:t>
          </a:r>
          <a:endParaRPr lang="en-US"/>
        </a:p>
      </dgm:t>
    </dgm:pt>
    <dgm:pt modelId="{1DAE610B-0AF1-4014-924A-BEA3D9C3D437}" type="parTrans" cxnId="{4CD97FFD-90A5-43EA-8E30-6F162E87E927}">
      <dgm:prSet/>
      <dgm:spPr/>
      <dgm:t>
        <a:bodyPr/>
        <a:lstStyle/>
        <a:p>
          <a:endParaRPr lang="en-US"/>
        </a:p>
      </dgm:t>
    </dgm:pt>
    <dgm:pt modelId="{17ED75BC-F544-40BE-BE56-DCA9BF6C33E5}" type="sibTrans" cxnId="{4CD97FFD-90A5-43EA-8E30-6F162E87E927}">
      <dgm:prSet/>
      <dgm:spPr/>
      <dgm:t>
        <a:bodyPr/>
        <a:lstStyle/>
        <a:p>
          <a:endParaRPr lang="en-US"/>
        </a:p>
      </dgm:t>
    </dgm:pt>
    <dgm:pt modelId="{951D8C0A-7D55-4777-B291-CBB464DAA177}">
      <dgm:prSet/>
      <dgm:spPr/>
      <dgm:t>
        <a:bodyPr/>
        <a:lstStyle/>
        <a:p>
          <a:r>
            <a:rPr lang="en-US"/>
            <a:t>Demographics: Age of the customer.</a:t>
          </a:r>
        </a:p>
      </dgm:t>
    </dgm:pt>
    <dgm:pt modelId="{C9B3E5B0-CEE9-4D80-A7AC-ED78F4BD08C0}" type="parTrans" cxnId="{E9B9CF83-544B-42B9-AB41-598C2C9E7014}">
      <dgm:prSet/>
      <dgm:spPr/>
      <dgm:t>
        <a:bodyPr/>
        <a:lstStyle/>
        <a:p>
          <a:endParaRPr lang="en-US"/>
        </a:p>
      </dgm:t>
    </dgm:pt>
    <dgm:pt modelId="{9AA0A7D8-D38F-414C-B9CD-09E494480FB5}" type="sibTrans" cxnId="{E9B9CF83-544B-42B9-AB41-598C2C9E7014}">
      <dgm:prSet/>
      <dgm:spPr/>
      <dgm:t>
        <a:bodyPr/>
        <a:lstStyle/>
        <a:p>
          <a:endParaRPr lang="en-US"/>
        </a:p>
      </dgm:t>
    </dgm:pt>
    <dgm:pt modelId="{72D5FCA7-1C58-4F09-B726-5BA2E8ACD7FC}">
      <dgm:prSet/>
      <dgm:spPr/>
      <dgm:t>
        <a:bodyPr/>
        <a:lstStyle/>
        <a:p>
          <a:r>
            <a:rPr lang="en-US"/>
            <a:t>Subscription Details: Subscription length, contract type (one-year, two-year, month-to-month).</a:t>
          </a:r>
        </a:p>
      </dgm:t>
    </dgm:pt>
    <dgm:pt modelId="{7A470DAD-8C50-4CE2-AD8F-EF59348BD619}" type="parTrans" cxnId="{D1271EBF-2821-4DE0-894F-29BC085FFCBC}">
      <dgm:prSet/>
      <dgm:spPr/>
      <dgm:t>
        <a:bodyPr/>
        <a:lstStyle/>
        <a:p>
          <a:endParaRPr lang="en-US"/>
        </a:p>
      </dgm:t>
    </dgm:pt>
    <dgm:pt modelId="{F536D07F-599E-4ED5-AEC0-42E7D0835CBC}" type="sibTrans" cxnId="{D1271EBF-2821-4DE0-894F-29BC085FFCBC}">
      <dgm:prSet/>
      <dgm:spPr/>
      <dgm:t>
        <a:bodyPr/>
        <a:lstStyle/>
        <a:p>
          <a:endParaRPr lang="en-US"/>
        </a:p>
      </dgm:t>
    </dgm:pt>
    <dgm:pt modelId="{261789F1-B4EF-4575-B974-681D2A8CED55}">
      <dgm:prSet/>
      <dgm:spPr/>
      <dgm:t>
        <a:bodyPr/>
        <a:lstStyle/>
        <a:p>
          <a:r>
            <a:rPr lang="en-US"/>
            <a:t>Usage Behavior: Total data usage (GB), number of support calls.</a:t>
          </a:r>
        </a:p>
      </dgm:t>
    </dgm:pt>
    <dgm:pt modelId="{8421FDC9-2FD5-4666-9310-F2451019175E}" type="parTrans" cxnId="{1CEA7080-7268-48D1-B8A1-6FC59F6AEAFB}">
      <dgm:prSet/>
      <dgm:spPr/>
      <dgm:t>
        <a:bodyPr/>
        <a:lstStyle/>
        <a:p>
          <a:endParaRPr lang="en-US"/>
        </a:p>
      </dgm:t>
    </dgm:pt>
    <dgm:pt modelId="{AC7C2B0D-9F82-4C08-AD91-5E37CE9FFCE3}" type="sibTrans" cxnId="{1CEA7080-7268-48D1-B8A1-6FC59F6AEAFB}">
      <dgm:prSet/>
      <dgm:spPr/>
      <dgm:t>
        <a:bodyPr/>
        <a:lstStyle/>
        <a:p>
          <a:endParaRPr lang="en-US"/>
        </a:p>
      </dgm:t>
    </dgm:pt>
    <dgm:pt modelId="{0CD0DCA9-AD9D-4DD2-A411-8DDCF645E81A}">
      <dgm:prSet/>
      <dgm:spPr/>
      <dgm:t>
        <a:bodyPr/>
        <a:lstStyle/>
        <a:p>
          <a:r>
            <a:rPr lang="en-US"/>
            <a:t>Billing &amp; Payment: Payment method, additional services subscribed.</a:t>
          </a:r>
        </a:p>
      </dgm:t>
    </dgm:pt>
    <dgm:pt modelId="{61BE2CCC-0ABF-4B37-83A3-6261D5EAD167}" type="parTrans" cxnId="{1AB34FAD-3264-43C9-B000-47B70A6383CA}">
      <dgm:prSet/>
      <dgm:spPr/>
      <dgm:t>
        <a:bodyPr/>
        <a:lstStyle/>
        <a:p>
          <a:endParaRPr lang="en-US"/>
        </a:p>
      </dgm:t>
    </dgm:pt>
    <dgm:pt modelId="{D1C98B3D-78F2-43D7-938E-43C4ED98FF66}" type="sibTrans" cxnId="{1AB34FAD-3264-43C9-B000-47B70A6383CA}">
      <dgm:prSet/>
      <dgm:spPr/>
      <dgm:t>
        <a:bodyPr/>
        <a:lstStyle/>
        <a:p>
          <a:endParaRPr lang="en-US"/>
        </a:p>
      </dgm:t>
    </dgm:pt>
    <dgm:pt modelId="{2CAD5D5F-D4CB-4E50-A59C-D455C801449D}">
      <dgm:prSet/>
      <dgm:spPr/>
      <dgm:t>
        <a:bodyPr/>
        <a:lstStyle/>
        <a:p>
          <a:r>
            <a:rPr lang="en-US" b="1"/>
            <a:t>Objective:</a:t>
          </a:r>
          <a:endParaRPr lang="en-US"/>
        </a:p>
      </dgm:t>
    </dgm:pt>
    <dgm:pt modelId="{5E1472DB-DCA8-4B3D-8F83-CDF3A6C9D0FC}" type="parTrans" cxnId="{04CA0861-87CB-4989-A5B0-DCBE9AB40D52}">
      <dgm:prSet/>
      <dgm:spPr/>
      <dgm:t>
        <a:bodyPr/>
        <a:lstStyle/>
        <a:p>
          <a:endParaRPr lang="en-US"/>
        </a:p>
      </dgm:t>
    </dgm:pt>
    <dgm:pt modelId="{D4F657DB-EDF6-4819-A7AC-AC7C5F5CE5EA}" type="sibTrans" cxnId="{04CA0861-87CB-4989-A5B0-DCBE9AB40D52}">
      <dgm:prSet/>
      <dgm:spPr/>
      <dgm:t>
        <a:bodyPr/>
        <a:lstStyle/>
        <a:p>
          <a:endParaRPr lang="en-US"/>
        </a:p>
      </dgm:t>
    </dgm:pt>
    <dgm:pt modelId="{57A9C03E-26F8-4A9B-AB83-4B79DE7F8BB7}">
      <dgm:prSet/>
      <dgm:spPr/>
      <dgm:t>
        <a:bodyPr/>
        <a:lstStyle/>
        <a:p>
          <a:r>
            <a:rPr lang="en-US"/>
            <a:t>Use machine learning for binary classification to predict churn.</a:t>
          </a:r>
        </a:p>
      </dgm:t>
    </dgm:pt>
    <dgm:pt modelId="{633B8123-E199-4196-82AF-E0157E80E545}" type="parTrans" cxnId="{DE333A8A-3D44-4318-806B-E03C56BD9DF1}">
      <dgm:prSet/>
      <dgm:spPr/>
      <dgm:t>
        <a:bodyPr/>
        <a:lstStyle/>
        <a:p>
          <a:endParaRPr lang="en-US"/>
        </a:p>
      </dgm:t>
    </dgm:pt>
    <dgm:pt modelId="{B5F64074-943D-4EC4-ADD0-084353F84C4B}" type="sibTrans" cxnId="{DE333A8A-3D44-4318-806B-E03C56BD9DF1}">
      <dgm:prSet/>
      <dgm:spPr/>
      <dgm:t>
        <a:bodyPr/>
        <a:lstStyle/>
        <a:p>
          <a:endParaRPr lang="en-US"/>
        </a:p>
      </dgm:t>
    </dgm:pt>
    <dgm:pt modelId="{F97B1CB9-872C-48AF-95AB-23ABA6859D42}">
      <dgm:prSet/>
      <dgm:spPr/>
      <dgm:t>
        <a:bodyPr/>
        <a:lstStyle/>
        <a:p>
          <a:r>
            <a:rPr lang="en-US"/>
            <a:t>Help businesses identify at-risk customers and reduce churn.</a:t>
          </a:r>
        </a:p>
      </dgm:t>
    </dgm:pt>
    <dgm:pt modelId="{99F31DA4-6157-4BEE-92AE-B202671391F9}" type="parTrans" cxnId="{375EB961-F69E-4549-97F8-0031CCF0BB97}">
      <dgm:prSet/>
      <dgm:spPr/>
      <dgm:t>
        <a:bodyPr/>
        <a:lstStyle/>
        <a:p>
          <a:endParaRPr lang="en-US"/>
        </a:p>
      </dgm:t>
    </dgm:pt>
    <dgm:pt modelId="{EB40B7E2-AE29-43DB-A100-4F2D5D5FE5EF}" type="sibTrans" cxnId="{375EB961-F69E-4549-97F8-0031CCF0BB97}">
      <dgm:prSet/>
      <dgm:spPr/>
      <dgm:t>
        <a:bodyPr/>
        <a:lstStyle/>
        <a:p>
          <a:endParaRPr lang="en-US"/>
        </a:p>
      </dgm:t>
    </dgm:pt>
    <dgm:pt modelId="{BBD50157-D74B-474C-A54B-2535CF374F77}" type="pres">
      <dgm:prSet presAssocID="{85F84B33-282D-47CA-9039-9755BC8D5588}" presName="linear" presStyleCnt="0">
        <dgm:presLayoutVars>
          <dgm:animLvl val="lvl"/>
          <dgm:resizeHandles val="exact"/>
        </dgm:presLayoutVars>
      </dgm:prSet>
      <dgm:spPr/>
    </dgm:pt>
    <dgm:pt modelId="{C3231A0A-3A3B-FA41-9A98-69E22826EA5D}" type="pres">
      <dgm:prSet presAssocID="{A88B2C16-70FD-419E-B7D7-83E448C0A917}" presName="parentText" presStyleLbl="node1" presStyleIdx="0" presStyleCnt="3">
        <dgm:presLayoutVars>
          <dgm:chMax val="0"/>
          <dgm:bulletEnabled val="1"/>
        </dgm:presLayoutVars>
      </dgm:prSet>
      <dgm:spPr/>
    </dgm:pt>
    <dgm:pt modelId="{402991B1-9906-D64A-A0B0-E9AC58BBC61D}" type="pres">
      <dgm:prSet presAssocID="{A88B2C16-70FD-419E-B7D7-83E448C0A917}" presName="childText" presStyleLbl="revTx" presStyleIdx="0" presStyleCnt="3">
        <dgm:presLayoutVars>
          <dgm:bulletEnabled val="1"/>
        </dgm:presLayoutVars>
      </dgm:prSet>
      <dgm:spPr/>
    </dgm:pt>
    <dgm:pt modelId="{F71D876C-8C6E-5E43-9114-F36C88DED260}" type="pres">
      <dgm:prSet presAssocID="{E63B0E6A-FEDC-44B5-BB9C-906DB00DF9EC}" presName="parentText" presStyleLbl="node1" presStyleIdx="1" presStyleCnt="3">
        <dgm:presLayoutVars>
          <dgm:chMax val="0"/>
          <dgm:bulletEnabled val="1"/>
        </dgm:presLayoutVars>
      </dgm:prSet>
      <dgm:spPr/>
    </dgm:pt>
    <dgm:pt modelId="{D1E5E669-8652-C74C-95F0-C92A4989EF80}" type="pres">
      <dgm:prSet presAssocID="{E63B0E6A-FEDC-44B5-BB9C-906DB00DF9EC}" presName="childText" presStyleLbl="revTx" presStyleIdx="1" presStyleCnt="3">
        <dgm:presLayoutVars>
          <dgm:bulletEnabled val="1"/>
        </dgm:presLayoutVars>
      </dgm:prSet>
      <dgm:spPr/>
    </dgm:pt>
    <dgm:pt modelId="{9E1E7EB3-A8AB-8F4A-B197-D2629FF80C49}" type="pres">
      <dgm:prSet presAssocID="{2CAD5D5F-D4CB-4E50-A59C-D455C801449D}" presName="parentText" presStyleLbl="node1" presStyleIdx="2" presStyleCnt="3">
        <dgm:presLayoutVars>
          <dgm:chMax val="0"/>
          <dgm:bulletEnabled val="1"/>
        </dgm:presLayoutVars>
      </dgm:prSet>
      <dgm:spPr/>
    </dgm:pt>
    <dgm:pt modelId="{283F0AAE-2DA4-324D-9AA3-ED5793A567B5}" type="pres">
      <dgm:prSet presAssocID="{2CAD5D5F-D4CB-4E50-A59C-D455C801449D}" presName="childText" presStyleLbl="revTx" presStyleIdx="2" presStyleCnt="3">
        <dgm:presLayoutVars>
          <dgm:bulletEnabled val="1"/>
        </dgm:presLayoutVars>
      </dgm:prSet>
      <dgm:spPr/>
    </dgm:pt>
  </dgm:ptLst>
  <dgm:cxnLst>
    <dgm:cxn modelId="{2CFC4502-96AE-414D-9F2F-63B70A8711AA}" type="presOf" srcId="{85F84B33-282D-47CA-9039-9755BC8D5588}" destId="{BBD50157-D74B-474C-A54B-2535CF374F77}" srcOrd="0" destOrd="0" presId="urn:microsoft.com/office/officeart/2005/8/layout/vList2"/>
    <dgm:cxn modelId="{79660D32-4DE5-404C-8E78-36BBE7DCC4C3}" type="presOf" srcId="{500929F5-CF93-4FE6-A782-A2BE31BBD333}" destId="{402991B1-9906-D64A-A0B0-E9AC58BBC61D}" srcOrd="0" destOrd="0" presId="urn:microsoft.com/office/officeart/2005/8/layout/vList2"/>
    <dgm:cxn modelId="{04CA0861-87CB-4989-A5B0-DCBE9AB40D52}" srcId="{85F84B33-282D-47CA-9039-9755BC8D5588}" destId="{2CAD5D5F-D4CB-4E50-A59C-D455C801449D}" srcOrd="2" destOrd="0" parTransId="{5E1472DB-DCA8-4B3D-8F83-CDF3A6C9D0FC}" sibTransId="{D4F657DB-EDF6-4819-A7AC-AC7C5F5CE5EA}"/>
    <dgm:cxn modelId="{375EB961-F69E-4549-97F8-0031CCF0BB97}" srcId="{2CAD5D5F-D4CB-4E50-A59C-D455C801449D}" destId="{F97B1CB9-872C-48AF-95AB-23ABA6859D42}" srcOrd="1" destOrd="0" parTransId="{99F31DA4-6157-4BEE-92AE-B202671391F9}" sibTransId="{EB40B7E2-AE29-43DB-A100-4F2D5D5FE5EF}"/>
    <dgm:cxn modelId="{0936BC67-E0C2-5F41-8059-C473963D00EB}" type="presOf" srcId="{57A9C03E-26F8-4A9B-AB83-4B79DE7F8BB7}" destId="{283F0AAE-2DA4-324D-9AA3-ED5793A567B5}" srcOrd="0" destOrd="0" presId="urn:microsoft.com/office/officeart/2005/8/layout/vList2"/>
    <dgm:cxn modelId="{1CEA7080-7268-48D1-B8A1-6FC59F6AEAFB}" srcId="{E63B0E6A-FEDC-44B5-BB9C-906DB00DF9EC}" destId="{261789F1-B4EF-4575-B974-681D2A8CED55}" srcOrd="2" destOrd="0" parTransId="{8421FDC9-2FD5-4666-9310-F2451019175E}" sibTransId="{AC7C2B0D-9F82-4C08-AD91-5E37CE9FFCE3}"/>
    <dgm:cxn modelId="{E9B9CF83-544B-42B9-AB41-598C2C9E7014}" srcId="{E63B0E6A-FEDC-44B5-BB9C-906DB00DF9EC}" destId="{951D8C0A-7D55-4777-B291-CBB464DAA177}" srcOrd="0" destOrd="0" parTransId="{C9B3E5B0-CEE9-4D80-A7AC-ED78F4BD08C0}" sibTransId="{9AA0A7D8-D38F-414C-B9CD-09E494480FB5}"/>
    <dgm:cxn modelId="{DE333A8A-3D44-4318-806B-E03C56BD9DF1}" srcId="{2CAD5D5F-D4CB-4E50-A59C-D455C801449D}" destId="{57A9C03E-26F8-4A9B-AB83-4B79DE7F8BB7}" srcOrd="0" destOrd="0" parTransId="{633B8123-E199-4196-82AF-E0157E80E545}" sibTransId="{B5F64074-943D-4EC4-ADD0-084353F84C4B}"/>
    <dgm:cxn modelId="{ECE62D8F-8E09-F742-B359-2B799B162B8E}" type="presOf" srcId="{D90634EC-26DC-4237-8AB8-65F78729A414}" destId="{402991B1-9906-D64A-A0B0-E9AC58BBC61D}" srcOrd="0" destOrd="1" presId="urn:microsoft.com/office/officeart/2005/8/layout/vList2"/>
    <dgm:cxn modelId="{4FF1BD92-E3CB-6544-B219-F06DD085FFDC}" type="presOf" srcId="{E63B0E6A-FEDC-44B5-BB9C-906DB00DF9EC}" destId="{F71D876C-8C6E-5E43-9114-F36C88DED260}" srcOrd="0" destOrd="0" presId="urn:microsoft.com/office/officeart/2005/8/layout/vList2"/>
    <dgm:cxn modelId="{198D6499-AA52-461E-9198-D5F349096069}" srcId="{A88B2C16-70FD-419E-B7D7-83E448C0A917}" destId="{500929F5-CF93-4FE6-A782-A2BE31BBD333}" srcOrd="0" destOrd="0" parTransId="{F9306A44-277E-480F-9C39-9FBED14284BF}" sibTransId="{4699CCA5-5875-41D5-8A17-37788C1F64E5}"/>
    <dgm:cxn modelId="{DC45CE99-3075-E94B-9F9F-EAFBC2260A47}" type="presOf" srcId="{2CAD5D5F-D4CB-4E50-A59C-D455C801449D}" destId="{9E1E7EB3-A8AB-8F4A-B197-D2629FF80C49}" srcOrd="0" destOrd="0" presId="urn:microsoft.com/office/officeart/2005/8/layout/vList2"/>
    <dgm:cxn modelId="{E4F5F59C-3E89-4F45-98DE-373C7AB6E92D}" srcId="{A88B2C16-70FD-419E-B7D7-83E448C0A917}" destId="{D90634EC-26DC-4237-8AB8-65F78729A414}" srcOrd="1" destOrd="0" parTransId="{17CF1990-B53E-4D67-B32C-187283CAF9F4}" sibTransId="{EC0C7B17-8B52-4D67-83EC-36D2D6E0AA68}"/>
    <dgm:cxn modelId="{6699F39D-0A96-4F84-B8A2-E30409161923}" srcId="{85F84B33-282D-47CA-9039-9755BC8D5588}" destId="{A88B2C16-70FD-419E-B7D7-83E448C0A917}" srcOrd="0" destOrd="0" parTransId="{1A3C26DA-240F-4E5D-B031-EB1DA75C02CA}" sibTransId="{C269ED5A-C2A7-4E3A-9D2B-668A39C2DDA4}"/>
    <dgm:cxn modelId="{56C8B6A4-4516-E64C-AFF5-A47E4A2C92D2}" type="presOf" srcId="{261789F1-B4EF-4575-B974-681D2A8CED55}" destId="{D1E5E669-8652-C74C-95F0-C92A4989EF80}" srcOrd="0" destOrd="2" presId="urn:microsoft.com/office/officeart/2005/8/layout/vList2"/>
    <dgm:cxn modelId="{CC5254A5-B10F-1F49-AA76-5764A260DE68}" type="presOf" srcId="{0CD0DCA9-AD9D-4DD2-A411-8DDCF645E81A}" destId="{D1E5E669-8652-C74C-95F0-C92A4989EF80}" srcOrd="0" destOrd="3" presId="urn:microsoft.com/office/officeart/2005/8/layout/vList2"/>
    <dgm:cxn modelId="{1AB34FAD-3264-43C9-B000-47B70A6383CA}" srcId="{E63B0E6A-FEDC-44B5-BB9C-906DB00DF9EC}" destId="{0CD0DCA9-AD9D-4DD2-A411-8DDCF645E81A}" srcOrd="3" destOrd="0" parTransId="{61BE2CCC-0ABF-4B37-83A3-6261D5EAD167}" sibTransId="{D1C98B3D-78F2-43D7-938E-43C4ED98FF66}"/>
    <dgm:cxn modelId="{66BD78B4-33E8-9C4E-8CED-343D4381EF1E}" type="presOf" srcId="{262114E4-E5BC-4E58-B723-BE36A5A4F0C7}" destId="{402991B1-9906-D64A-A0B0-E9AC58BBC61D}" srcOrd="0" destOrd="2" presId="urn:microsoft.com/office/officeart/2005/8/layout/vList2"/>
    <dgm:cxn modelId="{35BDCBB9-AA81-AE4E-B600-C6C6535CD228}" type="presOf" srcId="{A88B2C16-70FD-419E-B7D7-83E448C0A917}" destId="{C3231A0A-3A3B-FA41-9A98-69E22826EA5D}" srcOrd="0" destOrd="0" presId="urn:microsoft.com/office/officeart/2005/8/layout/vList2"/>
    <dgm:cxn modelId="{A15326BA-4D03-3742-9D47-C20B4B4F7771}" type="presOf" srcId="{72D5FCA7-1C58-4F09-B726-5BA2E8ACD7FC}" destId="{D1E5E669-8652-C74C-95F0-C92A4989EF80}" srcOrd="0" destOrd="1" presId="urn:microsoft.com/office/officeart/2005/8/layout/vList2"/>
    <dgm:cxn modelId="{D1271EBF-2821-4DE0-894F-29BC085FFCBC}" srcId="{E63B0E6A-FEDC-44B5-BB9C-906DB00DF9EC}" destId="{72D5FCA7-1C58-4F09-B726-5BA2E8ACD7FC}" srcOrd="1" destOrd="0" parTransId="{7A470DAD-8C50-4CE2-AD8F-EF59348BD619}" sibTransId="{F536D07F-599E-4ED5-AEC0-42E7D0835CBC}"/>
    <dgm:cxn modelId="{C2CFB0C9-9BDE-4467-B6D9-7F3AECE54FA4}" srcId="{A88B2C16-70FD-419E-B7D7-83E448C0A917}" destId="{262114E4-E5BC-4E58-B723-BE36A5A4F0C7}" srcOrd="2" destOrd="0" parTransId="{6C6DD7A8-2805-4282-812E-7E1D38DC48E9}" sibTransId="{27C352C9-35E3-4618-9E01-CCDC5E035E65}"/>
    <dgm:cxn modelId="{C15B16D9-4530-5546-8BF3-333409D41D53}" type="presOf" srcId="{F97B1CB9-872C-48AF-95AB-23ABA6859D42}" destId="{283F0AAE-2DA4-324D-9AA3-ED5793A567B5}" srcOrd="0" destOrd="1" presId="urn:microsoft.com/office/officeart/2005/8/layout/vList2"/>
    <dgm:cxn modelId="{05EE8DEB-DE0A-8D40-85D2-11AD8A59CC53}" type="presOf" srcId="{951D8C0A-7D55-4777-B291-CBB464DAA177}" destId="{D1E5E669-8652-C74C-95F0-C92A4989EF80}" srcOrd="0" destOrd="0" presId="urn:microsoft.com/office/officeart/2005/8/layout/vList2"/>
    <dgm:cxn modelId="{4CD97FFD-90A5-43EA-8E30-6F162E87E927}" srcId="{85F84B33-282D-47CA-9039-9755BC8D5588}" destId="{E63B0E6A-FEDC-44B5-BB9C-906DB00DF9EC}" srcOrd="1" destOrd="0" parTransId="{1DAE610B-0AF1-4014-924A-BEA3D9C3D437}" sibTransId="{17ED75BC-F544-40BE-BE56-DCA9BF6C33E5}"/>
    <dgm:cxn modelId="{11087F2B-AD48-8A48-8287-5797BF0DF66B}" type="presParOf" srcId="{BBD50157-D74B-474C-A54B-2535CF374F77}" destId="{C3231A0A-3A3B-FA41-9A98-69E22826EA5D}" srcOrd="0" destOrd="0" presId="urn:microsoft.com/office/officeart/2005/8/layout/vList2"/>
    <dgm:cxn modelId="{21BC0071-2792-9B4B-9E2C-60D4FF0F18F5}" type="presParOf" srcId="{BBD50157-D74B-474C-A54B-2535CF374F77}" destId="{402991B1-9906-D64A-A0B0-E9AC58BBC61D}" srcOrd="1" destOrd="0" presId="urn:microsoft.com/office/officeart/2005/8/layout/vList2"/>
    <dgm:cxn modelId="{B8722431-5305-B34B-971C-399852290A9C}" type="presParOf" srcId="{BBD50157-D74B-474C-A54B-2535CF374F77}" destId="{F71D876C-8C6E-5E43-9114-F36C88DED260}" srcOrd="2" destOrd="0" presId="urn:microsoft.com/office/officeart/2005/8/layout/vList2"/>
    <dgm:cxn modelId="{DB19EB68-7D1C-7D43-87E2-80E9FAE29F9E}" type="presParOf" srcId="{BBD50157-D74B-474C-A54B-2535CF374F77}" destId="{D1E5E669-8652-C74C-95F0-C92A4989EF80}" srcOrd="3" destOrd="0" presId="urn:microsoft.com/office/officeart/2005/8/layout/vList2"/>
    <dgm:cxn modelId="{95655592-6BF1-8042-BBE1-159E98BC86EC}" type="presParOf" srcId="{BBD50157-D74B-474C-A54B-2535CF374F77}" destId="{9E1E7EB3-A8AB-8F4A-B197-D2629FF80C49}" srcOrd="4" destOrd="0" presId="urn:microsoft.com/office/officeart/2005/8/layout/vList2"/>
    <dgm:cxn modelId="{3E95723B-6900-1043-BCF8-5F52F6724DC5}" type="presParOf" srcId="{BBD50157-D74B-474C-A54B-2535CF374F77}" destId="{283F0AAE-2DA4-324D-9AA3-ED5793A567B5}"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A02AA6-29FB-4BD0-AFB9-172A83C1A198}" type="doc">
      <dgm:prSet loTypeId="urn:microsoft.com/office/officeart/2005/8/layout/hierarchy1" loCatId="hierarchy" qsTypeId="urn:microsoft.com/office/officeart/2005/8/quickstyle/simple1" qsCatId="simple" csTypeId="urn:microsoft.com/office/officeart/2005/8/colors/accent6_5" csCatId="accent6" phldr="1"/>
      <dgm:spPr/>
      <dgm:t>
        <a:bodyPr/>
        <a:lstStyle/>
        <a:p>
          <a:endParaRPr lang="en-US"/>
        </a:p>
      </dgm:t>
    </dgm:pt>
    <dgm:pt modelId="{7CDF7828-BC4E-4090-8282-806F9EA0EDA1}">
      <dgm:prSet custT="1"/>
      <dgm:spPr/>
      <dgm:t>
        <a:bodyPr/>
        <a:lstStyle/>
        <a:p>
          <a:pPr rtl="0"/>
          <a:r>
            <a:rPr lang="en-US" sz="2400" b="1">
              <a:latin typeface="Times New Roman"/>
              <a:cs typeface="Times New Roman"/>
            </a:rPr>
            <a:t>﻿Confusion Matrix</a:t>
          </a:r>
        </a:p>
      </dgm:t>
    </dgm:pt>
    <dgm:pt modelId="{C0DC1FA8-6FA8-4653-BADC-C6984896D2DE}" type="parTrans" cxnId="{B24BB4AE-9FE6-4E26-98DF-D30BC106332E}">
      <dgm:prSet/>
      <dgm:spPr/>
      <dgm:t>
        <a:bodyPr/>
        <a:lstStyle/>
        <a:p>
          <a:endParaRPr lang="en-US" sz="2400"/>
        </a:p>
      </dgm:t>
    </dgm:pt>
    <dgm:pt modelId="{42124360-E25B-46E2-AB22-32C3C84A0D77}" type="sibTrans" cxnId="{B24BB4AE-9FE6-4E26-98DF-D30BC106332E}">
      <dgm:prSet/>
      <dgm:spPr/>
      <dgm:t>
        <a:bodyPr/>
        <a:lstStyle/>
        <a:p>
          <a:endParaRPr lang="en-US" sz="2400"/>
        </a:p>
      </dgm:t>
    </dgm:pt>
    <dgm:pt modelId="{78E03158-2F67-424C-93B2-DC8B02AC7D79}">
      <dgm:prSet custT="1"/>
      <dgm:spPr/>
      <dgm:t>
        <a:bodyPr/>
        <a:lstStyle/>
        <a:p>
          <a:r>
            <a:rPr lang="en-US" sz="2400" b="1">
              <a:latin typeface="Times New Roman"/>
              <a:cs typeface="Times New Roman"/>
            </a:rPr>
            <a:t>﻿Accuracy</a:t>
          </a:r>
        </a:p>
      </dgm:t>
    </dgm:pt>
    <dgm:pt modelId="{3C3F6BF2-E105-4F1A-B731-69E25095BA82}" type="parTrans" cxnId="{39BAF1BB-F551-4C07-836A-208BF00D5883}">
      <dgm:prSet/>
      <dgm:spPr/>
      <dgm:t>
        <a:bodyPr/>
        <a:lstStyle/>
        <a:p>
          <a:endParaRPr lang="en-US" sz="2400"/>
        </a:p>
      </dgm:t>
    </dgm:pt>
    <dgm:pt modelId="{81B4D908-C6BD-4B19-AE89-D6FF7A58DF02}" type="sibTrans" cxnId="{39BAF1BB-F551-4C07-836A-208BF00D5883}">
      <dgm:prSet/>
      <dgm:spPr/>
      <dgm:t>
        <a:bodyPr/>
        <a:lstStyle/>
        <a:p>
          <a:endParaRPr lang="en-US" sz="2400"/>
        </a:p>
      </dgm:t>
    </dgm:pt>
    <dgm:pt modelId="{AB223550-62C4-4814-8EF8-50C6D946D74D}">
      <dgm:prSet custT="1"/>
      <dgm:spPr/>
      <dgm:t>
        <a:bodyPr/>
        <a:lstStyle/>
        <a:p>
          <a:r>
            <a:rPr lang="en-US" sz="2400" b="1">
              <a:latin typeface="Times New Roman"/>
              <a:cs typeface="Times New Roman"/>
            </a:rPr>
            <a:t>﻿Precision</a:t>
          </a:r>
        </a:p>
      </dgm:t>
    </dgm:pt>
    <dgm:pt modelId="{584357FB-F131-4577-9D48-9E4B61ACEE4C}" type="parTrans" cxnId="{FD9E1DBE-4C20-49E2-A7DB-F7A74B4D30AE}">
      <dgm:prSet/>
      <dgm:spPr/>
      <dgm:t>
        <a:bodyPr/>
        <a:lstStyle/>
        <a:p>
          <a:endParaRPr lang="en-US" sz="2400"/>
        </a:p>
      </dgm:t>
    </dgm:pt>
    <dgm:pt modelId="{956D0410-364B-4C37-89AF-52005D89AD9F}" type="sibTrans" cxnId="{FD9E1DBE-4C20-49E2-A7DB-F7A74B4D30AE}">
      <dgm:prSet/>
      <dgm:spPr/>
      <dgm:t>
        <a:bodyPr/>
        <a:lstStyle/>
        <a:p>
          <a:endParaRPr lang="en-US" sz="2400"/>
        </a:p>
      </dgm:t>
    </dgm:pt>
    <dgm:pt modelId="{921187B2-915A-46EB-A99F-10844410EDF2}">
      <dgm:prSet custT="1"/>
      <dgm:spPr/>
      <dgm:t>
        <a:bodyPr/>
        <a:lstStyle/>
        <a:p>
          <a:r>
            <a:rPr lang="en-US" sz="2400" b="1">
              <a:latin typeface="Times New Roman"/>
              <a:cs typeface="Times New Roman"/>
            </a:rPr>
            <a:t>Recall</a:t>
          </a:r>
        </a:p>
      </dgm:t>
    </dgm:pt>
    <dgm:pt modelId="{C84CC21A-5EF1-42A4-A1BF-9B5100DD5282}" type="parTrans" cxnId="{190B5E2D-D559-4B7A-BFF7-F2A79517EC66}">
      <dgm:prSet/>
      <dgm:spPr/>
      <dgm:t>
        <a:bodyPr/>
        <a:lstStyle/>
        <a:p>
          <a:endParaRPr lang="en-US" sz="2400"/>
        </a:p>
      </dgm:t>
    </dgm:pt>
    <dgm:pt modelId="{C0F667B0-24C9-4EFB-BC76-352351EF661D}" type="sibTrans" cxnId="{190B5E2D-D559-4B7A-BFF7-F2A79517EC66}">
      <dgm:prSet/>
      <dgm:spPr/>
      <dgm:t>
        <a:bodyPr/>
        <a:lstStyle/>
        <a:p>
          <a:endParaRPr lang="en-US" sz="2400"/>
        </a:p>
      </dgm:t>
    </dgm:pt>
    <dgm:pt modelId="{F3100288-C44A-4225-8AC5-82054E62A019}">
      <dgm:prSet phldr="0"/>
      <dgm:spPr/>
      <dgm:t>
        <a:bodyPr/>
        <a:lstStyle/>
        <a:p>
          <a:pPr rtl="0"/>
          <a:r>
            <a:rPr lang="en-US" b="1">
              <a:latin typeface="Times New Roman"/>
              <a:cs typeface="Times New Roman"/>
            </a:rPr>
            <a:t>F1 Score</a:t>
          </a:r>
        </a:p>
      </dgm:t>
    </dgm:pt>
    <dgm:pt modelId="{00C5CE38-C9EA-4328-A071-39859DD532CD}" type="parTrans" cxnId="{7124D808-DEA6-4106-BD33-67E50A83B58D}">
      <dgm:prSet/>
      <dgm:spPr/>
    </dgm:pt>
    <dgm:pt modelId="{2EE40324-CE08-4622-9101-D6CE3F8BF702}" type="sibTrans" cxnId="{7124D808-DEA6-4106-BD33-67E50A83B58D}">
      <dgm:prSet/>
      <dgm:spPr/>
    </dgm:pt>
    <dgm:pt modelId="{9F0F4EFA-B413-40DE-85F5-B510C5E3CA21}">
      <dgm:prSet phldr="0"/>
      <dgm:spPr/>
      <dgm:t>
        <a:bodyPr/>
        <a:lstStyle/>
        <a:p>
          <a:pPr rtl="0"/>
          <a:r>
            <a:rPr lang="en-US" b="1">
              <a:latin typeface="Times New Roman"/>
              <a:cs typeface="Times New Roman"/>
            </a:rPr>
            <a:t>ROC Curve</a:t>
          </a:r>
        </a:p>
      </dgm:t>
    </dgm:pt>
    <dgm:pt modelId="{881CA08E-E00F-4970-B4D5-FC8E4C40A2F2}" type="parTrans" cxnId="{77A587D8-AC86-4B11-A15F-4E370D451FDC}">
      <dgm:prSet/>
      <dgm:spPr/>
    </dgm:pt>
    <dgm:pt modelId="{F7D8D0B1-B769-44C8-B961-F263D5282B35}" type="sibTrans" cxnId="{77A587D8-AC86-4B11-A15F-4E370D451FDC}">
      <dgm:prSet/>
      <dgm:spPr/>
    </dgm:pt>
    <dgm:pt modelId="{7B28089F-2CB8-DD4B-9294-0A6909F0401D}" type="pres">
      <dgm:prSet presAssocID="{C2A02AA6-29FB-4BD0-AFB9-172A83C1A198}" presName="hierChild1" presStyleCnt="0">
        <dgm:presLayoutVars>
          <dgm:chPref val="1"/>
          <dgm:dir/>
          <dgm:animOne val="branch"/>
          <dgm:animLvl val="lvl"/>
          <dgm:resizeHandles/>
        </dgm:presLayoutVars>
      </dgm:prSet>
      <dgm:spPr/>
    </dgm:pt>
    <dgm:pt modelId="{4403A261-79B3-5648-A0DB-9AA9D4DF9A01}" type="pres">
      <dgm:prSet presAssocID="{7CDF7828-BC4E-4090-8282-806F9EA0EDA1}" presName="hierRoot1" presStyleCnt="0"/>
      <dgm:spPr/>
    </dgm:pt>
    <dgm:pt modelId="{3486F540-1496-AD4D-877C-645B04EF39D8}" type="pres">
      <dgm:prSet presAssocID="{7CDF7828-BC4E-4090-8282-806F9EA0EDA1}" presName="composite" presStyleCnt="0"/>
      <dgm:spPr/>
    </dgm:pt>
    <dgm:pt modelId="{EF6A5C7A-351C-1946-9225-C1A90EE6C0B8}" type="pres">
      <dgm:prSet presAssocID="{7CDF7828-BC4E-4090-8282-806F9EA0EDA1}" presName="background" presStyleLbl="node0" presStyleIdx="0" presStyleCnt="6"/>
      <dgm:spPr/>
    </dgm:pt>
    <dgm:pt modelId="{7A4647E3-476D-8543-953A-CC4B1D265CCD}" type="pres">
      <dgm:prSet presAssocID="{7CDF7828-BC4E-4090-8282-806F9EA0EDA1}" presName="text" presStyleLbl="fgAcc0" presStyleIdx="0" presStyleCnt="6">
        <dgm:presLayoutVars>
          <dgm:chPref val="3"/>
        </dgm:presLayoutVars>
      </dgm:prSet>
      <dgm:spPr/>
    </dgm:pt>
    <dgm:pt modelId="{B484FDA9-0514-234C-A8DA-B5006619A2D4}" type="pres">
      <dgm:prSet presAssocID="{7CDF7828-BC4E-4090-8282-806F9EA0EDA1}" presName="hierChild2" presStyleCnt="0"/>
      <dgm:spPr/>
    </dgm:pt>
    <dgm:pt modelId="{7FA7E86C-7E7C-5841-9263-0F2DE07367B2}" type="pres">
      <dgm:prSet presAssocID="{78E03158-2F67-424C-93B2-DC8B02AC7D79}" presName="hierRoot1" presStyleCnt="0"/>
      <dgm:spPr/>
    </dgm:pt>
    <dgm:pt modelId="{9DD7175B-6F9F-F744-BCDF-64E4B56826C1}" type="pres">
      <dgm:prSet presAssocID="{78E03158-2F67-424C-93B2-DC8B02AC7D79}" presName="composite" presStyleCnt="0"/>
      <dgm:spPr/>
    </dgm:pt>
    <dgm:pt modelId="{8FB8065D-32C6-C74E-A476-52519A63F39C}" type="pres">
      <dgm:prSet presAssocID="{78E03158-2F67-424C-93B2-DC8B02AC7D79}" presName="background" presStyleLbl="node0" presStyleIdx="1" presStyleCnt="6"/>
      <dgm:spPr/>
    </dgm:pt>
    <dgm:pt modelId="{0FBC79AF-0590-6944-9F2A-F1EFEDDDD395}" type="pres">
      <dgm:prSet presAssocID="{78E03158-2F67-424C-93B2-DC8B02AC7D79}" presName="text" presStyleLbl="fgAcc0" presStyleIdx="1" presStyleCnt="6">
        <dgm:presLayoutVars>
          <dgm:chPref val="3"/>
        </dgm:presLayoutVars>
      </dgm:prSet>
      <dgm:spPr/>
    </dgm:pt>
    <dgm:pt modelId="{BE5D7538-74AB-A946-A8D8-69DCDDD660D9}" type="pres">
      <dgm:prSet presAssocID="{78E03158-2F67-424C-93B2-DC8B02AC7D79}" presName="hierChild2" presStyleCnt="0"/>
      <dgm:spPr/>
    </dgm:pt>
    <dgm:pt modelId="{0C070231-7769-DD4B-A08C-D852026DB458}" type="pres">
      <dgm:prSet presAssocID="{AB223550-62C4-4814-8EF8-50C6D946D74D}" presName="hierRoot1" presStyleCnt="0"/>
      <dgm:spPr/>
    </dgm:pt>
    <dgm:pt modelId="{92EF1FD2-28AD-2C46-A810-8AF22E9442FC}" type="pres">
      <dgm:prSet presAssocID="{AB223550-62C4-4814-8EF8-50C6D946D74D}" presName="composite" presStyleCnt="0"/>
      <dgm:spPr/>
    </dgm:pt>
    <dgm:pt modelId="{8829280C-90E6-204C-AC8C-D9EF5E947F5E}" type="pres">
      <dgm:prSet presAssocID="{AB223550-62C4-4814-8EF8-50C6D946D74D}" presName="background" presStyleLbl="node0" presStyleIdx="2" presStyleCnt="6"/>
      <dgm:spPr/>
    </dgm:pt>
    <dgm:pt modelId="{5EDDB81B-79A1-7844-B832-E05FB14D3240}" type="pres">
      <dgm:prSet presAssocID="{AB223550-62C4-4814-8EF8-50C6D946D74D}" presName="text" presStyleLbl="fgAcc0" presStyleIdx="2" presStyleCnt="6">
        <dgm:presLayoutVars>
          <dgm:chPref val="3"/>
        </dgm:presLayoutVars>
      </dgm:prSet>
      <dgm:spPr/>
    </dgm:pt>
    <dgm:pt modelId="{373269B0-2024-3B4D-B52B-554D6805E954}" type="pres">
      <dgm:prSet presAssocID="{AB223550-62C4-4814-8EF8-50C6D946D74D}" presName="hierChild2" presStyleCnt="0"/>
      <dgm:spPr/>
    </dgm:pt>
    <dgm:pt modelId="{95378FDA-5345-9F4A-8680-8A44904D23B5}" type="pres">
      <dgm:prSet presAssocID="{921187B2-915A-46EB-A99F-10844410EDF2}" presName="hierRoot1" presStyleCnt="0"/>
      <dgm:spPr/>
    </dgm:pt>
    <dgm:pt modelId="{B9197BE9-5085-1A42-BFC2-718AF83EE277}" type="pres">
      <dgm:prSet presAssocID="{921187B2-915A-46EB-A99F-10844410EDF2}" presName="composite" presStyleCnt="0"/>
      <dgm:spPr/>
    </dgm:pt>
    <dgm:pt modelId="{F7DFD6AC-A137-AB47-B634-20700DAB84BA}" type="pres">
      <dgm:prSet presAssocID="{921187B2-915A-46EB-A99F-10844410EDF2}" presName="background" presStyleLbl="node0" presStyleIdx="3" presStyleCnt="6"/>
      <dgm:spPr/>
    </dgm:pt>
    <dgm:pt modelId="{7C87343D-B68B-A34A-BB6E-8ECCBD7AD3ED}" type="pres">
      <dgm:prSet presAssocID="{921187B2-915A-46EB-A99F-10844410EDF2}" presName="text" presStyleLbl="fgAcc0" presStyleIdx="3" presStyleCnt="6">
        <dgm:presLayoutVars>
          <dgm:chPref val="3"/>
        </dgm:presLayoutVars>
      </dgm:prSet>
      <dgm:spPr/>
    </dgm:pt>
    <dgm:pt modelId="{2D8E6EC9-437C-DA41-AA93-6F65076DB8E6}" type="pres">
      <dgm:prSet presAssocID="{921187B2-915A-46EB-A99F-10844410EDF2}" presName="hierChild2" presStyleCnt="0"/>
      <dgm:spPr/>
    </dgm:pt>
    <dgm:pt modelId="{300F5696-FD8B-4532-B888-0DAA9BE446AA}" type="pres">
      <dgm:prSet presAssocID="{F3100288-C44A-4225-8AC5-82054E62A019}" presName="hierRoot1" presStyleCnt="0"/>
      <dgm:spPr/>
    </dgm:pt>
    <dgm:pt modelId="{ADBB89C8-0025-490B-AB1E-69DE360360F9}" type="pres">
      <dgm:prSet presAssocID="{F3100288-C44A-4225-8AC5-82054E62A019}" presName="composite" presStyleCnt="0"/>
      <dgm:spPr/>
    </dgm:pt>
    <dgm:pt modelId="{70E45D68-EDDA-40AF-967B-1F6825441918}" type="pres">
      <dgm:prSet presAssocID="{F3100288-C44A-4225-8AC5-82054E62A019}" presName="background" presStyleLbl="node0" presStyleIdx="4" presStyleCnt="6"/>
      <dgm:spPr/>
    </dgm:pt>
    <dgm:pt modelId="{CEEDED4B-1A21-4A2D-8487-681D0429CC41}" type="pres">
      <dgm:prSet presAssocID="{F3100288-C44A-4225-8AC5-82054E62A019}" presName="text" presStyleLbl="fgAcc0" presStyleIdx="4" presStyleCnt="6">
        <dgm:presLayoutVars>
          <dgm:chPref val="3"/>
        </dgm:presLayoutVars>
      </dgm:prSet>
      <dgm:spPr/>
    </dgm:pt>
    <dgm:pt modelId="{E72F2F68-5C68-4680-A821-F09CB979F50A}" type="pres">
      <dgm:prSet presAssocID="{F3100288-C44A-4225-8AC5-82054E62A019}" presName="hierChild2" presStyleCnt="0"/>
      <dgm:spPr/>
    </dgm:pt>
    <dgm:pt modelId="{0BC5D6F5-AF79-4DB6-AB71-FB931CEDB7EC}" type="pres">
      <dgm:prSet presAssocID="{9F0F4EFA-B413-40DE-85F5-B510C5E3CA21}" presName="hierRoot1" presStyleCnt="0"/>
      <dgm:spPr/>
    </dgm:pt>
    <dgm:pt modelId="{E4073657-5A70-4363-8AE7-2692F4381DB5}" type="pres">
      <dgm:prSet presAssocID="{9F0F4EFA-B413-40DE-85F5-B510C5E3CA21}" presName="composite" presStyleCnt="0"/>
      <dgm:spPr/>
    </dgm:pt>
    <dgm:pt modelId="{06AFC4EB-8997-475F-A53C-2ACB53811F2F}" type="pres">
      <dgm:prSet presAssocID="{9F0F4EFA-B413-40DE-85F5-B510C5E3CA21}" presName="background" presStyleLbl="node0" presStyleIdx="5" presStyleCnt="6"/>
      <dgm:spPr/>
    </dgm:pt>
    <dgm:pt modelId="{F55775F9-FCA6-4DA7-9EBF-DFBF56200248}" type="pres">
      <dgm:prSet presAssocID="{9F0F4EFA-B413-40DE-85F5-B510C5E3CA21}" presName="text" presStyleLbl="fgAcc0" presStyleIdx="5" presStyleCnt="6">
        <dgm:presLayoutVars>
          <dgm:chPref val="3"/>
        </dgm:presLayoutVars>
      </dgm:prSet>
      <dgm:spPr/>
    </dgm:pt>
    <dgm:pt modelId="{C9AF0BDA-CA8D-4AAC-B2A2-C9258C858540}" type="pres">
      <dgm:prSet presAssocID="{9F0F4EFA-B413-40DE-85F5-B510C5E3CA21}" presName="hierChild2" presStyleCnt="0"/>
      <dgm:spPr/>
    </dgm:pt>
  </dgm:ptLst>
  <dgm:cxnLst>
    <dgm:cxn modelId="{7124D808-DEA6-4106-BD33-67E50A83B58D}" srcId="{C2A02AA6-29FB-4BD0-AFB9-172A83C1A198}" destId="{F3100288-C44A-4225-8AC5-82054E62A019}" srcOrd="4" destOrd="0" parTransId="{00C5CE38-C9EA-4328-A071-39859DD532CD}" sibTransId="{2EE40324-CE08-4622-9101-D6CE3F8BF702}"/>
    <dgm:cxn modelId="{6D510310-668C-4457-A785-3C501588C8A9}" type="presOf" srcId="{921187B2-915A-46EB-A99F-10844410EDF2}" destId="{7C87343D-B68B-A34A-BB6E-8ECCBD7AD3ED}" srcOrd="0" destOrd="0" presId="urn:microsoft.com/office/officeart/2005/8/layout/hierarchy1"/>
    <dgm:cxn modelId="{190B5E2D-D559-4B7A-BFF7-F2A79517EC66}" srcId="{C2A02AA6-29FB-4BD0-AFB9-172A83C1A198}" destId="{921187B2-915A-46EB-A99F-10844410EDF2}" srcOrd="3" destOrd="0" parTransId="{C84CC21A-5EF1-42A4-A1BF-9B5100DD5282}" sibTransId="{C0F667B0-24C9-4EFB-BC76-352351EF661D}"/>
    <dgm:cxn modelId="{AA1F0A30-DE28-42E0-81CB-AB8B691EDB9D}" type="presOf" srcId="{AB223550-62C4-4814-8EF8-50C6D946D74D}" destId="{5EDDB81B-79A1-7844-B832-E05FB14D3240}" srcOrd="0" destOrd="0" presId="urn:microsoft.com/office/officeart/2005/8/layout/hierarchy1"/>
    <dgm:cxn modelId="{01F6844E-587F-49BC-AD17-11E7D6606AFE}" type="presOf" srcId="{C2A02AA6-29FB-4BD0-AFB9-172A83C1A198}" destId="{7B28089F-2CB8-DD4B-9294-0A6909F0401D}" srcOrd="0" destOrd="0" presId="urn:microsoft.com/office/officeart/2005/8/layout/hierarchy1"/>
    <dgm:cxn modelId="{62930985-23AE-414B-A4B1-C72795BF001C}" type="presOf" srcId="{7CDF7828-BC4E-4090-8282-806F9EA0EDA1}" destId="{7A4647E3-476D-8543-953A-CC4B1D265CCD}" srcOrd="0" destOrd="0" presId="urn:microsoft.com/office/officeart/2005/8/layout/hierarchy1"/>
    <dgm:cxn modelId="{5D09C09D-7911-4CB7-A355-D28C3059C921}" type="presOf" srcId="{F3100288-C44A-4225-8AC5-82054E62A019}" destId="{CEEDED4B-1A21-4A2D-8487-681D0429CC41}" srcOrd="0" destOrd="0" presId="urn:microsoft.com/office/officeart/2005/8/layout/hierarchy1"/>
    <dgm:cxn modelId="{B24BB4AE-9FE6-4E26-98DF-D30BC106332E}" srcId="{C2A02AA6-29FB-4BD0-AFB9-172A83C1A198}" destId="{7CDF7828-BC4E-4090-8282-806F9EA0EDA1}" srcOrd="0" destOrd="0" parTransId="{C0DC1FA8-6FA8-4653-BADC-C6984896D2DE}" sibTransId="{42124360-E25B-46E2-AB22-32C3C84A0D77}"/>
    <dgm:cxn modelId="{39BAF1BB-F551-4C07-836A-208BF00D5883}" srcId="{C2A02AA6-29FB-4BD0-AFB9-172A83C1A198}" destId="{78E03158-2F67-424C-93B2-DC8B02AC7D79}" srcOrd="1" destOrd="0" parTransId="{3C3F6BF2-E105-4F1A-B731-69E25095BA82}" sibTransId="{81B4D908-C6BD-4B19-AE89-D6FF7A58DF02}"/>
    <dgm:cxn modelId="{FD9E1DBE-4C20-49E2-A7DB-F7A74B4D30AE}" srcId="{C2A02AA6-29FB-4BD0-AFB9-172A83C1A198}" destId="{AB223550-62C4-4814-8EF8-50C6D946D74D}" srcOrd="2" destOrd="0" parTransId="{584357FB-F131-4577-9D48-9E4B61ACEE4C}" sibTransId="{956D0410-364B-4C37-89AF-52005D89AD9F}"/>
    <dgm:cxn modelId="{77A587D8-AC86-4B11-A15F-4E370D451FDC}" srcId="{C2A02AA6-29FB-4BD0-AFB9-172A83C1A198}" destId="{9F0F4EFA-B413-40DE-85F5-B510C5E3CA21}" srcOrd="5" destOrd="0" parTransId="{881CA08E-E00F-4970-B4D5-FC8E4C40A2F2}" sibTransId="{F7D8D0B1-B769-44C8-B961-F263D5282B35}"/>
    <dgm:cxn modelId="{3331AEED-3E5C-4F38-8404-1174F069A3C0}" type="presOf" srcId="{78E03158-2F67-424C-93B2-DC8B02AC7D79}" destId="{0FBC79AF-0590-6944-9F2A-F1EFEDDDD395}" srcOrd="0" destOrd="0" presId="urn:microsoft.com/office/officeart/2005/8/layout/hierarchy1"/>
    <dgm:cxn modelId="{F5ED40F7-7FEE-4764-A28A-8AF7381BE2F4}" type="presOf" srcId="{9F0F4EFA-B413-40DE-85F5-B510C5E3CA21}" destId="{F55775F9-FCA6-4DA7-9EBF-DFBF56200248}" srcOrd="0" destOrd="0" presId="urn:microsoft.com/office/officeart/2005/8/layout/hierarchy1"/>
    <dgm:cxn modelId="{2CD6C513-BF70-4418-A263-68723669DEEB}" type="presParOf" srcId="{7B28089F-2CB8-DD4B-9294-0A6909F0401D}" destId="{4403A261-79B3-5648-A0DB-9AA9D4DF9A01}" srcOrd="0" destOrd="0" presId="urn:microsoft.com/office/officeart/2005/8/layout/hierarchy1"/>
    <dgm:cxn modelId="{A27D05DE-84D7-4855-89C5-16040C9F4F63}" type="presParOf" srcId="{4403A261-79B3-5648-A0DB-9AA9D4DF9A01}" destId="{3486F540-1496-AD4D-877C-645B04EF39D8}" srcOrd="0" destOrd="0" presId="urn:microsoft.com/office/officeart/2005/8/layout/hierarchy1"/>
    <dgm:cxn modelId="{7A5913DE-7B1E-4104-9FA8-39A706E86B1D}" type="presParOf" srcId="{3486F540-1496-AD4D-877C-645B04EF39D8}" destId="{EF6A5C7A-351C-1946-9225-C1A90EE6C0B8}" srcOrd="0" destOrd="0" presId="urn:microsoft.com/office/officeart/2005/8/layout/hierarchy1"/>
    <dgm:cxn modelId="{6EE22C04-B588-4373-843F-40D9A33E7980}" type="presParOf" srcId="{3486F540-1496-AD4D-877C-645B04EF39D8}" destId="{7A4647E3-476D-8543-953A-CC4B1D265CCD}" srcOrd="1" destOrd="0" presId="urn:microsoft.com/office/officeart/2005/8/layout/hierarchy1"/>
    <dgm:cxn modelId="{48A0128B-4076-482C-AB8D-21210983ED32}" type="presParOf" srcId="{4403A261-79B3-5648-A0DB-9AA9D4DF9A01}" destId="{B484FDA9-0514-234C-A8DA-B5006619A2D4}" srcOrd="1" destOrd="0" presId="urn:microsoft.com/office/officeart/2005/8/layout/hierarchy1"/>
    <dgm:cxn modelId="{4A4FE4AD-A1D6-49E6-9002-E35E64AE3F1D}" type="presParOf" srcId="{7B28089F-2CB8-DD4B-9294-0A6909F0401D}" destId="{7FA7E86C-7E7C-5841-9263-0F2DE07367B2}" srcOrd="1" destOrd="0" presId="urn:microsoft.com/office/officeart/2005/8/layout/hierarchy1"/>
    <dgm:cxn modelId="{010B037B-351B-45CF-8E3C-F6BD6E762A92}" type="presParOf" srcId="{7FA7E86C-7E7C-5841-9263-0F2DE07367B2}" destId="{9DD7175B-6F9F-F744-BCDF-64E4B56826C1}" srcOrd="0" destOrd="0" presId="urn:microsoft.com/office/officeart/2005/8/layout/hierarchy1"/>
    <dgm:cxn modelId="{C9461DC2-1917-4E27-A3A6-1AE3A2AA1AC8}" type="presParOf" srcId="{9DD7175B-6F9F-F744-BCDF-64E4B56826C1}" destId="{8FB8065D-32C6-C74E-A476-52519A63F39C}" srcOrd="0" destOrd="0" presId="urn:microsoft.com/office/officeart/2005/8/layout/hierarchy1"/>
    <dgm:cxn modelId="{39824AD0-A512-4263-8AA2-638362D2F501}" type="presParOf" srcId="{9DD7175B-6F9F-F744-BCDF-64E4B56826C1}" destId="{0FBC79AF-0590-6944-9F2A-F1EFEDDDD395}" srcOrd="1" destOrd="0" presId="urn:microsoft.com/office/officeart/2005/8/layout/hierarchy1"/>
    <dgm:cxn modelId="{FD7560C1-713F-495B-AC48-0A01B94C8AF0}" type="presParOf" srcId="{7FA7E86C-7E7C-5841-9263-0F2DE07367B2}" destId="{BE5D7538-74AB-A946-A8D8-69DCDDD660D9}" srcOrd="1" destOrd="0" presId="urn:microsoft.com/office/officeart/2005/8/layout/hierarchy1"/>
    <dgm:cxn modelId="{3292863E-32A1-4667-B403-5099A3D7C95E}" type="presParOf" srcId="{7B28089F-2CB8-DD4B-9294-0A6909F0401D}" destId="{0C070231-7769-DD4B-A08C-D852026DB458}" srcOrd="2" destOrd="0" presId="urn:microsoft.com/office/officeart/2005/8/layout/hierarchy1"/>
    <dgm:cxn modelId="{282DBA05-BD05-42AD-A947-562DF112CB61}" type="presParOf" srcId="{0C070231-7769-DD4B-A08C-D852026DB458}" destId="{92EF1FD2-28AD-2C46-A810-8AF22E9442FC}" srcOrd="0" destOrd="0" presId="urn:microsoft.com/office/officeart/2005/8/layout/hierarchy1"/>
    <dgm:cxn modelId="{3B1E97DC-1103-44B3-8C02-D0C55233AC39}" type="presParOf" srcId="{92EF1FD2-28AD-2C46-A810-8AF22E9442FC}" destId="{8829280C-90E6-204C-AC8C-D9EF5E947F5E}" srcOrd="0" destOrd="0" presId="urn:microsoft.com/office/officeart/2005/8/layout/hierarchy1"/>
    <dgm:cxn modelId="{521BFD51-1D51-46DD-A22F-64AA103ACE82}" type="presParOf" srcId="{92EF1FD2-28AD-2C46-A810-8AF22E9442FC}" destId="{5EDDB81B-79A1-7844-B832-E05FB14D3240}" srcOrd="1" destOrd="0" presId="urn:microsoft.com/office/officeart/2005/8/layout/hierarchy1"/>
    <dgm:cxn modelId="{CA3C4F3C-CC21-4B8F-93D2-9B187D4935CE}" type="presParOf" srcId="{0C070231-7769-DD4B-A08C-D852026DB458}" destId="{373269B0-2024-3B4D-B52B-554D6805E954}" srcOrd="1" destOrd="0" presId="urn:microsoft.com/office/officeart/2005/8/layout/hierarchy1"/>
    <dgm:cxn modelId="{019EE678-30F2-43A8-A0A6-0883BD342C29}" type="presParOf" srcId="{7B28089F-2CB8-DD4B-9294-0A6909F0401D}" destId="{95378FDA-5345-9F4A-8680-8A44904D23B5}" srcOrd="3" destOrd="0" presId="urn:microsoft.com/office/officeart/2005/8/layout/hierarchy1"/>
    <dgm:cxn modelId="{B5099B96-6EC8-4C65-9A2A-AEAD883F1C3A}" type="presParOf" srcId="{95378FDA-5345-9F4A-8680-8A44904D23B5}" destId="{B9197BE9-5085-1A42-BFC2-718AF83EE277}" srcOrd="0" destOrd="0" presId="urn:microsoft.com/office/officeart/2005/8/layout/hierarchy1"/>
    <dgm:cxn modelId="{D34267BD-4787-4C1E-AC16-4BA19B6D16AA}" type="presParOf" srcId="{B9197BE9-5085-1A42-BFC2-718AF83EE277}" destId="{F7DFD6AC-A137-AB47-B634-20700DAB84BA}" srcOrd="0" destOrd="0" presId="urn:microsoft.com/office/officeart/2005/8/layout/hierarchy1"/>
    <dgm:cxn modelId="{86AD3EC2-0466-4CB3-AE1C-2C09BBA385CC}" type="presParOf" srcId="{B9197BE9-5085-1A42-BFC2-718AF83EE277}" destId="{7C87343D-B68B-A34A-BB6E-8ECCBD7AD3ED}" srcOrd="1" destOrd="0" presId="urn:microsoft.com/office/officeart/2005/8/layout/hierarchy1"/>
    <dgm:cxn modelId="{1F37439D-AC9E-415A-870A-EB355B4D35FB}" type="presParOf" srcId="{95378FDA-5345-9F4A-8680-8A44904D23B5}" destId="{2D8E6EC9-437C-DA41-AA93-6F65076DB8E6}" srcOrd="1" destOrd="0" presId="urn:microsoft.com/office/officeart/2005/8/layout/hierarchy1"/>
    <dgm:cxn modelId="{8E64B4CB-3BA9-4B43-B5BE-7FBE19C091AC}" type="presParOf" srcId="{7B28089F-2CB8-DD4B-9294-0A6909F0401D}" destId="{300F5696-FD8B-4532-B888-0DAA9BE446AA}" srcOrd="4" destOrd="0" presId="urn:microsoft.com/office/officeart/2005/8/layout/hierarchy1"/>
    <dgm:cxn modelId="{9E5CD536-2FCE-487A-92D1-43616ECF2955}" type="presParOf" srcId="{300F5696-FD8B-4532-B888-0DAA9BE446AA}" destId="{ADBB89C8-0025-490B-AB1E-69DE360360F9}" srcOrd="0" destOrd="0" presId="urn:microsoft.com/office/officeart/2005/8/layout/hierarchy1"/>
    <dgm:cxn modelId="{A6170656-07AF-4A2A-8B4B-2B2DAD929C98}" type="presParOf" srcId="{ADBB89C8-0025-490B-AB1E-69DE360360F9}" destId="{70E45D68-EDDA-40AF-967B-1F6825441918}" srcOrd="0" destOrd="0" presId="urn:microsoft.com/office/officeart/2005/8/layout/hierarchy1"/>
    <dgm:cxn modelId="{D2269399-03D0-45F0-B083-73F7FBD780C0}" type="presParOf" srcId="{ADBB89C8-0025-490B-AB1E-69DE360360F9}" destId="{CEEDED4B-1A21-4A2D-8487-681D0429CC41}" srcOrd="1" destOrd="0" presId="urn:microsoft.com/office/officeart/2005/8/layout/hierarchy1"/>
    <dgm:cxn modelId="{2550294F-48F2-47A5-8A0D-B87A3CBBCBD2}" type="presParOf" srcId="{300F5696-FD8B-4532-B888-0DAA9BE446AA}" destId="{E72F2F68-5C68-4680-A821-F09CB979F50A}" srcOrd="1" destOrd="0" presId="urn:microsoft.com/office/officeart/2005/8/layout/hierarchy1"/>
    <dgm:cxn modelId="{76F9AFE9-B122-40E7-9B24-EEE6ED83D84F}" type="presParOf" srcId="{7B28089F-2CB8-DD4B-9294-0A6909F0401D}" destId="{0BC5D6F5-AF79-4DB6-AB71-FB931CEDB7EC}" srcOrd="5" destOrd="0" presId="urn:microsoft.com/office/officeart/2005/8/layout/hierarchy1"/>
    <dgm:cxn modelId="{31795AAC-58CD-4DAB-B9C8-B4AA5F72FF48}" type="presParOf" srcId="{0BC5D6F5-AF79-4DB6-AB71-FB931CEDB7EC}" destId="{E4073657-5A70-4363-8AE7-2692F4381DB5}" srcOrd="0" destOrd="0" presId="urn:microsoft.com/office/officeart/2005/8/layout/hierarchy1"/>
    <dgm:cxn modelId="{FCF023F4-C1DF-45B5-895D-5EE29F1DBA09}" type="presParOf" srcId="{E4073657-5A70-4363-8AE7-2692F4381DB5}" destId="{06AFC4EB-8997-475F-A53C-2ACB53811F2F}" srcOrd="0" destOrd="0" presId="urn:microsoft.com/office/officeart/2005/8/layout/hierarchy1"/>
    <dgm:cxn modelId="{C28CF77E-C017-4063-9B40-F5B736AC2921}" type="presParOf" srcId="{E4073657-5A70-4363-8AE7-2692F4381DB5}" destId="{F55775F9-FCA6-4DA7-9EBF-DFBF56200248}" srcOrd="1" destOrd="0" presId="urn:microsoft.com/office/officeart/2005/8/layout/hierarchy1"/>
    <dgm:cxn modelId="{1110495E-578C-4F61-9F94-A08D43609DD0}" type="presParOf" srcId="{0BC5D6F5-AF79-4DB6-AB71-FB931CEDB7EC}" destId="{C9AF0BDA-CA8D-4AAC-B2A2-C9258C85854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A02AA6-29FB-4BD0-AFB9-172A83C1A198}"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7CDF7828-BC4E-4090-8282-806F9EA0EDA1}">
      <dgm:prSet custT="1"/>
      <dgm:spPr/>
      <dgm:t>
        <a:bodyPr/>
        <a:lstStyle/>
        <a:p>
          <a:r>
            <a:rPr lang="en-US" sz="2400"/>
            <a:t>﻿Naïve Bayes</a:t>
          </a:r>
        </a:p>
      </dgm:t>
    </dgm:pt>
    <dgm:pt modelId="{C0DC1FA8-6FA8-4653-BADC-C6984896D2DE}" type="parTrans" cxnId="{B24BB4AE-9FE6-4E26-98DF-D30BC106332E}">
      <dgm:prSet/>
      <dgm:spPr/>
      <dgm:t>
        <a:bodyPr/>
        <a:lstStyle/>
        <a:p>
          <a:endParaRPr lang="en-US" sz="2400"/>
        </a:p>
      </dgm:t>
    </dgm:pt>
    <dgm:pt modelId="{42124360-E25B-46E2-AB22-32C3C84A0D77}" type="sibTrans" cxnId="{B24BB4AE-9FE6-4E26-98DF-D30BC106332E}">
      <dgm:prSet/>
      <dgm:spPr/>
      <dgm:t>
        <a:bodyPr/>
        <a:lstStyle/>
        <a:p>
          <a:endParaRPr lang="en-US" sz="2400"/>
        </a:p>
      </dgm:t>
    </dgm:pt>
    <dgm:pt modelId="{78E03158-2F67-424C-93B2-DC8B02AC7D79}">
      <dgm:prSet custT="1"/>
      <dgm:spPr/>
      <dgm:t>
        <a:bodyPr/>
        <a:lstStyle/>
        <a:p>
          <a:r>
            <a:rPr lang="en-US" sz="2400"/>
            <a:t>﻿Decision Trees</a:t>
          </a:r>
        </a:p>
      </dgm:t>
    </dgm:pt>
    <dgm:pt modelId="{3C3F6BF2-E105-4F1A-B731-69E25095BA82}" type="parTrans" cxnId="{39BAF1BB-F551-4C07-836A-208BF00D5883}">
      <dgm:prSet/>
      <dgm:spPr/>
      <dgm:t>
        <a:bodyPr/>
        <a:lstStyle/>
        <a:p>
          <a:endParaRPr lang="en-US" sz="2400"/>
        </a:p>
      </dgm:t>
    </dgm:pt>
    <dgm:pt modelId="{81B4D908-C6BD-4B19-AE89-D6FF7A58DF02}" type="sibTrans" cxnId="{39BAF1BB-F551-4C07-836A-208BF00D5883}">
      <dgm:prSet/>
      <dgm:spPr/>
      <dgm:t>
        <a:bodyPr/>
        <a:lstStyle/>
        <a:p>
          <a:endParaRPr lang="en-US" sz="2400"/>
        </a:p>
      </dgm:t>
    </dgm:pt>
    <dgm:pt modelId="{AB223550-62C4-4814-8EF8-50C6D946D74D}">
      <dgm:prSet custT="1"/>
      <dgm:spPr/>
      <dgm:t>
        <a:bodyPr/>
        <a:lstStyle/>
        <a:p>
          <a:r>
            <a:rPr lang="en-US" sz="2400"/>
            <a:t>﻿Random Forest</a:t>
          </a:r>
        </a:p>
      </dgm:t>
    </dgm:pt>
    <dgm:pt modelId="{584357FB-F131-4577-9D48-9E4B61ACEE4C}" type="parTrans" cxnId="{FD9E1DBE-4C20-49E2-A7DB-F7A74B4D30AE}">
      <dgm:prSet/>
      <dgm:spPr/>
      <dgm:t>
        <a:bodyPr/>
        <a:lstStyle/>
        <a:p>
          <a:endParaRPr lang="en-US" sz="2400"/>
        </a:p>
      </dgm:t>
    </dgm:pt>
    <dgm:pt modelId="{956D0410-364B-4C37-89AF-52005D89AD9F}" type="sibTrans" cxnId="{FD9E1DBE-4C20-49E2-A7DB-F7A74B4D30AE}">
      <dgm:prSet/>
      <dgm:spPr/>
      <dgm:t>
        <a:bodyPr/>
        <a:lstStyle/>
        <a:p>
          <a:endParaRPr lang="en-US" sz="2400"/>
        </a:p>
      </dgm:t>
    </dgm:pt>
    <dgm:pt modelId="{921187B2-915A-46EB-A99F-10844410EDF2}">
      <dgm:prSet custT="1"/>
      <dgm:spPr/>
      <dgm:t>
        <a:bodyPr/>
        <a:lstStyle/>
        <a:p>
          <a:r>
            <a:rPr lang="en-US" sz="2400"/>
            <a:t>KNN</a:t>
          </a:r>
        </a:p>
      </dgm:t>
    </dgm:pt>
    <dgm:pt modelId="{C84CC21A-5EF1-42A4-A1BF-9B5100DD5282}" type="parTrans" cxnId="{190B5E2D-D559-4B7A-BFF7-F2A79517EC66}">
      <dgm:prSet/>
      <dgm:spPr/>
      <dgm:t>
        <a:bodyPr/>
        <a:lstStyle/>
        <a:p>
          <a:endParaRPr lang="en-US" sz="2400"/>
        </a:p>
      </dgm:t>
    </dgm:pt>
    <dgm:pt modelId="{C0F667B0-24C9-4EFB-BC76-352351EF661D}" type="sibTrans" cxnId="{190B5E2D-D559-4B7A-BFF7-F2A79517EC66}">
      <dgm:prSet/>
      <dgm:spPr/>
      <dgm:t>
        <a:bodyPr/>
        <a:lstStyle/>
        <a:p>
          <a:endParaRPr lang="en-US" sz="2400"/>
        </a:p>
      </dgm:t>
    </dgm:pt>
    <dgm:pt modelId="{7B28089F-2CB8-DD4B-9294-0A6909F0401D}" type="pres">
      <dgm:prSet presAssocID="{C2A02AA6-29FB-4BD0-AFB9-172A83C1A198}" presName="hierChild1" presStyleCnt="0">
        <dgm:presLayoutVars>
          <dgm:chPref val="1"/>
          <dgm:dir/>
          <dgm:animOne val="branch"/>
          <dgm:animLvl val="lvl"/>
          <dgm:resizeHandles/>
        </dgm:presLayoutVars>
      </dgm:prSet>
      <dgm:spPr/>
    </dgm:pt>
    <dgm:pt modelId="{4403A261-79B3-5648-A0DB-9AA9D4DF9A01}" type="pres">
      <dgm:prSet presAssocID="{7CDF7828-BC4E-4090-8282-806F9EA0EDA1}" presName="hierRoot1" presStyleCnt="0"/>
      <dgm:spPr/>
    </dgm:pt>
    <dgm:pt modelId="{3486F540-1496-AD4D-877C-645B04EF39D8}" type="pres">
      <dgm:prSet presAssocID="{7CDF7828-BC4E-4090-8282-806F9EA0EDA1}" presName="composite" presStyleCnt="0"/>
      <dgm:spPr/>
    </dgm:pt>
    <dgm:pt modelId="{EF6A5C7A-351C-1946-9225-C1A90EE6C0B8}" type="pres">
      <dgm:prSet presAssocID="{7CDF7828-BC4E-4090-8282-806F9EA0EDA1}" presName="background" presStyleLbl="node0" presStyleIdx="0" presStyleCnt="4"/>
      <dgm:spPr/>
    </dgm:pt>
    <dgm:pt modelId="{7A4647E3-476D-8543-953A-CC4B1D265CCD}" type="pres">
      <dgm:prSet presAssocID="{7CDF7828-BC4E-4090-8282-806F9EA0EDA1}" presName="text" presStyleLbl="fgAcc0" presStyleIdx="0" presStyleCnt="4">
        <dgm:presLayoutVars>
          <dgm:chPref val="3"/>
        </dgm:presLayoutVars>
      </dgm:prSet>
      <dgm:spPr/>
    </dgm:pt>
    <dgm:pt modelId="{B484FDA9-0514-234C-A8DA-B5006619A2D4}" type="pres">
      <dgm:prSet presAssocID="{7CDF7828-BC4E-4090-8282-806F9EA0EDA1}" presName="hierChild2" presStyleCnt="0"/>
      <dgm:spPr/>
    </dgm:pt>
    <dgm:pt modelId="{7FA7E86C-7E7C-5841-9263-0F2DE07367B2}" type="pres">
      <dgm:prSet presAssocID="{78E03158-2F67-424C-93B2-DC8B02AC7D79}" presName="hierRoot1" presStyleCnt="0"/>
      <dgm:spPr/>
    </dgm:pt>
    <dgm:pt modelId="{9DD7175B-6F9F-F744-BCDF-64E4B56826C1}" type="pres">
      <dgm:prSet presAssocID="{78E03158-2F67-424C-93B2-DC8B02AC7D79}" presName="composite" presStyleCnt="0"/>
      <dgm:spPr/>
    </dgm:pt>
    <dgm:pt modelId="{8FB8065D-32C6-C74E-A476-52519A63F39C}" type="pres">
      <dgm:prSet presAssocID="{78E03158-2F67-424C-93B2-DC8B02AC7D79}" presName="background" presStyleLbl="node0" presStyleIdx="1" presStyleCnt="4"/>
      <dgm:spPr/>
    </dgm:pt>
    <dgm:pt modelId="{0FBC79AF-0590-6944-9F2A-F1EFEDDDD395}" type="pres">
      <dgm:prSet presAssocID="{78E03158-2F67-424C-93B2-DC8B02AC7D79}" presName="text" presStyleLbl="fgAcc0" presStyleIdx="1" presStyleCnt="4">
        <dgm:presLayoutVars>
          <dgm:chPref val="3"/>
        </dgm:presLayoutVars>
      </dgm:prSet>
      <dgm:spPr/>
    </dgm:pt>
    <dgm:pt modelId="{BE5D7538-74AB-A946-A8D8-69DCDDD660D9}" type="pres">
      <dgm:prSet presAssocID="{78E03158-2F67-424C-93B2-DC8B02AC7D79}" presName="hierChild2" presStyleCnt="0"/>
      <dgm:spPr/>
    </dgm:pt>
    <dgm:pt modelId="{0C070231-7769-DD4B-A08C-D852026DB458}" type="pres">
      <dgm:prSet presAssocID="{AB223550-62C4-4814-8EF8-50C6D946D74D}" presName="hierRoot1" presStyleCnt="0"/>
      <dgm:spPr/>
    </dgm:pt>
    <dgm:pt modelId="{92EF1FD2-28AD-2C46-A810-8AF22E9442FC}" type="pres">
      <dgm:prSet presAssocID="{AB223550-62C4-4814-8EF8-50C6D946D74D}" presName="composite" presStyleCnt="0"/>
      <dgm:spPr/>
    </dgm:pt>
    <dgm:pt modelId="{8829280C-90E6-204C-AC8C-D9EF5E947F5E}" type="pres">
      <dgm:prSet presAssocID="{AB223550-62C4-4814-8EF8-50C6D946D74D}" presName="background" presStyleLbl="node0" presStyleIdx="2" presStyleCnt="4"/>
      <dgm:spPr/>
    </dgm:pt>
    <dgm:pt modelId="{5EDDB81B-79A1-7844-B832-E05FB14D3240}" type="pres">
      <dgm:prSet presAssocID="{AB223550-62C4-4814-8EF8-50C6D946D74D}" presName="text" presStyleLbl="fgAcc0" presStyleIdx="2" presStyleCnt="4">
        <dgm:presLayoutVars>
          <dgm:chPref val="3"/>
        </dgm:presLayoutVars>
      </dgm:prSet>
      <dgm:spPr/>
    </dgm:pt>
    <dgm:pt modelId="{373269B0-2024-3B4D-B52B-554D6805E954}" type="pres">
      <dgm:prSet presAssocID="{AB223550-62C4-4814-8EF8-50C6D946D74D}" presName="hierChild2" presStyleCnt="0"/>
      <dgm:spPr/>
    </dgm:pt>
    <dgm:pt modelId="{95378FDA-5345-9F4A-8680-8A44904D23B5}" type="pres">
      <dgm:prSet presAssocID="{921187B2-915A-46EB-A99F-10844410EDF2}" presName="hierRoot1" presStyleCnt="0"/>
      <dgm:spPr/>
    </dgm:pt>
    <dgm:pt modelId="{B9197BE9-5085-1A42-BFC2-718AF83EE277}" type="pres">
      <dgm:prSet presAssocID="{921187B2-915A-46EB-A99F-10844410EDF2}" presName="composite" presStyleCnt="0"/>
      <dgm:spPr/>
    </dgm:pt>
    <dgm:pt modelId="{F7DFD6AC-A137-AB47-B634-20700DAB84BA}" type="pres">
      <dgm:prSet presAssocID="{921187B2-915A-46EB-A99F-10844410EDF2}" presName="background" presStyleLbl="node0" presStyleIdx="3" presStyleCnt="4"/>
      <dgm:spPr/>
    </dgm:pt>
    <dgm:pt modelId="{7C87343D-B68B-A34A-BB6E-8ECCBD7AD3ED}" type="pres">
      <dgm:prSet presAssocID="{921187B2-915A-46EB-A99F-10844410EDF2}" presName="text" presStyleLbl="fgAcc0" presStyleIdx="3" presStyleCnt="4">
        <dgm:presLayoutVars>
          <dgm:chPref val="3"/>
        </dgm:presLayoutVars>
      </dgm:prSet>
      <dgm:spPr/>
    </dgm:pt>
    <dgm:pt modelId="{2D8E6EC9-437C-DA41-AA93-6F65076DB8E6}" type="pres">
      <dgm:prSet presAssocID="{921187B2-915A-46EB-A99F-10844410EDF2}" presName="hierChild2" presStyleCnt="0"/>
      <dgm:spPr/>
    </dgm:pt>
  </dgm:ptLst>
  <dgm:cxnLst>
    <dgm:cxn modelId="{190B5E2D-D559-4B7A-BFF7-F2A79517EC66}" srcId="{C2A02AA6-29FB-4BD0-AFB9-172A83C1A198}" destId="{921187B2-915A-46EB-A99F-10844410EDF2}" srcOrd="3" destOrd="0" parTransId="{C84CC21A-5EF1-42A4-A1BF-9B5100DD5282}" sibTransId="{C0F667B0-24C9-4EFB-BC76-352351EF661D}"/>
    <dgm:cxn modelId="{6EA9597A-E572-9D44-BB8C-F3848C80F8BE}" type="presOf" srcId="{C2A02AA6-29FB-4BD0-AFB9-172A83C1A198}" destId="{7B28089F-2CB8-DD4B-9294-0A6909F0401D}" srcOrd="0" destOrd="0" presId="urn:microsoft.com/office/officeart/2005/8/layout/hierarchy1"/>
    <dgm:cxn modelId="{70CEAFA6-F968-7F42-99DC-84A6EF5D068B}" type="presOf" srcId="{7CDF7828-BC4E-4090-8282-806F9EA0EDA1}" destId="{7A4647E3-476D-8543-953A-CC4B1D265CCD}" srcOrd="0" destOrd="0" presId="urn:microsoft.com/office/officeart/2005/8/layout/hierarchy1"/>
    <dgm:cxn modelId="{B24BB4AE-9FE6-4E26-98DF-D30BC106332E}" srcId="{C2A02AA6-29FB-4BD0-AFB9-172A83C1A198}" destId="{7CDF7828-BC4E-4090-8282-806F9EA0EDA1}" srcOrd="0" destOrd="0" parTransId="{C0DC1FA8-6FA8-4653-BADC-C6984896D2DE}" sibTransId="{42124360-E25B-46E2-AB22-32C3C84A0D77}"/>
    <dgm:cxn modelId="{B4E506B2-509B-4A49-9CFE-39D3A4440A73}" type="presOf" srcId="{78E03158-2F67-424C-93B2-DC8B02AC7D79}" destId="{0FBC79AF-0590-6944-9F2A-F1EFEDDDD395}" srcOrd="0" destOrd="0" presId="urn:microsoft.com/office/officeart/2005/8/layout/hierarchy1"/>
    <dgm:cxn modelId="{39BAF1BB-F551-4C07-836A-208BF00D5883}" srcId="{C2A02AA6-29FB-4BD0-AFB9-172A83C1A198}" destId="{78E03158-2F67-424C-93B2-DC8B02AC7D79}" srcOrd="1" destOrd="0" parTransId="{3C3F6BF2-E105-4F1A-B731-69E25095BA82}" sibTransId="{81B4D908-C6BD-4B19-AE89-D6FF7A58DF02}"/>
    <dgm:cxn modelId="{FD9E1DBE-4C20-49E2-A7DB-F7A74B4D30AE}" srcId="{C2A02AA6-29FB-4BD0-AFB9-172A83C1A198}" destId="{AB223550-62C4-4814-8EF8-50C6D946D74D}" srcOrd="2" destOrd="0" parTransId="{584357FB-F131-4577-9D48-9E4B61ACEE4C}" sibTransId="{956D0410-364B-4C37-89AF-52005D89AD9F}"/>
    <dgm:cxn modelId="{73B885ED-7FA5-7B46-96FF-F2817B0594DA}" type="presOf" srcId="{AB223550-62C4-4814-8EF8-50C6D946D74D}" destId="{5EDDB81B-79A1-7844-B832-E05FB14D3240}" srcOrd="0" destOrd="0" presId="urn:microsoft.com/office/officeart/2005/8/layout/hierarchy1"/>
    <dgm:cxn modelId="{C66463FE-AF3B-EE46-964B-6F63D88AA8DE}" type="presOf" srcId="{921187B2-915A-46EB-A99F-10844410EDF2}" destId="{7C87343D-B68B-A34A-BB6E-8ECCBD7AD3ED}" srcOrd="0" destOrd="0" presId="urn:microsoft.com/office/officeart/2005/8/layout/hierarchy1"/>
    <dgm:cxn modelId="{E8C9C193-6618-F841-ACA6-21A67FA1B2D0}" type="presParOf" srcId="{7B28089F-2CB8-DD4B-9294-0A6909F0401D}" destId="{4403A261-79B3-5648-A0DB-9AA9D4DF9A01}" srcOrd="0" destOrd="0" presId="urn:microsoft.com/office/officeart/2005/8/layout/hierarchy1"/>
    <dgm:cxn modelId="{216529C7-A9F8-A94D-ACA2-D89C3EF41EC2}" type="presParOf" srcId="{4403A261-79B3-5648-A0DB-9AA9D4DF9A01}" destId="{3486F540-1496-AD4D-877C-645B04EF39D8}" srcOrd="0" destOrd="0" presId="urn:microsoft.com/office/officeart/2005/8/layout/hierarchy1"/>
    <dgm:cxn modelId="{4F465D36-0083-FC48-8F2C-CAEB6582F43F}" type="presParOf" srcId="{3486F540-1496-AD4D-877C-645B04EF39D8}" destId="{EF6A5C7A-351C-1946-9225-C1A90EE6C0B8}" srcOrd="0" destOrd="0" presId="urn:microsoft.com/office/officeart/2005/8/layout/hierarchy1"/>
    <dgm:cxn modelId="{50FF1462-7C75-D341-BA87-3A60A2B7A77D}" type="presParOf" srcId="{3486F540-1496-AD4D-877C-645B04EF39D8}" destId="{7A4647E3-476D-8543-953A-CC4B1D265CCD}" srcOrd="1" destOrd="0" presId="urn:microsoft.com/office/officeart/2005/8/layout/hierarchy1"/>
    <dgm:cxn modelId="{A4B6FF7F-134B-DA49-93E6-674E2D9536B5}" type="presParOf" srcId="{4403A261-79B3-5648-A0DB-9AA9D4DF9A01}" destId="{B484FDA9-0514-234C-A8DA-B5006619A2D4}" srcOrd="1" destOrd="0" presId="urn:microsoft.com/office/officeart/2005/8/layout/hierarchy1"/>
    <dgm:cxn modelId="{65F62697-290D-F14C-AC57-99204F9659DA}" type="presParOf" srcId="{7B28089F-2CB8-DD4B-9294-0A6909F0401D}" destId="{7FA7E86C-7E7C-5841-9263-0F2DE07367B2}" srcOrd="1" destOrd="0" presId="urn:microsoft.com/office/officeart/2005/8/layout/hierarchy1"/>
    <dgm:cxn modelId="{329A2F3C-2D09-194A-8D57-8B5D631905F3}" type="presParOf" srcId="{7FA7E86C-7E7C-5841-9263-0F2DE07367B2}" destId="{9DD7175B-6F9F-F744-BCDF-64E4B56826C1}" srcOrd="0" destOrd="0" presId="urn:microsoft.com/office/officeart/2005/8/layout/hierarchy1"/>
    <dgm:cxn modelId="{978C565B-E911-6241-977C-1AFB49DFFB5C}" type="presParOf" srcId="{9DD7175B-6F9F-F744-BCDF-64E4B56826C1}" destId="{8FB8065D-32C6-C74E-A476-52519A63F39C}" srcOrd="0" destOrd="0" presId="urn:microsoft.com/office/officeart/2005/8/layout/hierarchy1"/>
    <dgm:cxn modelId="{8DEFBF8D-F607-3D4C-8387-4C31FC435E65}" type="presParOf" srcId="{9DD7175B-6F9F-F744-BCDF-64E4B56826C1}" destId="{0FBC79AF-0590-6944-9F2A-F1EFEDDDD395}" srcOrd="1" destOrd="0" presId="urn:microsoft.com/office/officeart/2005/8/layout/hierarchy1"/>
    <dgm:cxn modelId="{D4320297-203A-214F-9651-9FE0BB579236}" type="presParOf" srcId="{7FA7E86C-7E7C-5841-9263-0F2DE07367B2}" destId="{BE5D7538-74AB-A946-A8D8-69DCDDD660D9}" srcOrd="1" destOrd="0" presId="urn:microsoft.com/office/officeart/2005/8/layout/hierarchy1"/>
    <dgm:cxn modelId="{324A18CF-49DE-374C-9327-C7D3DAEA922E}" type="presParOf" srcId="{7B28089F-2CB8-DD4B-9294-0A6909F0401D}" destId="{0C070231-7769-DD4B-A08C-D852026DB458}" srcOrd="2" destOrd="0" presId="urn:microsoft.com/office/officeart/2005/8/layout/hierarchy1"/>
    <dgm:cxn modelId="{C4E9196B-E4F3-1948-AB17-92BC68B701CD}" type="presParOf" srcId="{0C070231-7769-DD4B-A08C-D852026DB458}" destId="{92EF1FD2-28AD-2C46-A810-8AF22E9442FC}" srcOrd="0" destOrd="0" presId="urn:microsoft.com/office/officeart/2005/8/layout/hierarchy1"/>
    <dgm:cxn modelId="{690A2103-54F4-BE42-8F19-FD190D9D68A5}" type="presParOf" srcId="{92EF1FD2-28AD-2C46-A810-8AF22E9442FC}" destId="{8829280C-90E6-204C-AC8C-D9EF5E947F5E}" srcOrd="0" destOrd="0" presId="urn:microsoft.com/office/officeart/2005/8/layout/hierarchy1"/>
    <dgm:cxn modelId="{1E13B065-1DB7-5543-AD01-CAD5AD1E31CA}" type="presParOf" srcId="{92EF1FD2-28AD-2C46-A810-8AF22E9442FC}" destId="{5EDDB81B-79A1-7844-B832-E05FB14D3240}" srcOrd="1" destOrd="0" presId="urn:microsoft.com/office/officeart/2005/8/layout/hierarchy1"/>
    <dgm:cxn modelId="{012BE8FD-6360-904D-8995-0500AE34A228}" type="presParOf" srcId="{0C070231-7769-DD4B-A08C-D852026DB458}" destId="{373269B0-2024-3B4D-B52B-554D6805E954}" srcOrd="1" destOrd="0" presId="urn:microsoft.com/office/officeart/2005/8/layout/hierarchy1"/>
    <dgm:cxn modelId="{FBE6621A-A22F-0B4F-9DC4-6CFA9F6094AC}" type="presParOf" srcId="{7B28089F-2CB8-DD4B-9294-0A6909F0401D}" destId="{95378FDA-5345-9F4A-8680-8A44904D23B5}" srcOrd="3" destOrd="0" presId="urn:microsoft.com/office/officeart/2005/8/layout/hierarchy1"/>
    <dgm:cxn modelId="{888DDDBE-56E6-2F43-931C-85B0311B55D6}" type="presParOf" srcId="{95378FDA-5345-9F4A-8680-8A44904D23B5}" destId="{B9197BE9-5085-1A42-BFC2-718AF83EE277}" srcOrd="0" destOrd="0" presId="urn:microsoft.com/office/officeart/2005/8/layout/hierarchy1"/>
    <dgm:cxn modelId="{6D983E10-095C-C545-8D89-E9D626B4CF0E}" type="presParOf" srcId="{B9197BE9-5085-1A42-BFC2-718AF83EE277}" destId="{F7DFD6AC-A137-AB47-B634-20700DAB84BA}" srcOrd="0" destOrd="0" presId="urn:microsoft.com/office/officeart/2005/8/layout/hierarchy1"/>
    <dgm:cxn modelId="{E0989145-516D-F84C-B677-A57882F0AB5C}" type="presParOf" srcId="{B9197BE9-5085-1A42-BFC2-718AF83EE277}" destId="{7C87343D-B68B-A34A-BB6E-8ECCBD7AD3ED}" srcOrd="1" destOrd="0" presId="urn:microsoft.com/office/officeart/2005/8/layout/hierarchy1"/>
    <dgm:cxn modelId="{C5A4FB12-B2D3-5240-A8CF-684870DF0E7E}" type="presParOf" srcId="{95378FDA-5345-9F4A-8680-8A44904D23B5}" destId="{2D8E6EC9-437C-DA41-AA93-6F65076DB8E6}"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5F84B33-282D-47CA-9039-9755BC8D558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88B2C16-70FD-419E-B7D7-83E448C0A917}">
      <dgm:prSet/>
      <dgm:spPr/>
      <dgm:t>
        <a:bodyPr/>
        <a:lstStyle/>
        <a:p>
          <a:r>
            <a:rPr lang="en-US" b="1"/>
            <a:t>Dataset Overview:</a:t>
          </a:r>
          <a:endParaRPr lang="en-US"/>
        </a:p>
      </dgm:t>
    </dgm:pt>
    <dgm:pt modelId="{1A3C26DA-240F-4E5D-B031-EB1DA75C02CA}" type="parTrans" cxnId="{6699F39D-0A96-4F84-B8A2-E30409161923}">
      <dgm:prSet/>
      <dgm:spPr/>
      <dgm:t>
        <a:bodyPr/>
        <a:lstStyle/>
        <a:p>
          <a:endParaRPr lang="en-US"/>
        </a:p>
      </dgm:t>
    </dgm:pt>
    <dgm:pt modelId="{C269ED5A-C2A7-4E3A-9D2B-668A39C2DDA4}" type="sibTrans" cxnId="{6699F39D-0A96-4F84-B8A2-E30409161923}">
      <dgm:prSet/>
      <dgm:spPr/>
      <dgm:t>
        <a:bodyPr/>
        <a:lstStyle/>
        <a:p>
          <a:endParaRPr lang="en-US"/>
        </a:p>
      </dgm:t>
    </dgm:pt>
    <dgm:pt modelId="{500929F5-CF93-4FE6-A782-A2BE31BBD333}">
      <dgm:prSet/>
      <dgm:spPr/>
      <dgm:t>
        <a:bodyPr/>
        <a:lstStyle/>
        <a:p>
          <a:r>
            <a:rPr lang="en-US"/>
            <a:t>Target variable is rent.</a:t>
          </a:r>
        </a:p>
      </dgm:t>
    </dgm:pt>
    <dgm:pt modelId="{F9306A44-277E-480F-9C39-9FBED14284BF}" type="parTrans" cxnId="{198D6499-AA52-461E-9198-D5F349096069}">
      <dgm:prSet/>
      <dgm:spPr/>
      <dgm:t>
        <a:bodyPr/>
        <a:lstStyle/>
        <a:p>
          <a:endParaRPr lang="en-US"/>
        </a:p>
      </dgm:t>
    </dgm:pt>
    <dgm:pt modelId="{4699CCA5-5875-41D5-8A17-37788C1F64E5}" type="sibTrans" cxnId="{198D6499-AA52-461E-9198-D5F349096069}">
      <dgm:prSet/>
      <dgm:spPr/>
      <dgm:t>
        <a:bodyPr/>
        <a:lstStyle/>
        <a:p>
          <a:endParaRPr lang="en-US"/>
        </a:p>
      </dgm:t>
    </dgm:pt>
    <dgm:pt modelId="{E63B0E6A-FEDC-44B5-BB9C-906DB00DF9EC}">
      <dgm:prSet/>
      <dgm:spPr/>
      <dgm:t>
        <a:bodyPr/>
        <a:lstStyle/>
        <a:p>
          <a:r>
            <a:rPr lang="en-US" b="1"/>
            <a:t>Key Features:</a:t>
          </a:r>
          <a:endParaRPr lang="en-US"/>
        </a:p>
      </dgm:t>
    </dgm:pt>
    <dgm:pt modelId="{1DAE610B-0AF1-4014-924A-BEA3D9C3D437}" type="parTrans" cxnId="{4CD97FFD-90A5-43EA-8E30-6F162E87E927}">
      <dgm:prSet/>
      <dgm:spPr/>
      <dgm:t>
        <a:bodyPr/>
        <a:lstStyle/>
        <a:p>
          <a:endParaRPr lang="en-US"/>
        </a:p>
      </dgm:t>
    </dgm:pt>
    <dgm:pt modelId="{17ED75BC-F544-40BE-BE56-DCA9BF6C33E5}" type="sibTrans" cxnId="{4CD97FFD-90A5-43EA-8E30-6F162E87E927}">
      <dgm:prSet/>
      <dgm:spPr/>
      <dgm:t>
        <a:bodyPr/>
        <a:lstStyle/>
        <a:p>
          <a:endParaRPr lang="en-US"/>
        </a:p>
      </dgm:t>
    </dgm:pt>
    <dgm:pt modelId="{951D8C0A-7D55-4777-B291-CBB464DAA177}">
      <dgm:prSet/>
      <dgm:spPr/>
      <dgm:t>
        <a:bodyPr/>
        <a:lstStyle/>
        <a:p>
          <a:r>
            <a:rPr lang="en-US"/>
            <a:t>Includes numerical attributes like BHK, size, bathroom.</a:t>
          </a:r>
        </a:p>
      </dgm:t>
    </dgm:pt>
    <dgm:pt modelId="{C9B3E5B0-CEE9-4D80-A7AC-ED78F4BD08C0}" type="parTrans" cxnId="{E9B9CF83-544B-42B9-AB41-598C2C9E7014}">
      <dgm:prSet/>
      <dgm:spPr/>
      <dgm:t>
        <a:bodyPr/>
        <a:lstStyle/>
        <a:p>
          <a:endParaRPr lang="en-US"/>
        </a:p>
      </dgm:t>
    </dgm:pt>
    <dgm:pt modelId="{9AA0A7D8-D38F-414C-B9CD-09E494480FB5}" type="sibTrans" cxnId="{E9B9CF83-544B-42B9-AB41-598C2C9E7014}">
      <dgm:prSet/>
      <dgm:spPr/>
      <dgm:t>
        <a:bodyPr/>
        <a:lstStyle/>
        <a:p>
          <a:endParaRPr lang="en-US"/>
        </a:p>
      </dgm:t>
    </dgm:pt>
    <dgm:pt modelId="{2CAD5D5F-D4CB-4E50-A59C-D455C801449D}">
      <dgm:prSet/>
      <dgm:spPr/>
      <dgm:t>
        <a:bodyPr/>
        <a:lstStyle/>
        <a:p>
          <a:r>
            <a:rPr lang="en-US" b="1"/>
            <a:t>Objective:</a:t>
          </a:r>
          <a:endParaRPr lang="en-US"/>
        </a:p>
      </dgm:t>
    </dgm:pt>
    <dgm:pt modelId="{5E1472DB-DCA8-4B3D-8F83-CDF3A6C9D0FC}" type="parTrans" cxnId="{04CA0861-87CB-4989-A5B0-DCBE9AB40D52}">
      <dgm:prSet/>
      <dgm:spPr/>
      <dgm:t>
        <a:bodyPr/>
        <a:lstStyle/>
        <a:p>
          <a:endParaRPr lang="en-US"/>
        </a:p>
      </dgm:t>
    </dgm:pt>
    <dgm:pt modelId="{D4F657DB-EDF6-4819-A7AC-AC7C5F5CE5EA}" type="sibTrans" cxnId="{04CA0861-87CB-4989-A5B0-DCBE9AB40D52}">
      <dgm:prSet/>
      <dgm:spPr/>
      <dgm:t>
        <a:bodyPr/>
        <a:lstStyle/>
        <a:p>
          <a:endParaRPr lang="en-US"/>
        </a:p>
      </dgm:t>
    </dgm:pt>
    <dgm:pt modelId="{57A9C03E-26F8-4A9B-AB83-4B79DE7F8BB7}">
      <dgm:prSet/>
      <dgm:spPr/>
      <dgm:t>
        <a:bodyPr/>
        <a:lstStyle/>
        <a:p>
          <a:r>
            <a:rPr lang="en-US"/>
            <a:t>Apply Multiple Linear and Polynomial Regression to predict rental prices based on relevant features.</a:t>
          </a:r>
        </a:p>
      </dgm:t>
    </dgm:pt>
    <dgm:pt modelId="{633B8123-E199-4196-82AF-E0157E80E545}" type="parTrans" cxnId="{DE333A8A-3D44-4318-806B-E03C56BD9DF1}">
      <dgm:prSet/>
      <dgm:spPr/>
      <dgm:t>
        <a:bodyPr/>
        <a:lstStyle/>
        <a:p>
          <a:endParaRPr lang="en-US"/>
        </a:p>
      </dgm:t>
    </dgm:pt>
    <dgm:pt modelId="{B5F64074-943D-4EC4-ADD0-084353F84C4B}" type="sibTrans" cxnId="{DE333A8A-3D44-4318-806B-E03C56BD9DF1}">
      <dgm:prSet/>
      <dgm:spPr/>
      <dgm:t>
        <a:bodyPr/>
        <a:lstStyle/>
        <a:p>
          <a:endParaRPr lang="en-US"/>
        </a:p>
      </dgm:t>
    </dgm:pt>
    <dgm:pt modelId="{5DBA13EE-660D-8841-BBA8-4DF3961F4E10}">
      <dgm:prSet/>
      <dgm:spPr/>
      <dgm:t>
        <a:bodyPr/>
        <a:lstStyle/>
        <a:p>
          <a:r>
            <a:rPr lang="en-US"/>
            <a:t>Aims to predict rent prices based on other independent variables.</a:t>
          </a:r>
        </a:p>
      </dgm:t>
    </dgm:pt>
    <dgm:pt modelId="{1AADE165-B285-8949-9F0A-76CEEC9B9435}" type="parTrans" cxnId="{425F18C7-869C-C446-B9BA-2BD98EA3E307}">
      <dgm:prSet/>
      <dgm:spPr/>
      <dgm:t>
        <a:bodyPr/>
        <a:lstStyle/>
        <a:p>
          <a:endParaRPr lang="en-US"/>
        </a:p>
      </dgm:t>
    </dgm:pt>
    <dgm:pt modelId="{E88654E0-58D4-E74D-9BBB-C660D3BF44A7}" type="sibTrans" cxnId="{425F18C7-869C-C446-B9BA-2BD98EA3E307}">
      <dgm:prSet/>
      <dgm:spPr/>
      <dgm:t>
        <a:bodyPr/>
        <a:lstStyle/>
        <a:p>
          <a:endParaRPr lang="en-US"/>
        </a:p>
      </dgm:t>
    </dgm:pt>
    <dgm:pt modelId="{9237DC95-740C-734B-A934-2DC63D6FAA85}">
      <dgm:prSet/>
      <dgm:spPr/>
      <dgm:t>
        <a:bodyPr/>
        <a:lstStyle/>
        <a:p>
          <a:r>
            <a:rPr lang="en-US"/>
            <a:t>Analyze the impact of different property attributes on rent to improve decision-making for renters and property owners.</a:t>
          </a:r>
        </a:p>
      </dgm:t>
    </dgm:pt>
    <dgm:pt modelId="{1044EE13-79B5-4147-93B8-39ECE9C58DD7}" type="parTrans" cxnId="{3C4DFF8F-AAD7-D64D-8107-6914FABD69D8}">
      <dgm:prSet/>
      <dgm:spPr/>
      <dgm:t>
        <a:bodyPr/>
        <a:lstStyle/>
        <a:p>
          <a:endParaRPr lang="en-US"/>
        </a:p>
      </dgm:t>
    </dgm:pt>
    <dgm:pt modelId="{4F4CBD52-8E25-CA43-B540-BED765718DBF}" type="sibTrans" cxnId="{3C4DFF8F-AAD7-D64D-8107-6914FABD69D8}">
      <dgm:prSet/>
      <dgm:spPr/>
      <dgm:t>
        <a:bodyPr/>
        <a:lstStyle/>
        <a:p>
          <a:endParaRPr lang="en-US"/>
        </a:p>
      </dgm:t>
    </dgm:pt>
    <dgm:pt modelId="{2C4B9E9B-72CA-DE4F-AB3D-089EB76E4894}">
      <dgm:prSet/>
      <dgm:spPr/>
      <dgm:t>
        <a:bodyPr/>
        <a:lstStyle/>
        <a:p>
          <a:r>
            <a:rPr lang="en-US"/>
            <a:t>Includes categorical attributes like floor level, city, furnishing status and tenant preferences.</a:t>
          </a:r>
        </a:p>
      </dgm:t>
    </dgm:pt>
    <dgm:pt modelId="{9392E368-67AC-0943-8A8B-241BC6732F33}" type="parTrans" cxnId="{2A8F67C8-21B8-1640-9324-2FE0BCE54997}">
      <dgm:prSet/>
      <dgm:spPr/>
      <dgm:t>
        <a:bodyPr/>
        <a:lstStyle/>
        <a:p>
          <a:endParaRPr lang="en-US"/>
        </a:p>
      </dgm:t>
    </dgm:pt>
    <dgm:pt modelId="{6CF67FE9-FCC8-1843-BEFC-CCCF3EBB7418}" type="sibTrans" cxnId="{2A8F67C8-21B8-1640-9324-2FE0BCE54997}">
      <dgm:prSet/>
      <dgm:spPr/>
      <dgm:t>
        <a:bodyPr/>
        <a:lstStyle/>
        <a:p>
          <a:endParaRPr lang="en-US"/>
        </a:p>
      </dgm:t>
    </dgm:pt>
    <dgm:pt modelId="{BBD50157-D74B-474C-A54B-2535CF374F77}" type="pres">
      <dgm:prSet presAssocID="{85F84B33-282D-47CA-9039-9755BC8D5588}" presName="linear" presStyleCnt="0">
        <dgm:presLayoutVars>
          <dgm:animLvl val="lvl"/>
          <dgm:resizeHandles val="exact"/>
        </dgm:presLayoutVars>
      </dgm:prSet>
      <dgm:spPr/>
    </dgm:pt>
    <dgm:pt modelId="{C3231A0A-3A3B-FA41-9A98-69E22826EA5D}" type="pres">
      <dgm:prSet presAssocID="{A88B2C16-70FD-419E-B7D7-83E448C0A917}" presName="parentText" presStyleLbl="node1" presStyleIdx="0" presStyleCnt="3">
        <dgm:presLayoutVars>
          <dgm:chMax val="0"/>
          <dgm:bulletEnabled val="1"/>
        </dgm:presLayoutVars>
      </dgm:prSet>
      <dgm:spPr/>
    </dgm:pt>
    <dgm:pt modelId="{402991B1-9906-D64A-A0B0-E9AC58BBC61D}" type="pres">
      <dgm:prSet presAssocID="{A88B2C16-70FD-419E-B7D7-83E448C0A917}" presName="childText" presStyleLbl="revTx" presStyleIdx="0" presStyleCnt="3">
        <dgm:presLayoutVars>
          <dgm:bulletEnabled val="1"/>
        </dgm:presLayoutVars>
      </dgm:prSet>
      <dgm:spPr/>
    </dgm:pt>
    <dgm:pt modelId="{F71D876C-8C6E-5E43-9114-F36C88DED260}" type="pres">
      <dgm:prSet presAssocID="{E63B0E6A-FEDC-44B5-BB9C-906DB00DF9EC}" presName="parentText" presStyleLbl="node1" presStyleIdx="1" presStyleCnt="3">
        <dgm:presLayoutVars>
          <dgm:chMax val="0"/>
          <dgm:bulletEnabled val="1"/>
        </dgm:presLayoutVars>
      </dgm:prSet>
      <dgm:spPr/>
    </dgm:pt>
    <dgm:pt modelId="{D1E5E669-8652-C74C-95F0-C92A4989EF80}" type="pres">
      <dgm:prSet presAssocID="{E63B0E6A-FEDC-44B5-BB9C-906DB00DF9EC}" presName="childText" presStyleLbl="revTx" presStyleIdx="1" presStyleCnt="3">
        <dgm:presLayoutVars>
          <dgm:bulletEnabled val="1"/>
        </dgm:presLayoutVars>
      </dgm:prSet>
      <dgm:spPr/>
    </dgm:pt>
    <dgm:pt modelId="{9E1E7EB3-A8AB-8F4A-B197-D2629FF80C49}" type="pres">
      <dgm:prSet presAssocID="{2CAD5D5F-D4CB-4E50-A59C-D455C801449D}" presName="parentText" presStyleLbl="node1" presStyleIdx="2" presStyleCnt="3">
        <dgm:presLayoutVars>
          <dgm:chMax val="0"/>
          <dgm:bulletEnabled val="1"/>
        </dgm:presLayoutVars>
      </dgm:prSet>
      <dgm:spPr/>
    </dgm:pt>
    <dgm:pt modelId="{283F0AAE-2DA4-324D-9AA3-ED5793A567B5}" type="pres">
      <dgm:prSet presAssocID="{2CAD5D5F-D4CB-4E50-A59C-D455C801449D}" presName="childText" presStyleLbl="revTx" presStyleIdx="2" presStyleCnt="3">
        <dgm:presLayoutVars>
          <dgm:bulletEnabled val="1"/>
        </dgm:presLayoutVars>
      </dgm:prSet>
      <dgm:spPr/>
    </dgm:pt>
  </dgm:ptLst>
  <dgm:cxnLst>
    <dgm:cxn modelId="{2CFC4502-96AE-414D-9F2F-63B70A8711AA}" type="presOf" srcId="{85F84B33-282D-47CA-9039-9755BC8D5588}" destId="{BBD50157-D74B-474C-A54B-2535CF374F77}" srcOrd="0" destOrd="0" presId="urn:microsoft.com/office/officeart/2005/8/layout/vList2"/>
    <dgm:cxn modelId="{3103341D-510F-E447-BACA-6E55CA23EB42}" type="presOf" srcId="{5DBA13EE-660D-8841-BBA8-4DF3961F4E10}" destId="{402991B1-9906-D64A-A0B0-E9AC58BBC61D}" srcOrd="0" destOrd="1" presId="urn:microsoft.com/office/officeart/2005/8/layout/vList2"/>
    <dgm:cxn modelId="{79660D32-4DE5-404C-8E78-36BBE7DCC4C3}" type="presOf" srcId="{500929F5-CF93-4FE6-A782-A2BE31BBD333}" destId="{402991B1-9906-D64A-A0B0-E9AC58BBC61D}" srcOrd="0" destOrd="0" presId="urn:microsoft.com/office/officeart/2005/8/layout/vList2"/>
    <dgm:cxn modelId="{04CA0861-87CB-4989-A5B0-DCBE9AB40D52}" srcId="{85F84B33-282D-47CA-9039-9755BC8D5588}" destId="{2CAD5D5F-D4CB-4E50-A59C-D455C801449D}" srcOrd="2" destOrd="0" parTransId="{5E1472DB-DCA8-4B3D-8F83-CDF3A6C9D0FC}" sibTransId="{D4F657DB-EDF6-4819-A7AC-AC7C5F5CE5EA}"/>
    <dgm:cxn modelId="{0936BC67-E0C2-5F41-8059-C473963D00EB}" type="presOf" srcId="{57A9C03E-26F8-4A9B-AB83-4B79DE7F8BB7}" destId="{283F0AAE-2DA4-324D-9AA3-ED5793A567B5}" srcOrd="0" destOrd="0" presId="urn:microsoft.com/office/officeart/2005/8/layout/vList2"/>
    <dgm:cxn modelId="{B888D770-9FC6-AE40-9F01-7A684D886D2D}" type="presOf" srcId="{2C4B9E9B-72CA-DE4F-AB3D-089EB76E4894}" destId="{D1E5E669-8652-C74C-95F0-C92A4989EF80}" srcOrd="0" destOrd="1" presId="urn:microsoft.com/office/officeart/2005/8/layout/vList2"/>
    <dgm:cxn modelId="{E9B9CF83-544B-42B9-AB41-598C2C9E7014}" srcId="{E63B0E6A-FEDC-44B5-BB9C-906DB00DF9EC}" destId="{951D8C0A-7D55-4777-B291-CBB464DAA177}" srcOrd="0" destOrd="0" parTransId="{C9B3E5B0-CEE9-4D80-A7AC-ED78F4BD08C0}" sibTransId="{9AA0A7D8-D38F-414C-B9CD-09E494480FB5}"/>
    <dgm:cxn modelId="{DE333A8A-3D44-4318-806B-E03C56BD9DF1}" srcId="{2CAD5D5F-D4CB-4E50-A59C-D455C801449D}" destId="{57A9C03E-26F8-4A9B-AB83-4B79DE7F8BB7}" srcOrd="0" destOrd="0" parTransId="{633B8123-E199-4196-82AF-E0157E80E545}" sibTransId="{B5F64074-943D-4EC4-ADD0-084353F84C4B}"/>
    <dgm:cxn modelId="{3C4DFF8F-AAD7-D64D-8107-6914FABD69D8}" srcId="{2CAD5D5F-D4CB-4E50-A59C-D455C801449D}" destId="{9237DC95-740C-734B-A934-2DC63D6FAA85}" srcOrd="1" destOrd="0" parTransId="{1044EE13-79B5-4147-93B8-39ECE9C58DD7}" sibTransId="{4F4CBD52-8E25-CA43-B540-BED765718DBF}"/>
    <dgm:cxn modelId="{4FF1BD92-E3CB-6544-B219-F06DD085FFDC}" type="presOf" srcId="{E63B0E6A-FEDC-44B5-BB9C-906DB00DF9EC}" destId="{F71D876C-8C6E-5E43-9114-F36C88DED260}" srcOrd="0" destOrd="0" presId="urn:microsoft.com/office/officeart/2005/8/layout/vList2"/>
    <dgm:cxn modelId="{198D6499-AA52-461E-9198-D5F349096069}" srcId="{A88B2C16-70FD-419E-B7D7-83E448C0A917}" destId="{500929F5-CF93-4FE6-A782-A2BE31BBD333}" srcOrd="0" destOrd="0" parTransId="{F9306A44-277E-480F-9C39-9FBED14284BF}" sibTransId="{4699CCA5-5875-41D5-8A17-37788C1F64E5}"/>
    <dgm:cxn modelId="{DC45CE99-3075-E94B-9F9F-EAFBC2260A47}" type="presOf" srcId="{2CAD5D5F-D4CB-4E50-A59C-D455C801449D}" destId="{9E1E7EB3-A8AB-8F4A-B197-D2629FF80C49}" srcOrd="0" destOrd="0" presId="urn:microsoft.com/office/officeart/2005/8/layout/vList2"/>
    <dgm:cxn modelId="{6699F39D-0A96-4F84-B8A2-E30409161923}" srcId="{85F84B33-282D-47CA-9039-9755BC8D5588}" destId="{A88B2C16-70FD-419E-B7D7-83E448C0A917}" srcOrd="0" destOrd="0" parTransId="{1A3C26DA-240F-4E5D-B031-EB1DA75C02CA}" sibTransId="{C269ED5A-C2A7-4E3A-9D2B-668A39C2DDA4}"/>
    <dgm:cxn modelId="{35BDCBB9-AA81-AE4E-B600-C6C6535CD228}" type="presOf" srcId="{A88B2C16-70FD-419E-B7D7-83E448C0A917}" destId="{C3231A0A-3A3B-FA41-9A98-69E22826EA5D}" srcOrd="0" destOrd="0" presId="urn:microsoft.com/office/officeart/2005/8/layout/vList2"/>
    <dgm:cxn modelId="{425F18C7-869C-C446-B9BA-2BD98EA3E307}" srcId="{A88B2C16-70FD-419E-B7D7-83E448C0A917}" destId="{5DBA13EE-660D-8841-BBA8-4DF3961F4E10}" srcOrd="1" destOrd="0" parTransId="{1AADE165-B285-8949-9F0A-76CEEC9B9435}" sibTransId="{E88654E0-58D4-E74D-9BBB-C660D3BF44A7}"/>
    <dgm:cxn modelId="{2A8F67C8-21B8-1640-9324-2FE0BCE54997}" srcId="{E63B0E6A-FEDC-44B5-BB9C-906DB00DF9EC}" destId="{2C4B9E9B-72CA-DE4F-AB3D-089EB76E4894}" srcOrd="1" destOrd="0" parTransId="{9392E368-67AC-0943-8A8B-241BC6732F33}" sibTransId="{6CF67FE9-FCC8-1843-BEFC-CCCF3EBB7418}"/>
    <dgm:cxn modelId="{D732B9D1-6F44-8848-867A-919C96BFC190}" type="presOf" srcId="{9237DC95-740C-734B-A934-2DC63D6FAA85}" destId="{283F0AAE-2DA4-324D-9AA3-ED5793A567B5}" srcOrd="0" destOrd="1" presId="urn:microsoft.com/office/officeart/2005/8/layout/vList2"/>
    <dgm:cxn modelId="{05EE8DEB-DE0A-8D40-85D2-11AD8A59CC53}" type="presOf" srcId="{951D8C0A-7D55-4777-B291-CBB464DAA177}" destId="{D1E5E669-8652-C74C-95F0-C92A4989EF80}" srcOrd="0" destOrd="0" presId="urn:microsoft.com/office/officeart/2005/8/layout/vList2"/>
    <dgm:cxn modelId="{4CD97FFD-90A5-43EA-8E30-6F162E87E927}" srcId="{85F84B33-282D-47CA-9039-9755BC8D5588}" destId="{E63B0E6A-FEDC-44B5-BB9C-906DB00DF9EC}" srcOrd="1" destOrd="0" parTransId="{1DAE610B-0AF1-4014-924A-BEA3D9C3D437}" sibTransId="{17ED75BC-F544-40BE-BE56-DCA9BF6C33E5}"/>
    <dgm:cxn modelId="{11087F2B-AD48-8A48-8287-5797BF0DF66B}" type="presParOf" srcId="{BBD50157-D74B-474C-A54B-2535CF374F77}" destId="{C3231A0A-3A3B-FA41-9A98-69E22826EA5D}" srcOrd="0" destOrd="0" presId="urn:microsoft.com/office/officeart/2005/8/layout/vList2"/>
    <dgm:cxn modelId="{21BC0071-2792-9B4B-9E2C-60D4FF0F18F5}" type="presParOf" srcId="{BBD50157-D74B-474C-A54B-2535CF374F77}" destId="{402991B1-9906-D64A-A0B0-E9AC58BBC61D}" srcOrd="1" destOrd="0" presId="urn:microsoft.com/office/officeart/2005/8/layout/vList2"/>
    <dgm:cxn modelId="{B8722431-5305-B34B-971C-399852290A9C}" type="presParOf" srcId="{BBD50157-D74B-474C-A54B-2535CF374F77}" destId="{F71D876C-8C6E-5E43-9114-F36C88DED260}" srcOrd="2" destOrd="0" presId="urn:microsoft.com/office/officeart/2005/8/layout/vList2"/>
    <dgm:cxn modelId="{DB19EB68-7D1C-7D43-87E2-80E9FAE29F9E}" type="presParOf" srcId="{BBD50157-D74B-474C-A54B-2535CF374F77}" destId="{D1E5E669-8652-C74C-95F0-C92A4989EF80}" srcOrd="3" destOrd="0" presId="urn:microsoft.com/office/officeart/2005/8/layout/vList2"/>
    <dgm:cxn modelId="{95655592-6BF1-8042-BBE1-159E98BC86EC}" type="presParOf" srcId="{BBD50157-D74B-474C-A54B-2535CF374F77}" destId="{9E1E7EB3-A8AB-8F4A-B197-D2629FF80C49}" srcOrd="4" destOrd="0" presId="urn:microsoft.com/office/officeart/2005/8/layout/vList2"/>
    <dgm:cxn modelId="{3E95723B-6900-1043-BCF8-5F52F6724DC5}" type="presParOf" srcId="{BBD50157-D74B-474C-A54B-2535CF374F77}" destId="{283F0AAE-2DA4-324D-9AA3-ED5793A567B5}"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9C9B4F0-B15A-4C07-9F9A-EFF9160CC0E7}"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896FB805-9834-42DB-ADCF-D655881FF35B}">
      <dgm:prSet/>
      <dgm:spPr/>
      <dgm:t>
        <a:bodyPr/>
        <a:lstStyle/>
        <a:p>
          <a:r>
            <a:rPr lang="en-US"/>
            <a:t>Multiple Linear Regression</a:t>
          </a:r>
        </a:p>
      </dgm:t>
    </dgm:pt>
    <dgm:pt modelId="{E7F19CC6-6705-433E-B8C7-37BAD4555777}" type="parTrans" cxnId="{74CC3A62-841F-4A32-BF52-14920D56B9F2}">
      <dgm:prSet/>
      <dgm:spPr/>
      <dgm:t>
        <a:bodyPr/>
        <a:lstStyle/>
        <a:p>
          <a:endParaRPr lang="en-US"/>
        </a:p>
      </dgm:t>
    </dgm:pt>
    <dgm:pt modelId="{E8AC8665-FD65-4102-97AE-8B86EDFA56F0}" type="sibTrans" cxnId="{74CC3A62-841F-4A32-BF52-14920D56B9F2}">
      <dgm:prSet/>
      <dgm:spPr/>
      <dgm:t>
        <a:bodyPr/>
        <a:lstStyle/>
        <a:p>
          <a:endParaRPr lang="en-US"/>
        </a:p>
      </dgm:t>
    </dgm:pt>
    <dgm:pt modelId="{8B9A118E-7670-426A-9B9A-F0988B7A2210}">
      <dgm:prSet/>
      <dgm:spPr/>
      <dgm:t>
        <a:bodyPr/>
        <a:lstStyle/>
        <a:p>
          <a:r>
            <a:rPr lang="en-US"/>
            <a:t>Polynomial Regression</a:t>
          </a:r>
        </a:p>
      </dgm:t>
    </dgm:pt>
    <dgm:pt modelId="{DD796845-7EFA-40FC-9D6C-F31E2ABC50CF}" type="parTrans" cxnId="{0C94A50F-E6DB-48B0-A9CF-D19E2F1DFCC1}">
      <dgm:prSet/>
      <dgm:spPr/>
      <dgm:t>
        <a:bodyPr/>
        <a:lstStyle/>
        <a:p>
          <a:endParaRPr lang="en-US"/>
        </a:p>
      </dgm:t>
    </dgm:pt>
    <dgm:pt modelId="{AEE9591D-495A-49A9-9A0A-722018BF49B0}" type="sibTrans" cxnId="{0C94A50F-E6DB-48B0-A9CF-D19E2F1DFCC1}">
      <dgm:prSet/>
      <dgm:spPr/>
      <dgm:t>
        <a:bodyPr/>
        <a:lstStyle/>
        <a:p>
          <a:endParaRPr lang="en-US"/>
        </a:p>
      </dgm:t>
    </dgm:pt>
    <dgm:pt modelId="{56AA4527-2589-7943-92AC-17F760B3060B}" type="pres">
      <dgm:prSet presAssocID="{A9C9B4F0-B15A-4C07-9F9A-EFF9160CC0E7}" presName="hierChild1" presStyleCnt="0">
        <dgm:presLayoutVars>
          <dgm:chPref val="1"/>
          <dgm:dir/>
          <dgm:animOne val="branch"/>
          <dgm:animLvl val="lvl"/>
          <dgm:resizeHandles/>
        </dgm:presLayoutVars>
      </dgm:prSet>
      <dgm:spPr/>
    </dgm:pt>
    <dgm:pt modelId="{1E0BCF8B-5975-A244-89A1-157190E1E06B}" type="pres">
      <dgm:prSet presAssocID="{896FB805-9834-42DB-ADCF-D655881FF35B}" presName="hierRoot1" presStyleCnt="0"/>
      <dgm:spPr/>
    </dgm:pt>
    <dgm:pt modelId="{C2EE9B7D-C6BA-924B-9F71-920675EDB196}" type="pres">
      <dgm:prSet presAssocID="{896FB805-9834-42DB-ADCF-D655881FF35B}" presName="composite" presStyleCnt="0"/>
      <dgm:spPr/>
    </dgm:pt>
    <dgm:pt modelId="{1DB55EE7-6B72-CE45-9ECD-00B3B1578308}" type="pres">
      <dgm:prSet presAssocID="{896FB805-9834-42DB-ADCF-D655881FF35B}" presName="background" presStyleLbl="node0" presStyleIdx="0" presStyleCnt="2"/>
      <dgm:spPr/>
    </dgm:pt>
    <dgm:pt modelId="{34D47242-CEB2-B94D-AB39-8C8CAF0D1F42}" type="pres">
      <dgm:prSet presAssocID="{896FB805-9834-42DB-ADCF-D655881FF35B}" presName="text" presStyleLbl="fgAcc0" presStyleIdx="0" presStyleCnt="2">
        <dgm:presLayoutVars>
          <dgm:chPref val="3"/>
        </dgm:presLayoutVars>
      </dgm:prSet>
      <dgm:spPr/>
    </dgm:pt>
    <dgm:pt modelId="{E7D78A16-AD5A-CD4D-8F53-3ECD07F17DC3}" type="pres">
      <dgm:prSet presAssocID="{896FB805-9834-42DB-ADCF-D655881FF35B}" presName="hierChild2" presStyleCnt="0"/>
      <dgm:spPr/>
    </dgm:pt>
    <dgm:pt modelId="{70BCA650-914C-1E43-86FE-2E3F5CA21578}" type="pres">
      <dgm:prSet presAssocID="{8B9A118E-7670-426A-9B9A-F0988B7A2210}" presName="hierRoot1" presStyleCnt="0"/>
      <dgm:spPr/>
    </dgm:pt>
    <dgm:pt modelId="{8A7121AF-7A65-8242-8FFA-4DAE09ED1F8F}" type="pres">
      <dgm:prSet presAssocID="{8B9A118E-7670-426A-9B9A-F0988B7A2210}" presName="composite" presStyleCnt="0"/>
      <dgm:spPr/>
    </dgm:pt>
    <dgm:pt modelId="{6E1FE705-13A7-344B-AB9B-030C772C1525}" type="pres">
      <dgm:prSet presAssocID="{8B9A118E-7670-426A-9B9A-F0988B7A2210}" presName="background" presStyleLbl="node0" presStyleIdx="1" presStyleCnt="2"/>
      <dgm:spPr/>
    </dgm:pt>
    <dgm:pt modelId="{BCFFECF9-FCEE-9945-938D-C7CDFFCE3B29}" type="pres">
      <dgm:prSet presAssocID="{8B9A118E-7670-426A-9B9A-F0988B7A2210}" presName="text" presStyleLbl="fgAcc0" presStyleIdx="1" presStyleCnt="2">
        <dgm:presLayoutVars>
          <dgm:chPref val="3"/>
        </dgm:presLayoutVars>
      </dgm:prSet>
      <dgm:spPr/>
    </dgm:pt>
    <dgm:pt modelId="{CD04DD52-EB62-C74F-ADEB-85D9844365FB}" type="pres">
      <dgm:prSet presAssocID="{8B9A118E-7670-426A-9B9A-F0988B7A2210}" presName="hierChild2" presStyleCnt="0"/>
      <dgm:spPr/>
    </dgm:pt>
  </dgm:ptLst>
  <dgm:cxnLst>
    <dgm:cxn modelId="{0C94A50F-E6DB-48B0-A9CF-D19E2F1DFCC1}" srcId="{A9C9B4F0-B15A-4C07-9F9A-EFF9160CC0E7}" destId="{8B9A118E-7670-426A-9B9A-F0988B7A2210}" srcOrd="1" destOrd="0" parTransId="{DD796845-7EFA-40FC-9D6C-F31E2ABC50CF}" sibTransId="{AEE9591D-495A-49A9-9A0A-722018BF49B0}"/>
    <dgm:cxn modelId="{A7E98917-FE79-D04D-B616-0808DA1972AA}" type="presOf" srcId="{896FB805-9834-42DB-ADCF-D655881FF35B}" destId="{34D47242-CEB2-B94D-AB39-8C8CAF0D1F42}" srcOrd="0" destOrd="0" presId="urn:microsoft.com/office/officeart/2005/8/layout/hierarchy1"/>
    <dgm:cxn modelId="{64E0DB45-760C-034F-A5ED-27A18C623B6B}" type="presOf" srcId="{8B9A118E-7670-426A-9B9A-F0988B7A2210}" destId="{BCFFECF9-FCEE-9945-938D-C7CDFFCE3B29}" srcOrd="0" destOrd="0" presId="urn:microsoft.com/office/officeart/2005/8/layout/hierarchy1"/>
    <dgm:cxn modelId="{74CC3A62-841F-4A32-BF52-14920D56B9F2}" srcId="{A9C9B4F0-B15A-4C07-9F9A-EFF9160CC0E7}" destId="{896FB805-9834-42DB-ADCF-D655881FF35B}" srcOrd="0" destOrd="0" parTransId="{E7F19CC6-6705-433E-B8C7-37BAD4555777}" sibTransId="{E8AC8665-FD65-4102-97AE-8B86EDFA56F0}"/>
    <dgm:cxn modelId="{A378E673-AC8F-E346-A8E6-94F3BB835316}" type="presOf" srcId="{A9C9B4F0-B15A-4C07-9F9A-EFF9160CC0E7}" destId="{56AA4527-2589-7943-92AC-17F760B3060B}" srcOrd="0" destOrd="0" presId="urn:microsoft.com/office/officeart/2005/8/layout/hierarchy1"/>
    <dgm:cxn modelId="{A1EA26F5-3AFB-2649-8BD7-C3F4E9EBD5A8}" type="presParOf" srcId="{56AA4527-2589-7943-92AC-17F760B3060B}" destId="{1E0BCF8B-5975-A244-89A1-157190E1E06B}" srcOrd="0" destOrd="0" presId="urn:microsoft.com/office/officeart/2005/8/layout/hierarchy1"/>
    <dgm:cxn modelId="{0ED7E742-B990-614B-A32D-6FAEE2C9F9F4}" type="presParOf" srcId="{1E0BCF8B-5975-A244-89A1-157190E1E06B}" destId="{C2EE9B7D-C6BA-924B-9F71-920675EDB196}" srcOrd="0" destOrd="0" presId="urn:microsoft.com/office/officeart/2005/8/layout/hierarchy1"/>
    <dgm:cxn modelId="{1594B4E3-2859-6345-B6EB-14F6D3889F8B}" type="presParOf" srcId="{C2EE9B7D-C6BA-924B-9F71-920675EDB196}" destId="{1DB55EE7-6B72-CE45-9ECD-00B3B1578308}" srcOrd="0" destOrd="0" presId="urn:microsoft.com/office/officeart/2005/8/layout/hierarchy1"/>
    <dgm:cxn modelId="{FFC08539-0C2D-9749-A401-76B417B85643}" type="presParOf" srcId="{C2EE9B7D-C6BA-924B-9F71-920675EDB196}" destId="{34D47242-CEB2-B94D-AB39-8C8CAF0D1F42}" srcOrd="1" destOrd="0" presId="urn:microsoft.com/office/officeart/2005/8/layout/hierarchy1"/>
    <dgm:cxn modelId="{B6AD5221-C91A-D24F-80B1-18509A29C902}" type="presParOf" srcId="{1E0BCF8B-5975-A244-89A1-157190E1E06B}" destId="{E7D78A16-AD5A-CD4D-8F53-3ECD07F17DC3}" srcOrd="1" destOrd="0" presId="urn:microsoft.com/office/officeart/2005/8/layout/hierarchy1"/>
    <dgm:cxn modelId="{ACD75F20-FDDE-224E-889B-6D77C0883A63}" type="presParOf" srcId="{56AA4527-2589-7943-92AC-17F760B3060B}" destId="{70BCA650-914C-1E43-86FE-2E3F5CA21578}" srcOrd="1" destOrd="0" presId="urn:microsoft.com/office/officeart/2005/8/layout/hierarchy1"/>
    <dgm:cxn modelId="{EB2D16AB-1D26-934A-88A4-1F50CEA541F0}" type="presParOf" srcId="{70BCA650-914C-1E43-86FE-2E3F5CA21578}" destId="{8A7121AF-7A65-8242-8FFA-4DAE09ED1F8F}" srcOrd="0" destOrd="0" presId="urn:microsoft.com/office/officeart/2005/8/layout/hierarchy1"/>
    <dgm:cxn modelId="{F9819EEB-0F6A-EF4D-BD21-959F04A42309}" type="presParOf" srcId="{8A7121AF-7A65-8242-8FFA-4DAE09ED1F8F}" destId="{6E1FE705-13A7-344B-AB9B-030C772C1525}" srcOrd="0" destOrd="0" presId="urn:microsoft.com/office/officeart/2005/8/layout/hierarchy1"/>
    <dgm:cxn modelId="{B830F80E-9F16-2B4F-A34F-F7C30BEFA2EE}" type="presParOf" srcId="{8A7121AF-7A65-8242-8FFA-4DAE09ED1F8F}" destId="{BCFFECF9-FCEE-9945-938D-C7CDFFCE3B29}" srcOrd="1" destOrd="0" presId="urn:microsoft.com/office/officeart/2005/8/layout/hierarchy1"/>
    <dgm:cxn modelId="{776DBAE3-294E-1A4D-BEFF-BC9DDC7E876B}" type="presParOf" srcId="{70BCA650-914C-1E43-86FE-2E3F5CA21578}" destId="{CD04DD52-EB62-C74F-ADEB-85D9844365F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AEE6E1-80E2-764C-9FDE-44ABEA390E60}">
      <dsp:nvSpPr>
        <dsp:cNvPr id="0" name=""/>
        <dsp:cNvSpPr/>
      </dsp:nvSpPr>
      <dsp:spPr>
        <a:xfrm>
          <a:off x="0" y="0"/>
          <a:ext cx="499376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80A9BC-B7E8-1B47-8AC4-E7549CCBAD4B}">
      <dsp:nvSpPr>
        <dsp:cNvPr id="0" name=""/>
        <dsp:cNvSpPr/>
      </dsp:nvSpPr>
      <dsp:spPr>
        <a:xfrm>
          <a:off x="0" y="0"/>
          <a:ext cx="4993769" cy="134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a:solidFill>
                <a:srgbClr val="374151"/>
              </a:solidFill>
              <a:effectLst/>
              <a:latin typeface="__foundersGrotesk_c3e0d2"/>
            </a:rPr>
            <a:t>To harness predictive modeling to extract meaningful insights from data using classification and regression algorithms.</a:t>
          </a:r>
          <a:endParaRPr lang="en-US" sz="2100" kern="1200"/>
        </a:p>
      </dsp:txBody>
      <dsp:txXfrm>
        <a:off x="0" y="0"/>
        <a:ext cx="4993769" cy="1349129"/>
      </dsp:txXfrm>
    </dsp:sp>
    <dsp:sp modelId="{7B59B68D-0D47-9948-9585-B49037613661}">
      <dsp:nvSpPr>
        <dsp:cNvPr id="0" name=""/>
        <dsp:cNvSpPr/>
      </dsp:nvSpPr>
      <dsp:spPr>
        <a:xfrm>
          <a:off x="0" y="1349129"/>
          <a:ext cx="4993769"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915F1D-9F86-644A-AC9A-464D3F49AF4B}">
      <dsp:nvSpPr>
        <dsp:cNvPr id="0" name=""/>
        <dsp:cNvSpPr/>
      </dsp:nvSpPr>
      <dsp:spPr>
        <a:xfrm>
          <a:off x="0" y="1349129"/>
          <a:ext cx="4993769" cy="134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a:t>Classification dataset: </a:t>
          </a:r>
          <a:r>
            <a:rPr lang="en-US" sz="2100" b="0" i="0" kern="1200"/>
            <a:t>Naïve Bayes, Decision Tree, Random Forest, KNN, feature importance and conditional probability.</a:t>
          </a:r>
          <a:endParaRPr lang="en-US" sz="2100" kern="1200"/>
        </a:p>
      </dsp:txBody>
      <dsp:txXfrm>
        <a:off x="0" y="1349129"/>
        <a:ext cx="4993769" cy="1349129"/>
      </dsp:txXfrm>
    </dsp:sp>
    <dsp:sp modelId="{370A52F4-0917-2B43-8BF4-EE923E33ADA7}">
      <dsp:nvSpPr>
        <dsp:cNvPr id="0" name=""/>
        <dsp:cNvSpPr/>
      </dsp:nvSpPr>
      <dsp:spPr>
        <a:xfrm>
          <a:off x="0" y="2698259"/>
          <a:ext cx="4993769"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21573E-4E76-8441-8434-963DC0A3F929}">
      <dsp:nvSpPr>
        <dsp:cNvPr id="0" name=""/>
        <dsp:cNvSpPr/>
      </dsp:nvSpPr>
      <dsp:spPr>
        <a:xfrm>
          <a:off x="0" y="2698259"/>
          <a:ext cx="4993769" cy="134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i="0" kern="1200"/>
            <a:t>Regression dataset: </a:t>
          </a:r>
          <a:r>
            <a:rPr lang="en-US" sz="2100" b="0" i="0" kern="1200"/>
            <a:t>linear and polynomial regression models to predict the values of a response (target) variable. </a:t>
          </a:r>
          <a:endParaRPr lang="en-US" sz="2100" kern="1200"/>
        </a:p>
      </dsp:txBody>
      <dsp:txXfrm>
        <a:off x="0" y="2698259"/>
        <a:ext cx="4993769" cy="1349129"/>
      </dsp:txXfrm>
    </dsp:sp>
    <dsp:sp modelId="{7A58768B-0214-2C4A-A789-297B2AD9DF11}">
      <dsp:nvSpPr>
        <dsp:cNvPr id="0" name=""/>
        <dsp:cNvSpPr/>
      </dsp:nvSpPr>
      <dsp:spPr>
        <a:xfrm>
          <a:off x="0" y="4047389"/>
          <a:ext cx="4993769"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26EFA6-80E9-4945-BEED-D491B9CAB56A}">
      <dsp:nvSpPr>
        <dsp:cNvPr id="0" name=""/>
        <dsp:cNvSpPr/>
      </dsp:nvSpPr>
      <dsp:spPr>
        <a:xfrm>
          <a:off x="0" y="4047389"/>
          <a:ext cx="4993769" cy="1349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a:solidFill>
                <a:srgbClr val="374151"/>
              </a:solidFill>
              <a:effectLst/>
              <a:latin typeface="__foundersGrotesk_c3e0d2"/>
            </a:rPr>
            <a:t>By the end, we aim to identify the most effective model and assess its generalization ability.</a:t>
          </a:r>
          <a:endParaRPr lang="en-US" sz="2100" kern="1200"/>
        </a:p>
      </dsp:txBody>
      <dsp:txXfrm>
        <a:off x="0" y="4047389"/>
        <a:ext cx="4993769" cy="13491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231A0A-3A3B-FA41-9A98-69E22826EA5D}">
      <dsp:nvSpPr>
        <dsp:cNvPr id="0" name=""/>
        <dsp:cNvSpPr/>
      </dsp:nvSpPr>
      <dsp:spPr>
        <a:xfrm>
          <a:off x="0" y="17186"/>
          <a:ext cx="11070772"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Dataset Overview:</a:t>
          </a:r>
          <a:endParaRPr lang="en-US" sz="2200" kern="1200"/>
        </a:p>
      </dsp:txBody>
      <dsp:txXfrm>
        <a:off x="25759" y="42945"/>
        <a:ext cx="11019254" cy="476152"/>
      </dsp:txXfrm>
    </dsp:sp>
    <dsp:sp modelId="{402991B1-9906-D64A-A0B0-E9AC58BBC61D}">
      <dsp:nvSpPr>
        <dsp:cNvPr id="0" name=""/>
        <dsp:cNvSpPr/>
      </dsp:nvSpPr>
      <dsp:spPr>
        <a:xfrm>
          <a:off x="0" y="544856"/>
          <a:ext cx="11070772" cy="888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49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We will be predicting customer churn where definition of the target variable is:</a:t>
          </a:r>
        </a:p>
        <a:p>
          <a:pPr marL="171450" lvl="1" indent="-171450" algn="l" defTabSz="755650">
            <a:lnSpc>
              <a:spcPct val="90000"/>
            </a:lnSpc>
            <a:spcBef>
              <a:spcPct val="0"/>
            </a:spcBef>
            <a:spcAft>
              <a:spcPct val="20000"/>
            </a:spcAft>
            <a:buChar char="•"/>
          </a:pPr>
          <a:r>
            <a:rPr lang="en-US" sz="1700" kern="1200"/>
            <a:t>Churn: 1 = Customer left, </a:t>
          </a:r>
        </a:p>
        <a:p>
          <a:pPr marL="171450" lvl="1" indent="-171450" algn="l" defTabSz="755650">
            <a:lnSpc>
              <a:spcPct val="90000"/>
            </a:lnSpc>
            <a:spcBef>
              <a:spcPct val="0"/>
            </a:spcBef>
            <a:spcAft>
              <a:spcPct val="20000"/>
            </a:spcAft>
            <a:buChar char="•"/>
          </a:pPr>
          <a:r>
            <a:rPr lang="en-US" sz="1700" kern="1200"/>
            <a:t>0 = Customer stayed.</a:t>
          </a:r>
        </a:p>
      </dsp:txBody>
      <dsp:txXfrm>
        <a:off x="0" y="544856"/>
        <a:ext cx="11070772" cy="888030"/>
      </dsp:txXfrm>
    </dsp:sp>
    <dsp:sp modelId="{F71D876C-8C6E-5E43-9114-F36C88DED260}">
      <dsp:nvSpPr>
        <dsp:cNvPr id="0" name=""/>
        <dsp:cNvSpPr/>
      </dsp:nvSpPr>
      <dsp:spPr>
        <a:xfrm>
          <a:off x="0" y="1432886"/>
          <a:ext cx="11070772"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Key Features:</a:t>
          </a:r>
          <a:endParaRPr lang="en-US" sz="2200" kern="1200"/>
        </a:p>
      </dsp:txBody>
      <dsp:txXfrm>
        <a:off x="25759" y="1458645"/>
        <a:ext cx="11019254" cy="476152"/>
      </dsp:txXfrm>
    </dsp:sp>
    <dsp:sp modelId="{D1E5E669-8652-C74C-95F0-C92A4989EF80}">
      <dsp:nvSpPr>
        <dsp:cNvPr id="0" name=""/>
        <dsp:cNvSpPr/>
      </dsp:nvSpPr>
      <dsp:spPr>
        <a:xfrm>
          <a:off x="0" y="1960556"/>
          <a:ext cx="11070772" cy="1161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49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Demographics: Age of the customer.</a:t>
          </a:r>
        </a:p>
        <a:p>
          <a:pPr marL="171450" lvl="1" indent="-171450" algn="l" defTabSz="755650">
            <a:lnSpc>
              <a:spcPct val="90000"/>
            </a:lnSpc>
            <a:spcBef>
              <a:spcPct val="0"/>
            </a:spcBef>
            <a:spcAft>
              <a:spcPct val="20000"/>
            </a:spcAft>
            <a:buChar char="•"/>
          </a:pPr>
          <a:r>
            <a:rPr lang="en-US" sz="1700" kern="1200"/>
            <a:t>Subscription Details: Subscription length, contract type (one-year, two-year, month-to-month).</a:t>
          </a:r>
        </a:p>
        <a:p>
          <a:pPr marL="171450" lvl="1" indent="-171450" algn="l" defTabSz="755650">
            <a:lnSpc>
              <a:spcPct val="90000"/>
            </a:lnSpc>
            <a:spcBef>
              <a:spcPct val="0"/>
            </a:spcBef>
            <a:spcAft>
              <a:spcPct val="20000"/>
            </a:spcAft>
            <a:buChar char="•"/>
          </a:pPr>
          <a:r>
            <a:rPr lang="en-US" sz="1700" kern="1200"/>
            <a:t>Usage Behavior: Total data usage (GB), number of support calls.</a:t>
          </a:r>
        </a:p>
        <a:p>
          <a:pPr marL="171450" lvl="1" indent="-171450" algn="l" defTabSz="755650">
            <a:lnSpc>
              <a:spcPct val="90000"/>
            </a:lnSpc>
            <a:spcBef>
              <a:spcPct val="0"/>
            </a:spcBef>
            <a:spcAft>
              <a:spcPct val="20000"/>
            </a:spcAft>
            <a:buChar char="•"/>
          </a:pPr>
          <a:r>
            <a:rPr lang="en-US" sz="1700" kern="1200"/>
            <a:t>Billing &amp; Payment: Payment method, additional services subscribed.</a:t>
          </a:r>
        </a:p>
      </dsp:txBody>
      <dsp:txXfrm>
        <a:off x="0" y="1960556"/>
        <a:ext cx="11070772" cy="1161270"/>
      </dsp:txXfrm>
    </dsp:sp>
    <dsp:sp modelId="{9E1E7EB3-A8AB-8F4A-B197-D2629FF80C49}">
      <dsp:nvSpPr>
        <dsp:cNvPr id="0" name=""/>
        <dsp:cNvSpPr/>
      </dsp:nvSpPr>
      <dsp:spPr>
        <a:xfrm>
          <a:off x="0" y="3121826"/>
          <a:ext cx="11070772"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Objective:</a:t>
          </a:r>
          <a:endParaRPr lang="en-US" sz="2200" kern="1200"/>
        </a:p>
      </dsp:txBody>
      <dsp:txXfrm>
        <a:off x="25759" y="3147585"/>
        <a:ext cx="11019254" cy="476152"/>
      </dsp:txXfrm>
    </dsp:sp>
    <dsp:sp modelId="{283F0AAE-2DA4-324D-9AA3-ED5793A567B5}">
      <dsp:nvSpPr>
        <dsp:cNvPr id="0" name=""/>
        <dsp:cNvSpPr/>
      </dsp:nvSpPr>
      <dsp:spPr>
        <a:xfrm>
          <a:off x="0" y="3649496"/>
          <a:ext cx="11070772" cy="58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49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Use machine learning for binary classification to predict churn.</a:t>
          </a:r>
        </a:p>
        <a:p>
          <a:pPr marL="171450" lvl="1" indent="-171450" algn="l" defTabSz="755650">
            <a:lnSpc>
              <a:spcPct val="90000"/>
            </a:lnSpc>
            <a:spcBef>
              <a:spcPct val="0"/>
            </a:spcBef>
            <a:spcAft>
              <a:spcPct val="20000"/>
            </a:spcAft>
            <a:buChar char="•"/>
          </a:pPr>
          <a:r>
            <a:rPr lang="en-US" sz="1700" kern="1200"/>
            <a:t>Help businesses identify at-risk customers and reduce churn.</a:t>
          </a:r>
        </a:p>
      </dsp:txBody>
      <dsp:txXfrm>
        <a:off x="0" y="3649496"/>
        <a:ext cx="11070772" cy="5806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6A5C7A-351C-1946-9225-C1A90EE6C0B8}">
      <dsp:nvSpPr>
        <dsp:cNvPr id="0" name=""/>
        <dsp:cNvSpPr/>
      </dsp:nvSpPr>
      <dsp:spPr>
        <a:xfrm>
          <a:off x="1453" y="155461"/>
          <a:ext cx="1647937" cy="1046440"/>
        </a:xfrm>
        <a:prstGeom prst="roundRect">
          <a:avLst>
            <a:gd name="adj" fmla="val 10000"/>
          </a:avLst>
        </a:prstGeom>
        <a:solidFill>
          <a:schemeClr val="accent6">
            <a:alpha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4647E3-476D-8543-953A-CC4B1D265CCD}">
      <dsp:nvSpPr>
        <dsp:cNvPr id="0" name=""/>
        <dsp:cNvSpPr/>
      </dsp:nvSpPr>
      <dsp:spPr>
        <a:xfrm>
          <a:off x="184557" y="329409"/>
          <a:ext cx="1647937" cy="1046440"/>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a:latin typeface="Times New Roman"/>
              <a:cs typeface="Times New Roman"/>
            </a:rPr>
            <a:t>﻿Confusion Matrix</a:t>
          </a:r>
        </a:p>
      </dsp:txBody>
      <dsp:txXfrm>
        <a:off x="215206" y="360058"/>
        <a:ext cx="1586639" cy="985142"/>
      </dsp:txXfrm>
    </dsp:sp>
    <dsp:sp modelId="{8FB8065D-32C6-C74E-A476-52519A63F39C}">
      <dsp:nvSpPr>
        <dsp:cNvPr id="0" name=""/>
        <dsp:cNvSpPr/>
      </dsp:nvSpPr>
      <dsp:spPr>
        <a:xfrm>
          <a:off x="2015598" y="155461"/>
          <a:ext cx="1647937" cy="1046440"/>
        </a:xfrm>
        <a:prstGeom prst="roundRect">
          <a:avLst>
            <a:gd name="adj" fmla="val 10000"/>
          </a:avLst>
        </a:prstGeom>
        <a:solidFill>
          <a:schemeClr val="accent6">
            <a:alpha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BC79AF-0590-6944-9F2A-F1EFEDDDD395}">
      <dsp:nvSpPr>
        <dsp:cNvPr id="0" name=""/>
        <dsp:cNvSpPr/>
      </dsp:nvSpPr>
      <dsp:spPr>
        <a:xfrm>
          <a:off x="2198702" y="329409"/>
          <a:ext cx="1647937" cy="1046440"/>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latin typeface="Times New Roman"/>
              <a:cs typeface="Times New Roman"/>
            </a:rPr>
            <a:t>﻿Accuracy</a:t>
          </a:r>
        </a:p>
      </dsp:txBody>
      <dsp:txXfrm>
        <a:off x="2229351" y="360058"/>
        <a:ext cx="1586639" cy="985142"/>
      </dsp:txXfrm>
    </dsp:sp>
    <dsp:sp modelId="{8829280C-90E6-204C-AC8C-D9EF5E947F5E}">
      <dsp:nvSpPr>
        <dsp:cNvPr id="0" name=""/>
        <dsp:cNvSpPr/>
      </dsp:nvSpPr>
      <dsp:spPr>
        <a:xfrm>
          <a:off x="4029743" y="155461"/>
          <a:ext cx="1647937" cy="1046440"/>
        </a:xfrm>
        <a:prstGeom prst="roundRect">
          <a:avLst>
            <a:gd name="adj" fmla="val 10000"/>
          </a:avLst>
        </a:prstGeom>
        <a:solidFill>
          <a:schemeClr val="accent6">
            <a:alpha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DDB81B-79A1-7844-B832-E05FB14D3240}">
      <dsp:nvSpPr>
        <dsp:cNvPr id="0" name=""/>
        <dsp:cNvSpPr/>
      </dsp:nvSpPr>
      <dsp:spPr>
        <a:xfrm>
          <a:off x="4212847" y="329409"/>
          <a:ext cx="1647937" cy="1046440"/>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latin typeface="Times New Roman"/>
              <a:cs typeface="Times New Roman"/>
            </a:rPr>
            <a:t>﻿Precision</a:t>
          </a:r>
        </a:p>
      </dsp:txBody>
      <dsp:txXfrm>
        <a:off x="4243496" y="360058"/>
        <a:ext cx="1586639" cy="985142"/>
      </dsp:txXfrm>
    </dsp:sp>
    <dsp:sp modelId="{F7DFD6AC-A137-AB47-B634-20700DAB84BA}">
      <dsp:nvSpPr>
        <dsp:cNvPr id="0" name=""/>
        <dsp:cNvSpPr/>
      </dsp:nvSpPr>
      <dsp:spPr>
        <a:xfrm>
          <a:off x="6043889" y="155461"/>
          <a:ext cx="1647937" cy="1046440"/>
        </a:xfrm>
        <a:prstGeom prst="roundRect">
          <a:avLst>
            <a:gd name="adj" fmla="val 10000"/>
          </a:avLst>
        </a:prstGeom>
        <a:solidFill>
          <a:schemeClr val="accent6">
            <a:alpha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87343D-B68B-A34A-BB6E-8ECCBD7AD3ED}">
      <dsp:nvSpPr>
        <dsp:cNvPr id="0" name=""/>
        <dsp:cNvSpPr/>
      </dsp:nvSpPr>
      <dsp:spPr>
        <a:xfrm>
          <a:off x="6226993" y="329409"/>
          <a:ext cx="1647937" cy="1046440"/>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latin typeface="Times New Roman"/>
              <a:cs typeface="Times New Roman"/>
            </a:rPr>
            <a:t>Recall</a:t>
          </a:r>
        </a:p>
      </dsp:txBody>
      <dsp:txXfrm>
        <a:off x="6257642" y="360058"/>
        <a:ext cx="1586639" cy="985142"/>
      </dsp:txXfrm>
    </dsp:sp>
    <dsp:sp modelId="{70E45D68-EDDA-40AF-967B-1F6825441918}">
      <dsp:nvSpPr>
        <dsp:cNvPr id="0" name=""/>
        <dsp:cNvSpPr/>
      </dsp:nvSpPr>
      <dsp:spPr>
        <a:xfrm>
          <a:off x="8058034" y="155461"/>
          <a:ext cx="1647937" cy="1046440"/>
        </a:xfrm>
        <a:prstGeom prst="roundRect">
          <a:avLst>
            <a:gd name="adj" fmla="val 10000"/>
          </a:avLst>
        </a:prstGeom>
        <a:solidFill>
          <a:schemeClr val="accent6">
            <a:alpha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EDED4B-1A21-4A2D-8487-681D0429CC41}">
      <dsp:nvSpPr>
        <dsp:cNvPr id="0" name=""/>
        <dsp:cNvSpPr/>
      </dsp:nvSpPr>
      <dsp:spPr>
        <a:xfrm>
          <a:off x="8241138" y="329409"/>
          <a:ext cx="1647937" cy="1046440"/>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rtl="0">
            <a:lnSpc>
              <a:spcPct val="90000"/>
            </a:lnSpc>
            <a:spcBef>
              <a:spcPct val="0"/>
            </a:spcBef>
            <a:spcAft>
              <a:spcPct val="35000"/>
            </a:spcAft>
            <a:buNone/>
          </a:pPr>
          <a:r>
            <a:rPr lang="en-US" sz="2900" b="1" kern="1200">
              <a:latin typeface="Times New Roman"/>
              <a:cs typeface="Times New Roman"/>
            </a:rPr>
            <a:t>F1 Score</a:t>
          </a:r>
        </a:p>
      </dsp:txBody>
      <dsp:txXfrm>
        <a:off x="8271787" y="360058"/>
        <a:ext cx="1586639" cy="985142"/>
      </dsp:txXfrm>
    </dsp:sp>
    <dsp:sp modelId="{06AFC4EB-8997-475F-A53C-2ACB53811F2F}">
      <dsp:nvSpPr>
        <dsp:cNvPr id="0" name=""/>
        <dsp:cNvSpPr/>
      </dsp:nvSpPr>
      <dsp:spPr>
        <a:xfrm>
          <a:off x="10072179" y="155461"/>
          <a:ext cx="1647937" cy="1046440"/>
        </a:xfrm>
        <a:prstGeom prst="roundRect">
          <a:avLst>
            <a:gd name="adj" fmla="val 10000"/>
          </a:avLst>
        </a:prstGeom>
        <a:solidFill>
          <a:schemeClr val="accent6">
            <a:alpha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5775F9-FCA6-4DA7-9EBF-DFBF56200248}">
      <dsp:nvSpPr>
        <dsp:cNvPr id="0" name=""/>
        <dsp:cNvSpPr/>
      </dsp:nvSpPr>
      <dsp:spPr>
        <a:xfrm>
          <a:off x="10255283" y="329409"/>
          <a:ext cx="1647937" cy="1046440"/>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rtl="0">
            <a:lnSpc>
              <a:spcPct val="90000"/>
            </a:lnSpc>
            <a:spcBef>
              <a:spcPct val="0"/>
            </a:spcBef>
            <a:spcAft>
              <a:spcPct val="35000"/>
            </a:spcAft>
            <a:buNone/>
          </a:pPr>
          <a:r>
            <a:rPr lang="en-US" sz="2900" b="1" kern="1200">
              <a:latin typeface="Times New Roman"/>
              <a:cs typeface="Times New Roman"/>
            </a:rPr>
            <a:t>ROC Curve</a:t>
          </a:r>
        </a:p>
      </dsp:txBody>
      <dsp:txXfrm>
        <a:off x="10285932" y="360058"/>
        <a:ext cx="1586639" cy="9851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6A5C7A-351C-1946-9225-C1A90EE6C0B8}">
      <dsp:nvSpPr>
        <dsp:cNvPr id="0" name=""/>
        <dsp:cNvSpPr/>
      </dsp:nvSpPr>
      <dsp:spPr>
        <a:xfrm>
          <a:off x="3080" y="504564"/>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4647E3-476D-8543-953A-CC4B1D265CCD}">
      <dsp:nvSpPr>
        <dsp:cNvPr id="0" name=""/>
        <dsp:cNvSpPr/>
      </dsp:nvSpPr>
      <dsp:spPr>
        <a:xfrm>
          <a:off x="247486" y="736749"/>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﻿Naïve Bayes</a:t>
          </a:r>
        </a:p>
      </dsp:txBody>
      <dsp:txXfrm>
        <a:off x="288396" y="777659"/>
        <a:ext cx="2117829" cy="1314957"/>
      </dsp:txXfrm>
    </dsp:sp>
    <dsp:sp modelId="{8FB8065D-32C6-C74E-A476-52519A63F39C}">
      <dsp:nvSpPr>
        <dsp:cNvPr id="0" name=""/>
        <dsp:cNvSpPr/>
      </dsp:nvSpPr>
      <dsp:spPr>
        <a:xfrm>
          <a:off x="2691541" y="504564"/>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BC79AF-0590-6944-9F2A-F1EFEDDDD395}">
      <dsp:nvSpPr>
        <dsp:cNvPr id="0" name=""/>
        <dsp:cNvSpPr/>
      </dsp:nvSpPr>
      <dsp:spPr>
        <a:xfrm>
          <a:off x="2935947" y="736749"/>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﻿Decision Trees</a:t>
          </a:r>
        </a:p>
      </dsp:txBody>
      <dsp:txXfrm>
        <a:off x="2976857" y="777659"/>
        <a:ext cx="2117829" cy="1314957"/>
      </dsp:txXfrm>
    </dsp:sp>
    <dsp:sp modelId="{8829280C-90E6-204C-AC8C-D9EF5E947F5E}">
      <dsp:nvSpPr>
        <dsp:cNvPr id="0" name=""/>
        <dsp:cNvSpPr/>
      </dsp:nvSpPr>
      <dsp:spPr>
        <a:xfrm>
          <a:off x="5380002" y="504564"/>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DDB81B-79A1-7844-B832-E05FB14D3240}">
      <dsp:nvSpPr>
        <dsp:cNvPr id="0" name=""/>
        <dsp:cNvSpPr/>
      </dsp:nvSpPr>
      <dsp:spPr>
        <a:xfrm>
          <a:off x="5624408" y="736749"/>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﻿Random Forest</a:t>
          </a:r>
        </a:p>
      </dsp:txBody>
      <dsp:txXfrm>
        <a:off x="5665318" y="777659"/>
        <a:ext cx="2117829" cy="1314957"/>
      </dsp:txXfrm>
    </dsp:sp>
    <dsp:sp modelId="{F7DFD6AC-A137-AB47-B634-20700DAB84BA}">
      <dsp:nvSpPr>
        <dsp:cNvPr id="0" name=""/>
        <dsp:cNvSpPr/>
      </dsp:nvSpPr>
      <dsp:spPr>
        <a:xfrm>
          <a:off x="8068463" y="504564"/>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87343D-B68B-A34A-BB6E-8ECCBD7AD3ED}">
      <dsp:nvSpPr>
        <dsp:cNvPr id="0" name=""/>
        <dsp:cNvSpPr/>
      </dsp:nvSpPr>
      <dsp:spPr>
        <a:xfrm>
          <a:off x="8312869" y="736749"/>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KNN</a:t>
          </a:r>
        </a:p>
      </dsp:txBody>
      <dsp:txXfrm>
        <a:off x="8353779" y="777659"/>
        <a:ext cx="2117829" cy="13149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231A0A-3A3B-FA41-9A98-69E22826EA5D}">
      <dsp:nvSpPr>
        <dsp:cNvPr id="0" name=""/>
        <dsp:cNvSpPr/>
      </dsp:nvSpPr>
      <dsp:spPr>
        <a:xfrm>
          <a:off x="0" y="5778"/>
          <a:ext cx="11070772"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Dataset Overview:</a:t>
          </a:r>
          <a:endParaRPr lang="en-US" sz="2400" kern="1200"/>
        </a:p>
      </dsp:txBody>
      <dsp:txXfrm>
        <a:off x="28100" y="33878"/>
        <a:ext cx="11014572" cy="519439"/>
      </dsp:txXfrm>
    </dsp:sp>
    <dsp:sp modelId="{402991B1-9906-D64A-A0B0-E9AC58BBC61D}">
      <dsp:nvSpPr>
        <dsp:cNvPr id="0" name=""/>
        <dsp:cNvSpPr/>
      </dsp:nvSpPr>
      <dsp:spPr>
        <a:xfrm>
          <a:off x="0" y="581418"/>
          <a:ext cx="11070772" cy="658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497"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Target variable is rent.</a:t>
          </a:r>
        </a:p>
        <a:p>
          <a:pPr marL="171450" lvl="1" indent="-171450" algn="l" defTabSz="844550">
            <a:lnSpc>
              <a:spcPct val="90000"/>
            </a:lnSpc>
            <a:spcBef>
              <a:spcPct val="0"/>
            </a:spcBef>
            <a:spcAft>
              <a:spcPct val="20000"/>
            </a:spcAft>
            <a:buChar char="•"/>
          </a:pPr>
          <a:r>
            <a:rPr lang="en-US" sz="1900" kern="1200"/>
            <a:t>Aims to predict rent prices based on other independent variables.</a:t>
          </a:r>
        </a:p>
      </dsp:txBody>
      <dsp:txXfrm>
        <a:off x="0" y="581418"/>
        <a:ext cx="11070772" cy="658260"/>
      </dsp:txXfrm>
    </dsp:sp>
    <dsp:sp modelId="{F71D876C-8C6E-5E43-9114-F36C88DED260}">
      <dsp:nvSpPr>
        <dsp:cNvPr id="0" name=""/>
        <dsp:cNvSpPr/>
      </dsp:nvSpPr>
      <dsp:spPr>
        <a:xfrm>
          <a:off x="0" y="1239678"/>
          <a:ext cx="11070772"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Key Features:</a:t>
          </a:r>
          <a:endParaRPr lang="en-US" sz="2400" kern="1200"/>
        </a:p>
      </dsp:txBody>
      <dsp:txXfrm>
        <a:off x="28100" y="1267778"/>
        <a:ext cx="11014572" cy="519439"/>
      </dsp:txXfrm>
    </dsp:sp>
    <dsp:sp modelId="{D1E5E669-8652-C74C-95F0-C92A4989EF80}">
      <dsp:nvSpPr>
        <dsp:cNvPr id="0" name=""/>
        <dsp:cNvSpPr/>
      </dsp:nvSpPr>
      <dsp:spPr>
        <a:xfrm>
          <a:off x="0" y="1815318"/>
          <a:ext cx="11070772" cy="658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497"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Includes numerical attributes like BHK, size, bathroom.</a:t>
          </a:r>
        </a:p>
        <a:p>
          <a:pPr marL="171450" lvl="1" indent="-171450" algn="l" defTabSz="844550">
            <a:lnSpc>
              <a:spcPct val="90000"/>
            </a:lnSpc>
            <a:spcBef>
              <a:spcPct val="0"/>
            </a:spcBef>
            <a:spcAft>
              <a:spcPct val="20000"/>
            </a:spcAft>
            <a:buChar char="•"/>
          </a:pPr>
          <a:r>
            <a:rPr lang="en-US" sz="1900" kern="1200"/>
            <a:t>Includes categorical attributes like floor level, city, furnishing status and tenant preferences.</a:t>
          </a:r>
        </a:p>
      </dsp:txBody>
      <dsp:txXfrm>
        <a:off x="0" y="1815318"/>
        <a:ext cx="11070772" cy="658260"/>
      </dsp:txXfrm>
    </dsp:sp>
    <dsp:sp modelId="{9E1E7EB3-A8AB-8F4A-B197-D2629FF80C49}">
      <dsp:nvSpPr>
        <dsp:cNvPr id="0" name=""/>
        <dsp:cNvSpPr/>
      </dsp:nvSpPr>
      <dsp:spPr>
        <a:xfrm>
          <a:off x="0" y="2473578"/>
          <a:ext cx="11070772"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Objective:</a:t>
          </a:r>
          <a:endParaRPr lang="en-US" sz="2400" kern="1200"/>
        </a:p>
      </dsp:txBody>
      <dsp:txXfrm>
        <a:off x="28100" y="2501678"/>
        <a:ext cx="11014572" cy="519439"/>
      </dsp:txXfrm>
    </dsp:sp>
    <dsp:sp modelId="{283F0AAE-2DA4-324D-9AA3-ED5793A567B5}">
      <dsp:nvSpPr>
        <dsp:cNvPr id="0" name=""/>
        <dsp:cNvSpPr/>
      </dsp:nvSpPr>
      <dsp:spPr>
        <a:xfrm>
          <a:off x="0" y="3049218"/>
          <a:ext cx="11070772" cy="119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497"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Apply Multiple Linear and Polynomial Regression to predict rental prices based on relevant features.</a:t>
          </a:r>
        </a:p>
        <a:p>
          <a:pPr marL="171450" lvl="1" indent="-171450" algn="l" defTabSz="844550">
            <a:lnSpc>
              <a:spcPct val="90000"/>
            </a:lnSpc>
            <a:spcBef>
              <a:spcPct val="0"/>
            </a:spcBef>
            <a:spcAft>
              <a:spcPct val="20000"/>
            </a:spcAft>
            <a:buChar char="•"/>
          </a:pPr>
          <a:r>
            <a:rPr lang="en-US" sz="1900" kern="1200"/>
            <a:t>Analyze the impact of different property attributes on rent to improve decision-making for renters and property owners.</a:t>
          </a:r>
        </a:p>
      </dsp:txBody>
      <dsp:txXfrm>
        <a:off x="0" y="3049218"/>
        <a:ext cx="11070772" cy="11923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B55EE7-6B72-CE45-9ECD-00B3B1578308}">
      <dsp:nvSpPr>
        <dsp:cNvPr id="0" name=""/>
        <dsp:cNvSpPr/>
      </dsp:nvSpPr>
      <dsp:spPr>
        <a:xfrm>
          <a:off x="1083" y="55005"/>
          <a:ext cx="3803628" cy="24153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D47242-CEB2-B94D-AB39-8C8CAF0D1F42}">
      <dsp:nvSpPr>
        <dsp:cNvPr id="0" name=""/>
        <dsp:cNvSpPr/>
      </dsp:nvSpPr>
      <dsp:spPr>
        <a:xfrm>
          <a:off x="423709" y="456499"/>
          <a:ext cx="3803628" cy="241530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a:t>Multiple Linear Regression</a:t>
          </a:r>
        </a:p>
      </dsp:txBody>
      <dsp:txXfrm>
        <a:off x="494451" y="527241"/>
        <a:ext cx="3662144" cy="2273819"/>
      </dsp:txXfrm>
    </dsp:sp>
    <dsp:sp modelId="{6E1FE705-13A7-344B-AB9B-030C772C1525}">
      <dsp:nvSpPr>
        <dsp:cNvPr id="0" name=""/>
        <dsp:cNvSpPr/>
      </dsp:nvSpPr>
      <dsp:spPr>
        <a:xfrm>
          <a:off x="4649962" y="55005"/>
          <a:ext cx="3803628" cy="24153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FFECF9-FCEE-9945-938D-C7CDFFCE3B29}">
      <dsp:nvSpPr>
        <dsp:cNvPr id="0" name=""/>
        <dsp:cNvSpPr/>
      </dsp:nvSpPr>
      <dsp:spPr>
        <a:xfrm>
          <a:off x="5072588" y="456499"/>
          <a:ext cx="3803628" cy="241530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a:t>Polynomial Regression</a:t>
          </a:r>
        </a:p>
      </dsp:txBody>
      <dsp:txXfrm>
        <a:off x="5143330" y="527241"/>
        <a:ext cx="3662144" cy="227381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0AE7B6-AA69-6543-B235-F523762C3FF5}" type="datetimeFigureOut">
              <a:rPr lang="en-US" smtClean="0"/>
              <a:t>3/2/25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438DD-A9C3-E048-9CF9-B984BCF11A6A}" type="slidenum">
              <a:rPr lang="en-US" smtClean="0"/>
              <a:t>‹#›</a:t>
            </a:fld>
            <a:endParaRPr lang="en-US"/>
          </a:p>
        </p:txBody>
      </p:sp>
    </p:spTree>
    <p:extLst>
      <p:ext uri="{BB962C8B-B14F-4D97-AF65-F5344CB8AC3E}">
        <p14:creationId xmlns:p14="http://schemas.microsoft.com/office/powerpoint/2010/main" val="439615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374151"/>
                </a:solidFill>
                <a:effectLst/>
                <a:latin typeface="__foundersGrotesk_c3e0d2"/>
              </a:rPr>
              <a:t>The goal of this project is to harness predictive modeling to extract meaningful insights from data using classification algorithms. Machine learning classification is widely used across industries—from predicting disease outcomes in healthcare to fraud detection in finance. The ability to classify new observations accurately can drive impactful decision-making. In this study, we explored five major classification algorithms, tackling challenges such as imbalanced datasets and hyperparameter tuning. By the end, we aim to identify the most effective model and assess its generalization ability.</a:t>
            </a:r>
            <a:endParaRPr lang="en-US"/>
          </a:p>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2</a:t>
            </a:fld>
            <a:endParaRPr lang="en-US"/>
          </a:p>
        </p:txBody>
      </p:sp>
    </p:spTree>
    <p:extLst>
      <p:ext uri="{BB962C8B-B14F-4D97-AF65-F5344CB8AC3E}">
        <p14:creationId xmlns:p14="http://schemas.microsoft.com/office/powerpoint/2010/main" val="2164401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If you continuously find you have a high customer churn rate, you’ll quickly find that your business isn’t sustainable.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Getting new customers to sign up to your service is one thing, but it’s not enough to keep your business afloat for long.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To survive, your business needs loyal customers, and that means continuously looking at ways you can improve your service to keep your customers happy.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panose="020B0004020202020204" pitchFamily="34" charset="0"/>
              </a:rPr>
              <a:t>If you don’t, your business will become unviable.</a:t>
            </a:r>
          </a:p>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3</a:t>
            </a:fld>
            <a:endParaRPr lang="en-US"/>
          </a:p>
        </p:txBody>
      </p:sp>
    </p:spTree>
    <p:extLst>
      <p:ext uri="{BB962C8B-B14F-4D97-AF65-F5344CB8AC3E}">
        <p14:creationId xmlns:p14="http://schemas.microsoft.com/office/powerpoint/2010/main" val="3547091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__foundersGrotesk_c3e0d2"/>
              </a:rPr>
              <a:t>Before applying machine learning models, it's crucial to preprocess data to ensure accuracy and reliability. </a:t>
            </a:r>
          </a:p>
          <a:p>
            <a:r>
              <a:rPr lang="en-US" b="0" i="0">
                <a:solidFill>
                  <a:srgbClr val="374151"/>
                </a:solidFill>
                <a:effectLst/>
                <a:latin typeface="__foundersGrotesk_c3e0d2"/>
              </a:rPr>
              <a:t>Our dataset consisted of multiple features requiring cleaning, transformation, and structuring for optimal classification. </a:t>
            </a:r>
          </a:p>
          <a:p>
            <a:r>
              <a:rPr lang="en-US" b="0" i="0">
                <a:solidFill>
                  <a:srgbClr val="374151"/>
                </a:solidFill>
                <a:effectLst/>
                <a:latin typeface="__foundersGrotesk_c3e0d2"/>
              </a:rPr>
              <a:t>Address missing values using imputation techniques and enhanced model performance through feature engineering. </a:t>
            </a:r>
            <a:endParaRPr lang="en-US">
              <a:solidFill>
                <a:srgbClr val="374151"/>
              </a:solidFill>
              <a:latin typeface="__foundersGrotesk_c3e0d2"/>
            </a:endParaRPr>
          </a:p>
          <a:p>
            <a:r>
              <a:rPr lang="en-US" b="0" i="0">
                <a:solidFill>
                  <a:srgbClr val="374151"/>
                </a:solidFill>
                <a:effectLst/>
                <a:latin typeface="__foundersGrotesk_c3e0d2"/>
              </a:rPr>
              <a:t>Data normalization ensured that models like KNN, which are sensitive to scale, performed effectively. </a:t>
            </a:r>
          </a:p>
          <a:p>
            <a:r>
              <a:rPr lang="en-US" b="0" i="0">
                <a:solidFill>
                  <a:srgbClr val="374151"/>
                </a:solidFill>
                <a:effectLst/>
                <a:latin typeface="__foundersGrotesk_c3e0d2"/>
              </a:rPr>
              <a:t>Finally, we split our dataset into training and testing sets, ensuring a fair evaluation of our models. </a:t>
            </a:r>
          </a:p>
          <a:p>
            <a:endParaRPr lang="en-US" b="0" i="0">
              <a:solidFill>
                <a:srgbClr val="374151"/>
              </a:solidFill>
              <a:effectLst/>
              <a:latin typeface="__foundersGrotesk_c3e0d2"/>
            </a:endParaRPr>
          </a:p>
          <a:p>
            <a:r>
              <a:rPr lang="en-US" b="0" i="0">
                <a:solidFill>
                  <a:srgbClr val="374151"/>
                </a:solidFill>
                <a:effectLst/>
                <a:latin typeface="__foundersGrotesk_c3e0d2"/>
              </a:rPr>
              <a:t>Proper preprocessing lays the foundation for accurate and meaningful predictions.</a:t>
            </a:r>
            <a:endParaRPr lang="en-US"/>
          </a:p>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4</a:t>
            </a:fld>
            <a:endParaRPr lang="en-US"/>
          </a:p>
        </p:txBody>
      </p:sp>
    </p:spTree>
    <p:extLst>
      <p:ext uri="{BB962C8B-B14F-4D97-AF65-F5344CB8AC3E}">
        <p14:creationId xmlns:p14="http://schemas.microsoft.com/office/powerpoint/2010/main" val="4201370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solidFill>
                  <a:srgbClr val="374151"/>
                </a:solidFill>
              </a:rPr>
              <a:t>Now that the data is pre-processed, let's move on to model training, where we apply different classification algorithms  like ----------- to analyze and predict outcomes based on our customer churn dataset. </a:t>
            </a:r>
            <a:endParaRPr lang="en-US">
              <a:solidFill>
                <a:srgbClr val="000000"/>
              </a:solidFill>
            </a:endParaRPr>
          </a:p>
          <a:p>
            <a:pPr>
              <a:defRPr/>
            </a:pPr>
            <a:r>
              <a:rPr lang="en-US">
                <a:solidFill>
                  <a:srgbClr val="374151"/>
                </a:solidFill>
              </a:rPr>
              <a:t>To evaluate the performance of each model, we will analyze their confusion matrices along with key metrics such as accuracy, precision, recall, and F1 score. Analyzing these metrics, we gain deeper insights into model reliability and effectiveness in real-world applications.</a:t>
            </a:r>
          </a:p>
          <a:p>
            <a:pPr>
              <a:defRPr/>
            </a:pPr>
            <a:endParaRPr lang="en-US">
              <a:solidFill>
                <a:srgbClr val="374151"/>
              </a:solidFill>
            </a:endParaRPr>
          </a:p>
          <a:p>
            <a:pPr>
              <a:defRPr/>
            </a:pPr>
            <a:r>
              <a:rPr lang="en-US">
                <a:solidFill>
                  <a:srgbClr val="374151"/>
                </a:solidFill>
              </a:rPr>
              <a:t>The confusion matrix provides a detailed breakdown of true positives, true negatives, false positives, and false negatives, helping us understand where the model makes correct predictions and where it misclassifies.</a:t>
            </a:r>
            <a:endParaRPr lang="en-US"/>
          </a:p>
          <a:p>
            <a:pPr marL="171450" indent="-171450">
              <a:buFont typeface="Arial"/>
              <a:buChar char="•"/>
              <a:defRPr/>
            </a:pPr>
            <a:r>
              <a:rPr lang="en-US" b="1">
                <a:solidFill>
                  <a:srgbClr val="374151"/>
                </a:solidFill>
              </a:rPr>
              <a:t>Accuracy</a:t>
            </a:r>
            <a:r>
              <a:rPr lang="en-US">
                <a:solidFill>
                  <a:srgbClr val="374151"/>
                </a:solidFill>
              </a:rPr>
              <a:t> measures overall correctness.</a:t>
            </a:r>
            <a:endParaRPr lang="en-US"/>
          </a:p>
          <a:p>
            <a:pPr marL="171450" indent="-171450">
              <a:buFont typeface="Arial"/>
              <a:buChar char="•"/>
              <a:defRPr/>
            </a:pPr>
            <a:r>
              <a:rPr lang="en-US" b="1">
                <a:solidFill>
                  <a:srgbClr val="374151"/>
                </a:solidFill>
              </a:rPr>
              <a:t>Precision</a:t>
            </a:r>
            <a:r>
              <a:rPr lang="en-US">
                <a:solidFill>
                  <a:srgbClr val="374151"/>
                </a:solidFill>
              </a:rPr>
              <a:t> indicates how many of the predicted positives are actually correct, making it important in scenarios where false positives need to be minimized (e.g., spam detection).</a:t>
            </a:r>
            <a:endParaRPr lang="en-US"/>
          </a:p>
          <a:p>
            <a:pPr marL="171450" indent="-171450">
              <a:buFont typeface="Arial"/>
              <a:buChar char="•"/>
              <a:defRPr/>
            </a:pPr>
            <a:r>
              <a:rPr lang="en-US" b="1">
                <a:solidFill>
                  <a:srgbClr val="374151"/>
                </a:solidFill>
              </a:rPr>
              <a:t>Recall</a:t>
            </a:r>
            <a:r>
              <a:rPr lang="en-US">
                <a:solidFill>
                  <a:srgbClr val="374151"/>
                </a:solidFill>
              </a:rPr>
              <a:t> measures how well the model identifies actual positives, which is crucial when missing positive cases is costly (e.g., disease detection).</a:t>
            </a:r>
            <a:endParaRPr lang="en-US"/>
          </a:p>
          <a:p>
            <a:pPr marL="171450" indent="-171450">
              <a:buFont typeface="Arial"/>
              <a:buChar char="•"/>
              <a:defRPr/>
            </a:pPr>
            <a:r>
              <a:rPr lang="en-US" b="1">
                <a:solidFill>
                  <a:srgbClr val="374151"/>
                </a:solidFill>
              </a:rPr>
              <a:t>F1 Score</a:t>
            </a:r>
            <a:r>
              <a:rPr lang="en-US">
                <a:solidFill>
                  <a:srgbClr val="374151"/>
                </a:solidFill>
              </a:rPr>
              <a:t> is a more holistic measure of performance, balances precision and recall.</a:t>
            </a:r>
            <a:endParaRPr lang="en-US">
              <a:solidFill>
                <a:srgbClr val="000000"/>
              </a:solidFill>
            </a:endParaRPr>
          </a:p>
          <a:p>
            <a:pPr>
              <a:defRPr/>
            </a:pPr>
            <a:r>
              <a:rPr lang="en-US">
                <a:solidFill>
                  <a:srgbClr val="374151"/>
                </a:solidFill>
              </a:rPr>
              <a:t>By analyzing these metrics, we gain deeper insights into model reliability and effectiveness in real-world applications.</a:t>
            </a:r>
            <a:endParaRPr lang="en-US"/>
          </a:p>
          <a:p>
            <a:pPr>
              <a:defRPr/>
            </a:pPr>
            <a:endParaRPr lang="en-US">
              <a:solidFill>
                <a:srgbClr val="374151"/>
              </a:solidFill>
            </a:endParaRPr>
          </a:p>
        </p:txBody>
      </p:sp>
      <p:sp>
        <p:nvSpPr>
          <p:cNvPr id="4" name="Slide Number Placeholder 3"/>
          <p:cNvSpPr>
            <a:spLocks noGrp="1"/>
          </p:cNvSpPr>
          <p:nvPr>
            <p:ph type="sldNum" sz="quarter" idx="5"/>
          </p:nvPr>
        </p:nvSpPr>
        <p:spPr/>
        <p:txBody>
          <a:bodyPr/>
          <a:lstStyle/>
          <a:p>
            <a:fld id="{395438DD-A9C3-E048-9CF9-B984BCF11A6A}" type="slidenum">
              <a:rPr lang="en-US" smtClean="0"/>
              <a:t>5</a:t>
            </a:fld>
            <a:endParaRPr lang="en-US"/>
          </a:p>
        </p:txBody>
      </p:sp>
    </p:spTree>
    <p:extLst>
      <p:ext uri="{BB962C8B-B14F-4D97-AF65-F5344CB8AC3E}">
        <p14:creationId xmlns:p14="http://schemas.microsoft.com/office/powerpoint/2010/main" val="3770648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374151"/>
                </a:solidFill>
                <a:effectLst/>
                <a:latin typeface="__foundersGrotesk_c3e0d2"/>
              </a:rPr>
              <a:t>- Underfitting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374151"/>
                </a:solidFill>
                <a:effectLst/>
                <a:latin typeface="__foundersGrotesk_c3e0d2"/>
              </a:rPr>
              <a:t>-</a:t>
            </a:r>
            <a:r>
              <a:rPr lang="en-US"/>
              <a:t>The performance is lower compared to others, indicating that while it catches a good number of positives (moderate recall),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It also makes more errors in predicting negatives as positives (reflected in the precision and confusion matrix).</a:t>
            </a:r>
          </a:p>
        </p:txBody>
      </p:sp>
      <p:sp>
        <p:nvSpPr>
          <p:cNvPr id="4" name="Slide Number Placeholder 3"/>
          <p:cNvSpPr>
            <a:spLocks noGrp="1"/>
          </p:cNvSpPr>
          <p:nvPr>
            <p:ph type="sldNum" sz="quarter" idx="5"/>
          </p:nvPr>
        </p:nvSpPr>
        <p:spPr/>
        <p:txBody>
          <a:bodyPr/>
          <a:lstStyle/>
          <a:p>
            <a:fld id="{395438DD-A9C3-E048-9CF9-B984BCF11A6A}" type="slidenum">
              <a:rPr lang="en-US" smtClean="0"/>
              <a:t>6</a:t>
            </a:fld>
            <a:endParaRPr lang="en-US"/>
          </a:p>
        </p:txBody>
      </p:sp>
    </p:spTree>
    <p:extLst>
      <p:ext uri="{BB962C8B-B14F-4D97-AF65-F5344CB8AC3E}">
        <p14:creationId xmlns:p14="http://schemas.microsoft.com/office/powerpoint/2010/main" val="2272914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The KNN model has a good recall (78%), which means it captures most of the actual positives,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but the lower precision (65%) shows that it also has a higher rate of false positives compared to the Decision Tree or Random Forest.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Its overall performance is moderate.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374151"/>
              </a:solidFill>
              <a:effectLst/>
              <a:latin typeface="__foundersGrotesk_c3e0d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374151"/>
              </a:solidFill>
              <a:effectLst/>
              <a:latin typeface="__foundersGrotesk_c3e0d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374151"/>
                </a:solidFill>
                <a:effectLst/>
                <a:latin typeface="__foundersGrotesk_c3e0d2"/>
              </a:rPr>
              <a:t>KNN's performance is highly sensitive to the choice of K, making tuning essential. </a:t>
            </a:r>
            <a:endParaRPr lang="en-US"/>
          </a:p>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7</a:t>
            </a:fld>
            <a:endParaRPr lang="en-US"/>
          </a:p>
        </p:txBody>
      </p:sp>
    </p:spTree>
    <p:extLst>
      <p:ext uri="{BB962C8B-B14F-4D97-AF65-F5344CB8AC3E}">
        <p14:creationId xmlns:p14="http://schemas.microsoft.com/office/powerpoint/2010/main" val="1303209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1"/>
              <a:t>The graph shows the error rate for K values ranging from 1 to 20.</a:t>
            </a:r>
            <a:r>
              <a:rPr lang="en-US"/>
              <a:t> </a:t>
            </a:r>
            <a:r>
              <a:rPr lang="en-US" b="1"/>
              <a:t>Initially (at low K values), the error rate is low.</a:t>
            </a:r>
            <a:r>
              <a:rPr lang="en-US"/>
              <a:t> </a:t>
            </a:r>
          </a:p>
          <a:p>
            <a:pPr marL="171450" indent="-171450">
              <a:buFontTx/>
              <a:buChar char="-"/>
            </a:pPr>
            <a:r>
              <a:rPr lang="en-US"/>
              <a:t>This is because with a small K, the model is very sensitive to noise and outliers in the data, leading to overfitting. </a:t>
            </a:r>
          </a:p>
          <a:p>
            <a:pPr marL="171450" indent="-171450">
              <a:buFontTx/>
              <a:buChar char="-"/>
            </a:pPr>
            <a:r>
              <a:rPr lang="en-US" b="1"/>
              <a:t>As K increases, the error rate generally increases.</a:t>
            </a:r>
            <a:r>
              <a:rPr lang="en-US"/>
              <a:t> </a:t>
            </a:r>
          </a:p>
          <a:p>
            <a:pPr marL="171450" indent="-171450">
              <a:buFontTx/>
              <a:buChar char="-"/>
            </a:pPr>
            <a:r>
              <a:rPr lang="en-US"/>
              <a:t>This suggests that with larger K values, the model is becoming too generalized and might be underfitting the data.</a:t>
            </a:r>
          </a:p>
        </p:txBody>
      </p:sp>
      <p:sp>
        <p:nvSpPr>
          <p:cNvPr id="4" name="Slide Number Placeholder 3"/>
          <p:cNvSpPr>
            <a:spLocks noGrp="1"/>
          </p:cNvSpPr>
          <p:nvPr>
            <p:ph type="sldNum" sz="quarter" idx="5"/>
          </p:nvPr>
        </p:nvSpPr>
        <p:spPr/>
        <p:txBody>
          <a:bodyPr/>
          <a:lstStyle/>
          <a:p>
            <a:fld id="{395438DD-A9C3-E048-9CF9-B984BCF11A6A}" type="slidenum">
              <a:rPr lang="en-US" smtClean="0"/>
              <a:t>8</a:t>
            </a:fld>
            <a:endParaRPr lang="en-US"/>
          </a:p>
        </p:txBody>
      </p:sp>
    </p:spTree>
    <p:extLst>
      <p:ext uri="{BB962C8B-B14F-4D97-AF65-F5344CB8AC3E}">
        <p14:creationId xmlns:p14="http://schemas.microsoft.com/office/powerpoint/2010/main" val="577141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910DB-4148-6101-BFDA-9178DC7AE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7BA0C-3D0A-DB6D-A44F-59F9BC94A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1E048-19E1-4DC3-49B3-3D6692BF574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The KNN model has a good recall (78%), which means it captures most of the actual positives,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but the lower precision (65%) shows that it also has a higher rate of false positives compared to the Decision Tree or Random Forest.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Its overall performance is moderate.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374151"/>
              </a:solidFill>
              <a:effectLst/>
              <a:latin typeface="__foundersGrotesk_c3e0d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374151"/>
              </a:solidFill>
              <a:effectLst/>
              <a:latin typeface="__foundersGrotesk_c3e0d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374151"/>
                </a:solidFill>
                <a:effectLst/>
                <a:latin typeface="__foundersGrotesk_c3e0d2"/>
              </a:rPr>
              <a:t>KNN's performance is highly sensitive to the choice of K, making tuning essential. </a:t>
            </a:r>
            <a:endParaRPr lang="en-US"/>
          </a:p>
          <a:p>
            <a:endParaRPr lang="en-US"/>
          </a:p>
        </p:txBody>
      </p:sp>
      <p:sp>
        <p:nvSpPr>
          <p:cNvPr id="4" name="Slide Number Placeholder 3">
            <a:extLst>
              <a:ext uri="{FF2B5EF4-FFF2-40B4-BE49-F238E27FC236}">
                <a16:creationId xmlns:a16="http://schemas.microsoft.com/office/drawing/2014/main" id="{8E8FA9D2-E310-8844-81F0-6E2EDA5B5355}"/>
              </a:ext>
            </a:extLst>
          </p:cNvPr>
          <p:cNvSpPr>
            <a:spLocks noGrp="1"/>
          </p:cNvSpPr>
          <p:nvPr>
            <p:ph type="sldNum" sz="quarter" idx="5"/>
          </p:nvPr>
        </p:nvSpPr>
        <p:spPr/>
        <p:txBody>
          <a:bodyPr/>
          <a:lstStyle/>
          <a:p>
            <a:fld id="{395438DD-A9C3-E048-9CF9-B984BCF11A6A}" type="slidenum">
              <a:rPr lang="en-US" smtClean="0"/>
              <a:t>9</a:t>
            </a:fld>
            <a:endParaRPr lang="en-US"/>
          </a:p>
        </p:txBody>
      </p:sp>
    </p:spTree>
    <p:extLst>
      <p:ext uri="{BB962C8B-B14F-4D97-AF65-F5344CB8AC3E}">
        <p14:creationId xmlns:p14="http://schemas.microsoft.com/office/powerpoint/2010/main" val="1431032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This model shows better performance overall than Naive Bayes with improved balance in all metrics, indicating it is better at distinguishing between classes.</a:t>
            </a:r>
            <a:endParaRPr lang="en-US" b="0" i="0">
              <a:solidFill>
                <a:srgbClr val="374151"/>
              </a:solidFill>
              <a:effectLst/>
              <a:latin typeface="__foundersGrotesk_c3e0d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374151"/>
              </a:solidFill>
              <a:effectLst/>
              <a:latin typeface="__foundersGrotesk_c3e0d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374151"/>
                </a:solidFill>
                <a:effectLst/>
                <a:latin typeface="__foundersGrotesk_c3e0d2"/>
              </a:rPr>
              <a:t>Decision Trees, on the other hand, are interpretable but prone to overfitting, which means they may not generalize well to new data.</a:t>
            </a:r>
            <a:endParaRPr lang="en-US"/>
          </a:p>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10</a:t>
            </a:fld>
            <a:endParaRPr lang="en-US"/>
          </a:p>
        </p:txBody>
      </p:sp>
    </p:spTree>
    <p:extLst>
      <p:ext uri="{BB962C8B-B14F-4D97-AF65-F5344CB8AC3E}">
        <p14:creationId xmlns:p14="http://schemas.microsoft.com/office/powerpoint/2010/main" val="3723982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__foundersGrotesk_c3e0d2"/>
              </a:rPr>
              <a:t>. </a:t>
            </a:r>
            <a:r>
              <a:rPr lang="en-US"/>
              <a:t>This model has very high precision, meaning when it predicts a positive, it’s almost always correct. </a:t>
            </a:r>
          </a:p>
          <a:p>
            <a:r>
              <a:rPr lang="en-US"/>
              <a:t>However, its recall is slightly lower (72%), indicating it might be missing some actual positives. </a:t>
            </a:r>
          </a:p>
          <a:p>
            <a:endParaRPr lang="en-US"/>
          </a:p>
          <a:p>
            <a:r>
              <a:rPr lang="en-US"/>
              <a:t>Overall, it has the highest accuracy and F1 score, which suggests it's the best performer on this dataset, though it is slightly conservative in catching all positives.</a:t>
            </a:r>
            <a:endParaRPr lang="en-US" b="0" i="0">
              <a:solidFill>
                <a:srgbClr val="374151"/>
              </a:solidFill>
              <a:effectLst/>
              <a:latin typeface="__foundersGrotesk_c3e0d2"/>
            </a:endParaRPr>
          </a:p>
          <a:p>
            <a:endParaRPr lang="en-US" b="0" i="0">
              <a:solidFill>
                <a:srgbClr val="374151"/>
              </a:solidFill>
              <a:effectLst/>
              <a:latin typeface="__foundersGrotesk_c3e0d2"/>
            </a:endParaRPr>
          </a:p>
          <a:p>
            <a:r>
              <a:rPr lang="en-US" b="0" i="0">
                <a:solidFill>
                  <a:srgbClr val="374151"/>
                </a:solidFill>
                <a:effectLst/>
                <a:latin typeface="__foundersGrotesk_c3e0d2"/>
              </a:rPr>
              <a:t>- Random Forest emerges as a strong performer, mitigating overfitting by averaging multiple decision trees. </a:t>
            </a:r>
          </a:p>
        </p:txBody>
      </p:sp>
      <p:sp>
        <p:nvSpPr>
          <p:cNvPr id="4" name="Slide Number Placeholder 3"/>
          <p:cNvSpPr>
            <a:spLocks noGrp="1"/>
          </p:cNvSpPr>
          <p:nvPr>
            <p:ph type="sldNum" sz="quarter" idx="5"/>
          </p:nvPr>
        </p:nvSpPr>
        <p:spPr/>
        <p:txBody>
          <a:bodyPr/>
          <a:lstStyle/>
          <a:p>
            <a:fld id="{395438DD-A9C3-E048-9CF9-B984BCF11A6A}" type="slidenum">
              <a:rPr lang="en-US" smtClean="0"/>
              <a:t>11</a:t>
            </a:fld>
            <a:endParaRPr lang="en-US"/>
          </a:p>
        </p:txBody>
      </p:sp>
    </p:spTree>
    <p:extLst>
      <p:ext uri="{BB962C8B-B14F-4D97-AF65-F5344CB8AC3E}">
        <p14:creationId xmlns:p14="http://schemas.microsoft.com/office/powerpoint/2010/main" val="1377228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graph shows the ROC curves for four different classification models:</a:t>
            </a:r>
          </a:p>
          <a:p>
            <a:endParaRPr lang="en-US"/>
          </a:p>
          <a:p>
            <a:pPr>
              <a:buFont typeface="+mj-lt"/>
              <a:buAutoNum type="arabicPeriod"/>
            </a:pPr>
            <a:r>
              <a:rPr lang="en-US" b="1"/>
              <a:t>GaussianNB :</a:t>
            </a:r>
            <a:r>
              <a:rPr lang="en-US"/>
              <a:t> This model has the worst performance. Its curve is close to the diagonal line, indicating it's barely better than random guessing. The AUC is also relatively low.</a:t>
            </a:r>
          </a:p>
          <a:p>
            <a:pPr>
              <a:buFont typeface="+mj-lt"/>
              <a:buAutoNum type="arabicPeriod"/>
            </a:pPr>
            <a:endParaRPr lang="en-US"/>
          </a:p>
          <a:p>
            <a:pPr>
              <a:buFont typeface="+mj-lt"/>
              <a:buAutoNum type="arabicPeriod"/>
            </a:pPr>
            <a:r>
              <a:rPr lang="en-US" b="1"/>
              <a:t>DecisionTreeClassifier :</a:t>
            </a:r>
            <a:r>
              <a:rPr lang="en-US"/>
              <a:t> This model has perfect performance. </a:t>
            </a:r>
            <a:r>
              <a:rPr lang="en-US" b="1"/>
              <a:t>However, a perfect AUC often suggests potential overfitting</a:t>
            </a:r>
            <a:r>
              <a:rPr lang="en-US"/>
              <a:t>, meaning the model might be too tailored to the training data and may not generalize well to new data.</a:t>
            </a:r>
          </a:p>
          <a:p>
            <a:pPr>
              <a:buFont typeface="+mj-lt"/>
              <a:buAutoNum type="arabicPeriod"/>
            </a:pPr>
            <a:endParaRPr lang="en-US"/>
          </a:p>
          <a:p>
            <a:pPr>
              <a:buFont typeface="+mj-lt"/>
              <a:buAutoNum type="arabicPeriod"/>
            </a:pPr>
            <a:r>
              <a:rPr lang="en-US" b="1"/>
              <a:t>RandomForestClassifier :</a:t>
            </a:r>
            <a:r>
              <a:rPr lang="en-US"/>
              <a:t> Similar to the Decision Tree, the same caution about potential overfitting applies.</a:t>
            </a:r>
          </a:p>
          <a:p>
            <a:pPr>
              <a:buFont typeface="+mj-lt"/>
              <a:buAutoNum type="arabicPeriod"/>
            </a:pPr>
            <a:endParaRPr lang="en-US"/>
          </a:p>
          <a:p>
            <a:pPr>
              <a:buFont typeface="+mj-lt"/>
              <a:buAutoNum type="arabicPeriod"/>
            </a:pPr>
            <a:r>
              <a:rPr lang="en-US" b="1"/>
              <a:t>KNeighborsClassifier :</a:t>
            </a:r>
            <a:r>
              <a:rPr lang="en-US"/>
              <a:t> This model performs very well, with its curve close to the top-left corner. It achieves a high TPR with a low FPR. The AUC of 0.97 indicates strong discriminatory power.</a:t>
            </a:r>
          </a:p>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12</a:t>
            </a:fld>
            <a:endParaRPr lang="en-US"/>
          </a:p>
        </p:txBody>
      </p:sp>
    </p:spTree>
    <p:extLst>
      <p:ext uri="{BB962C8B-B14F-4D97-AF65-F5344CB8AC3E}">
        <p14:creationId xmlns:p14="http://schemas.microsoft.com/office/powerpoint/2010/main" val="147640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4CC92-06FC-AC7D-8B5A-A6222BB63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12787-2D7D-F922-CD62-A4A80E915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A90D7-1EC9-920D-FDD3-FF7A76C5467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FAB937-F449-A717-3036-CAC5504CB8AF}"/>
              </a:ext>
            </a:extLst>
          </p:cNvPr>
          <p:cNvSpPr>
            <a:spLocks noGrp="1"/>
          </p:cNvSpPr>
          <p:nvPr>
            <p:ph type="sldNum" sz="quarter" idx="5"/>
          </p:nvPr>
        </p:nvSpPr>
        <p:spPr/>
        <p:txBody>
          <a:bodyPr/>
          <a:lstStyle/>
          <a:p>
            <a:fld id="{395438DD-A9C3-E048-9CF9-B984BCF11A6A}" type="slidenum">
              <a:rPr lang="en-US" smtClean="0"/>
              <a:t>13</a:t>
            </a:fld>
            <a:endParaRPr lang="en-US"/>
          </a:p>
        </p:txBody>
      </p:sp>
    </p:spTree>
    <p:extLst>
      <p:ext uri="{BB962C8B-B14F-4D97-AF65-F5344CB8AC3E}">
        <p14:creationId xmlns:p14="http://schemas.microsoft.com/office/powerpoint/2010/main" val="188075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14</a:t>
            </a:fld>
            <a:endParaRPr lang="en-US"/>
          </a:p>
        </p:txBody>
      </p:sp>
    </p:spTree>
    <p:extLst>
      <p:ext uri="{BB962C8B-B14F-4D97-AF65-F5344CB8AC3E}">
        <p14:creationId xmlns:p14="http://schemas.microsoft.com/office/powerpoint/2010/main" val="1482957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The Random Forest model shows good performance on this binary classification task, achieving an accuracy of 84% with a balanced F1-score for both classes.</a:t>
            </a:r>
          </a:p>
          <a:p>
            <a:pPr marL="171450" indent="-171450">
              <a:buFontTx/>
              <a:buChar char="-"/>
            </a:pPr>
            <a:r>
              <a:rPr lang="en-US"/>
              <a:t> The model is particularly strong in identifying class 0 instances (high recall) and in being correct when it predicts class 1 (high precision).</a:t>
            </a:r>
          </a:p>
        </p:txBody>
      </p:sp>
      <p:sp>
        <p:nvSpPr>
          <p:cNvPr id="4" name="Slide Number Placeholder 3"/>
          <p:cNvSpPr>
            <a:spLocks noGrp="1"/>
          </p:cNvSpPr>
          <p:nvPr>
            <p:ph type="sldNum" sz="quarter" idx="5"/>
          </p:nvPr>
        </p:nvSpPr>
        <p:spPr/>
        <p:txBody>
          <a:bodyPr/>
          <a:lstStyle/>
          <a:p>
            <a:fld id="{395438DD-A9C3-E048-9CF9-B984BCF11A6A}" type="slidenum">
              <a:rPr lang="en-US" smtClean="0"/>
              <a:t>15</a:t>
            </a:fld>
            <a:endParaRPr lang="en-US"/>
          </a:p>
        </p:txBody>
      </p:sp>
    </p:spTree>
    <p:extLst>
      <p:ext uri="{BB962C8B-B14F-4D97-AF65-F5344CB8AC3E}">
        <p14:creationId xmlns:p14="http://schemas.microsoft.com/office/powerpoint/2010/main" val="1508037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16</a:t>
            </a:fld>
            <a:endParaRPr lang="en-US"/>
          </a:p>
        </p:txBody>
      </p:sp>
    </p:spTree>
    <p:extLst>
      <p:ext uri="{BB962C8B-B14F-4D97-AF65-F5344CB8AC3E}">
        <p14:creationId xmlns:p14="http://schemas.microsoft.com/office/powerpoint/2010/main" val="1252066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17</a:t>
            </a:fld>
            <a:endParaRPr lang="en-US"/>
          </a:p>
        </p:txBody>
      </p:sp>
    </p:spTree>
    <p:extLst>
      <p:ext uri="{BB962C8B-B14F-4D97-AF65-F5344CB8AC3E}">
        <p14:creationId xmlns:p14="http://schemas.microsoft.com/office/powerpoint/2010/main" val="2902845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Graph 1:</a:t>
            </a:r>
          </a:p>
          <a:p>
            <a:pPr marL="171450" indent="-171450">
              <a:buFontTx/>
              <a:buChar char="-"/>
            </a:pPr>
            <a:r>
              <a:rPr lang="en-US"/>
              <a:t>Customers with a lower monthly bill have a slightly higher churn probability (22.12%) compared to those with a higher monthly bill (20.02%). </a:t>
            </a:r>
          </a:p>
          <a:p>
            <a:pPr marL="171450" indent="-171450">
              <a:buFontTx/>
              <a:buChar char="-"/>
            </a:pPr>
            <a:r>
              <a:rPr lang="en-US"/>
              <a:t>Since the difference is small, Monthly Bill alone is likely not a strong predictor of churn.</a:t>
            </a:r>
          </a:p>
          <a:p>
            <a:pPr marL="171450" indent="-171450">
              <a:buFontTx/>
              <a:buChar char="-"/>
            </a:pPr>
            <a:endParaRPr lang="en-US"/>
          </a:p>
          <a:p>
            <a:pPr marL="171450" indent="-171450">
              <a:buFontTx/>
              <a:buChar char="-"/>
            </a:pPr>
            <a:r>
              <a:rPr lang="en-US"/>
              <a:t>Graph 2:</a:t>
            </a:r>
          </a:p>
          <a:p>
            <a:pPr marL="171450" indent="-171450">
              <a:buFontTx/>
              <a:buChar char="-"/>
            </a:pPr>
            <a:r>
              <a:rPr lang="en-US"/>
              <a:t>The difference is extremely small (21.00% vs. 21.14%), reinforcing that </a:t>
            </a:r>
            <a:r>
              <a:rPr lang="en-US" b="1"/>
              <a:t>Total Usage is not a strong predictor of churn</a:t>
            </a:r>
            <a:r>
              <a:rPr lang="en-US"/>
              <a:t>.</a:t>
            </a:r>
          </a:p>
          <a:p>
            <a:pPr marL="171450" indent="-171450">
              <a:buFontTx/>
              <a:buChar char="-"/>
            </a:pPr>
            <a:endParaRPr lang="en-US"/>
          </a:p>
          <a:p>
            <a:pPr marL="171450" indent="-171450">
              <a:buFontTx/>
              <a:buChar char="-"/>
            </a:pPr>
            <a:r>
              <a:rPr lang="en-US"/>
              <a:t>Graph 3:</a:t>
            </a:r>
          </a:p>
          <a:p>
            <a:pPr marL="171450" indent="-171450">
              <a:buFontTx/>
              <a:buChar char="-"/>
            </a:pPr>
            <a:r>
              <a:rPr lang="en-US"/>
              <a:t>A bar chart comparing churn probability for customers </a:t>
            </a:r>
            <a:r>
              <a:rPr lang="en-US" b="1"/>
              <a:t>above and below 30 years old</a:t>
            </a:r>
            <a:r>
              <a:rPr lang="en-US"/>
              <a:t>. </a:t>
            </a:r>
          </a:p>
          <a:p>
            <a:pPr marL="171450" indent="-171450">
              <a:buFontTx/>
              <a:buChar char="-"/>
            </a:pPr>
            <a:r>
              <a:rPr lang="en-US"/>
              <a:t>The difference is minimal (21.19% vs. 20.64%), suggesting that </a:t>
            </a:r>
            <a:r>
              <a:rPr lang="en-US" b="1"/>
              <a:t>Age &gt; 30 is not a significant predictor of churn</a:t>
            </a:r>
            <a:r>
              <a:rPr lang="en-US"/>
              <a:t> on its own.</a:t>
            </a:r>
          </a:p>
        </p:txBody>
      </p:sp>
      <p:sp>
        <p:nvSpPr>
          <p:cNvPr id="4" name="Slide Number Placeholder 3"/>
          <p:cNvSpPr>
            <a:spLocks noGrp="1"/>
          </p:cNvSpPr>
          <p:nvPr>
            <p:ph type="sldNum" sz="quarter" idx="5"/>
          </p:nvPr>
        </p:nvSpPr>
        <p:spPr/>
        <p:txBody>
          <a:bodyPr/>
          <a:lstStyle/>
          <a:p>
            <a:fld id="{395438DD-A9C3-E048-9CF9-B984BCF11A6A}" type="slidenum">
              <a:rPr lang="en-US" smtClean="0"/>
              <a:t>18</a:t>
            </a:fld>
            <a:endParaRPr lang="en-US"/>
          </a:p>
        </p:txBody>
      </p:sp>
    </p:spTree>
    <p:extLst>
      <p:ext uri="{BB962C8B-B14F-4D97-AF65-F5344CB8AC3E}">
        <p14:creationId xmlns:p14="http://schemas.microsoft.com/office/powerpoint/2010/main" val="3593222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1"/>
              <a:t>Importance Scores:</a:t>
            </a:r>
            <a:r>
              <a:rPr lang="en-US"/>
              <a:t> The numbers at the end of each bar represent the importance scores. </a:t>
            </a:r>
          </a:p>
          <a:p>
            <a:pPr marL="171450" indent="-171450">
              <a:buFontTx/>
              <a:buChar char="-"/>
            </a:pPr>
            <a:r>
              <a:rPr lang="en-US"/>
              <a:t>These scores indicate how much each feature contributes to the model's predictions. </a:t>
            </a:r>
          </a:p>
          <a:p>
            <a:pPr marL="171450" indent="-171450">
              <a:buFontTx/>
              <a:buChar char="-"/>
            </a:pPr>
            <a:r>
              <a:rPr lang="en-US"/>
              <a:t>Higher scores mean greater importance.</a:t>
            </a:r>
          </a:p>
          <a:p>
            <a:pPr marL="171450" indent="-171450">
              <a:buFontTx/>
              <a:buChar char="-"/>
            </a:pPr>
            <a:endParaRPr lang="en-US"/>
          </a:p>
          <a:p>
            <a:pPr marL="171450" indent="-171450">
              <a:buFontTx/>
              <a:buChar char="-"/>
            </a:pPr>
            <a:r>
              <a:rPr lang="en-US"/>
              <a:t>Hence, we can conclude that the total amount of data used by a customer is the strongest predictor in the model.</a:t>
            </a:r>
          </a:p>
          <a:p>
            <a:pPr marL="171450" indent="-171450">
              <a:buFontTx/>
              <a:buChar char="-"/>
            </a:pPr>
            <a:endParaRPr lang="en-US"/>
          </a:p>
          <a:p>
            <a:pPr marL="171450" indent="-171450">
              <a:buFontTx/>
              <a:buChar char="-"/>
            </a:pPr>
            <a:r>
              <a:rPr lang="en-US"/>
              <a:t>Understanding feature importance helps in interpreting the model's behavior and understanding the underlying relationships in the data.</a:t>
            </a:r>
          </a:p>
        </p:txBody>
      </p:sp>
      <p:sp>
        <p:nvSpPr>
          <p:cNvPr id="4" name="Slide Number Placeholder 3"/>
          <p:cNvSpPr>
            <a:spLocks noGrp="1"/>
          </p:cNvSpPr>
          <p:nvPr>
            <p:ph type="sldNum" sz="quarter" idx="5"/>
          </p:nvPr>
        </p:nvSpPr>
        <p:spPr/>
        <p:txBody>
          <a:bodyPr/>
          <a:lstStyle/>
          <a:p>
            <a:fld id="{395438DD-A9C3-E048-9CF9-B984BCF11A6A}" type="slidenum">
              <a:rPr lang="en-US" smtClean="0"/>
              <a:t>19</a:t>
            </a:fld>
            <a:endParaRPr lang="en-US"/>
          </a:p>
        </p:txBody>
      </p:sp>
    </p:spTree>
    <p:extLst>
      <p:ext uri="{BB962C8B-B14F-4D97-AF65-F5344CB8AC3E}">
        <p14:creationId xmlns:p14="http://schemas.microsoft.com/office/powerpoint/2010/main" val="2828364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a:effectLst/>
                <a:latin typeface="Helvetica" pitchFamily="2" charset="0"/>
              </a:rPr>
              <a:t>Ensemble Learning: Combines multiple decision trees to improve accuracy and reduce overfitting.</a:t>
            </a:r>
          </a:p>
          <a:p>
            <a:pPr>
              <a:buFont typeface="Arial" panose="020B0604020202020204" pitchFamily="34" charset="0"/>
              <a:buChar char="•"/>
            </a:pPr>
            <a:endParaRPr lang="en-US">
              <a:effectLst/>
              <a:latin typeface="Helvetica" pitchFamily="2" charset="0"/>
            </a:endParaRPr>
          </a:p>
          <a:p>
            <a:pPr>
              <a:buFont typeface="Arial" panose="020B0604020202020204" pitchFamily="34" charset="0"/>
              <a:buChar char="•"/>
            </a:pPr>
            <a:r>
              <a:rPr lang="en-US">
                <a:effectLst/>
                <a:latin typeface="Helvetica" pitchFamily="2" charset="0"/>
              </a:rPr>
              <a:t>﻿﻿Robust to Noise: Handles missing data and noisy features better than single-tree models.</a:t>
            </a:r>
          </a:p>
          <a:p>
            <a:pPr>
              <a:buFont typeface="Arial" panose="020B0604020202020204" pitchFamily="34" charset="0"/>
              <a:buChar char="•"/>
            </a:pPr>
            <a:endParaRPr lang="en-US">
              <a:effectLst/>
              <a:latin typeface="Helvetica" pitchFamily="2" charset="0"/>
            </a:endParaRPr>
          </a:p>
          <a:p>
            <a:pPr>
              <a:buFont typeface="Arial" panose="020B0604020202020204" pitchFamily="34" charset="0"/>
              <a:buChar char="•"/>
            </a:pPr>
            <a:r>
              <a:rPr lang="en-US">
                <a:effectLst/>
                <a:latin typeface="Helvetica" pitchFamily="2" charset="0"/>
              </a:rPr>
              <a:t>﻿﻿Feature Importance: Effectively identifies key predictors, improving interpretability.</a:t>
            </a:r>
          </a:p>
          <a:p>
            <a:pPr>
              <a:buFont typeface="Arial" panose="020B0604020202020204" pitchFamily="34" charset="0"/>
              <a:buChar char="•"/>
            </a:pPr>
            <a:endParaRPr lang="en-US">
              <a:effectLst/>
              <a:latin typeface="Helvetica" pitchFamily="2" charset="0"/>
            </a:endParaRPr>
          </a:p>
          <a:p>
            <a:pPr>
              <a:buFont typeface="Arial" panose="020B0604020202020204" pitchFamily="34" charset="0"/>
              <a:buChar char="•"/>
            </a:pPr>
            <a:r>
              <a:rPr lang="en-US">
                <a:effectLst/>
                <a:latin typeface="Helvetica" pitchFamily="2" charset="0"/>
              </a:rPr>
              <a:t>﻿﻿Balanced Bias-Variance: Avoids high variance of individual trees while maintaining predictive power.</a:t>
            </a:r>
          </a:p>
          <a:p>
            <a:pPr>
              <a:buFont typeface="Arial" panose="020B0604020202020204" pitchFamily="34" charset="0"/>
              <a:buChar char="•"/>
            </a:pPr>
            <a:endParaRPr lang="en-US">
              <a:effectLst/>
              <a:latin typeface="Helvetica" pitchFamily="2" charset="0"/>
            </a:endParaRPr>
          </a:p>
          <a:p>
            <a:pPr>
              <a:buFont typeface="Arial" panose="020B0604020202020204" pitchFamily="34" charset="0"/>
              <a:buChar char="•"/>
            </a:pPr>
            <a:r>
              <a:rPr lang="en-US">
                <a:effectLst/>
                <a:latin typeface="Helvetica" pitchFamily="2" charset="0"/>
              </a:rPr>
              <a:t>﻿﻿Consistent Performance: Achieved highest accuracy, precision, recall, and F1-score in our tests.</a:t>
            </a:r>
          </a:p>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20</a:t>
            </a:fld>
            <a:endParaRPr lang="en-US"/>
          </a:p>
        </p:txBody>
      </p:sp>
    </p:spTree>
    <p:extLst>
      <p:ext uri="{BB962C8B-B14F-4D97-AF65-F5344CB8AC3E}">
        <p14:creationId xmlns:p14="http://schemas.microsoft.com/office/powerpoint/2010/main" val="762852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610A0-1D6F-5DFB-8973-C2C27760E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7E20F-CAF6-BD24-B063-611A83591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4E337-EE31-06C4-EACA-48352B848E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868431-B46B-8773-2132-6E7D125995CD}"/>
              </a:ext>
            </a:extLst>
          </p:cNvPr>
          <p:cNvSpPr>
            <a:spLocks noGrp="1"/>
          </p:cNvSpPr>
          <p:nvPr>
            <p:ph type="sldNum" sz="quarter" idx="5"/>
          </p:nvPr>
        </p:nvSpPr>
        <p:spPr/>
        <p:txBody>
          <a:bodyPr/>
          <a:lstStyle/>
          <a:p>
            <a:fld id="{395438DD-A9C3-E048-9CF9-B984BCF11A6A}" type="slidenum">
              <a:rPr lang="en-US" smtClean="0"/>
              <a:t>21</a:t>
            </a:fld>
            <a:endParaRPr lang="en-US"/>
          </a:p>
        </p:txBody>
      </p:sp>
    </p:spTree>
    <p:extLst>
      <p:ext uri="{BB962C8B-B14F-4D97-AF65-F5344CB8AC3E}">
        <p14:creationId xmlns:p14="http://schemas.microsoft.com/office/powerpoint/2010/main" val="5789468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22</a:t>
            </a:fld>
            <a:endParaRPr lang="en-US"/>
          </a:p>
        </p:txBody>
      </p:sp>
    </p:spTree>
    <p:extLst>
      <p:ext uri="{BB962C8B-B14F-4D97-AF65-F5344CB8AC3E}">
        <p14:creationId xmlns:p14="http://schemas.microsoft.com/office/powerpoint/2010/main" val="2000684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23</a:t>
            </a:fld>
            <a:endParaRPr lang="en-US"/>
          </a:p>
        </p:txBody>
      </p:sp>
    </p:spTree>
    <p:extLst>
      <p:ext uri="{BB962C8B-B14F-4D97-AF65-F5344CB8AC3E}">
        <p14:creationId xmlns:p14="http://schemas.microsoft.com/office/powerpoint/2010/main" val="246311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will be taking it up from here about regression analysis. Today, I'll be discussing our analysis of a housing rent dataset using multiple linear and polynomial regression.</a:t>
            </a:r>
          </a:p>
        </p:txBody>
      </p:sp>
      <p:sp>
        <p:nvSpPr>
          <p:cNvPr id="4" name="Slide Number Placeholder 3"/>
          <p:cNvSpPr>
            <a:spLocks noGrp="1"/>
          </p:cNvSpPr>
          <p:nvPr>
            <p:ph type="sldNum" sz="quarter" idx="5"/>
          </p:nvPr>
        </p:nvSpPr>
        <p:spPr/>
        <p:txBody>
          <a:bodyPr/>
          <a:lstStyle/>
          <a:p>
            <a:fld id="{395438DD-A9C3-E048-9CF9-B984BCF11A6A}" type="slidenum">
              <a:rPr lang="en-US" smtClean="0"/>
              <a:t>24</a:t>
            </a:fld>
            <a:endParaRPr lang="en-US"/>
          </a:p>
        </p:txBody>
      </p:sp>
    </p:spTree>
    <p:extLst>
      <p:ext uri="{BB962C8B-B14F-4D97-AF65-F5344CB8AC3E}">
        <p14:creationId xmlns:p14="http://schemas.microsoft.com/office/powerpoint/2010/main" val="21801312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54B69-F11B-1607-0C3D-94A062977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60FBA-48B3-2F47-F47E-FD1CEC6243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19B6FF-B6AC-B1CD-B14B-6C8E94EC1BA1}"/>
              </a:ext>
            </a:extLst>
          </p:cNvPr>
          <p:cNvSpPr>
            <a:spLocks noGrp="1"/>
          </p:cNvSpPr>
          <p:nvPr>
            <p:ph type="body" idx="1"/>
          </p:nvPr>
        </p:nvSpPr>
        <p:spPr/>
        <p:txBody>
          <a:bodyPr/>
          <a:lstStyle/>
          <a:p>
            <a:r>
              <a:rPr lang="en-US" b="1" dirty="0"/>
              <a:t>- A quick overview</a:t>
            </a:r>
            <a:r>
              <a:rPr lang="en-US" dirty="0"/>
              <a:t> – this dataset consists of rental listings from various cities, providing details like rent price, property size, number of bedrooms, and other relevant attributes.</a:t>
            </a:r>
          </a:p>
          <a:p>
            <a:endParaRPr lang="en-US" dirty="0"/>
          </a:p>
          <a:p>
            <a:r>
              <a:rPr lang="en-US" b="1" dirty="0"/>
              <a:t>- Key features include</a:t>
            </a:r>
            <a:r>
              <a:rPr lang="en-US" dirty="0"/>
              <a:t> 12 columns and 4746 entries, with a mix of numerical and categorical data. </a:t>
            </a:r>
          </a:p>
          <a:p>
            <a:r>
              <a:rPr lang="en-US" dirty="0"/>
              <a:t>- Our target variable is rent, which we aim to predict using various property characteristics.</a:t>
            </a:r>
          </a:p>
          <a:p>
            <a:r>
              <a:rPr lang="en-US" b="1" dirty="0"/>
              <a:t>- Our main objective</a:t>
            </a:r>
            <a:r>
              <a:rPr lang="en-US" dirty="0"/>
              <a:t> is to develop regression models that can estimate rental prices based on key factors like size, furnishing status, and location. </a:t>
            </a:r>
          </a:p>
          <a:p>
            <a:pPr marL="171450" indent="-171450">
              <a:buFontTx/>
              <a:buChar char="-"/>
            </a:pPr>
            <a:r>
              <a:rPr lang="en-US" dirty="0"/>
              <a:t>Through this, we hope to understand which features have the most significant impact on rent and improve decision-making for renters and property owners.</a:t>
            </a:r>
          </a:p>
          <a:p>
            <a:r>
              <a:rPr lang="en-US" dirty="0"/>
              <a:t>- With that, let’s dive into the dataset and explore the methodology!"</a:t>
            </a:r>
          </a:p>
          <a:p>
            <a:endParaRPr lang="en-US" dirty="0"/>
          </a:p>
        </p:txBody>
      </p:sp>
      <p:sp>
        <p:nvSpPr>
          <p:cNvPr id="4" name="Slide Number Placeholder 3">
            <a:extLst>
              <a:ext uri="{FF2B5EF4-FFF2-40B4-BE49-F238E27FC236}">
                <a16:creationId xmlns:a16="http://schemas.microsoft.com/office/drawing/2014/main" id="{82BC5FF8-E94E-8A78-EF0D-678E3868A710}"/>
              </a:ext>
            </a:extLst>
          </p:cNvPr>
          <p:cNvSpPr>
            <a:spLocks noGrp="1"/>
          </p:cNvSpPr>
          <p:nvPr>
            <p:ph type="sldNum" sz="quarter" idx="5"/>
          </p:nvPr>
        </p:nvSpPr>
        <p:spPr/>
        <p:txBody>
          <a:bodyPr/>
          <a:lstStyle/>
          <a:p>
            <a:fld id="{395438DD-A9C3-E048-9CF9-B984BCF11A6A}" type="slidenum">
              <a:rPr lang="en-US" smtClean="0"/>
              <a:t>25</a:t>
            </a:fld>
            <a:endParaRPr lang="en-US"/>
          </a:p>
        </p:txBody>
      </p:sp>
    </p:spTree>
    <p:extLst>
      <p:ext uri="{BB962C8B-B14F-4D97-AF65-F5344CB8AC3E}">
        <p14:creationId xmlns:p14="http://schemas.microsoft.com/office/powerpoint/2010/main" val="4238788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77461-7FF7-39E6-109D-913CE8554E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369BE-AC8C-CBB0-4DBE-70B20BD239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F789AE-BB55-EC16-9012-97C7EB9B96FF}"/>
              </a:ext>
            </a:extLst>
          </p:cNvPr>
          <p:cNvSpPr>
            <a:spLocks noGrp="1"/>
          </p:cNvSpPr>
          <p:nvPr>
            <p:ph type="body" idx="1"/>
          </p:nvPr>
        </p:nvSpPr>
        <p:spPr/>
        <p:txBody>
          <a:bodyPr/>
          <a:lstStyle/>
          <a:p>
            <a:r>
              <a:rPr lang="en-US" b="0" i="0" dirty="0">
                <a:solidFill>
                  <a:srgbClr val="374151"/>
                </a:solidFill>
                <a:effectLst/>
                <a:latin typeface="__foundersGrotesk_c3e0d2"/>
              </a:rPr>
              <a:t>Before applying machine learning models, it's crucial to preprocess data to ensure accuracy and reliability. </a:t>
            </a:r>
          </a:p>
          <a:p>
            <a:r>
              <a:rPr lang="en-US" b="0" i="0" dirty="0">
                <a:solidFill>
                  <a:srgbClr val="374151"/>
                </a:solidFill>
                <a:effectLst/>
                <a:latin typeface="__foundersGrotesk_c3e0d2"/>
              </a:rPr>
              <a:t>Our dataset consisted of multiple features requiring cleaning, transformation, and structuring for optimal classification. </a:t>
            </a:r>
          </a:p>
          <a:p>
            <a:r>
              <a:rPr lang="en-US" b="0" i="0" dirty="0">
                <a:solidFill>
                  <a:srgbClr val="374151"/>
                </a:solidFill>
                <a:effectLst/>
                <a:latin typeface="__foundersGrotesk_c3e0d2"/>
              </a:rPr>
              <a:t>Address missing values using imputation techniques and enhanced model performance through feature engineering. </a:t>
            </a:r>
            <a:endParaRPr lang="en-US" dirty="0">
              <a:solidFill>
                <a:srgbClr val="374151"/>
              </a:solidFill>
              <a:latin typeface="__foundersGrotesk_c3e0d2"/>
            </a:endParaRPr>
          </a:p>
          <a:p>
            <a:r>
              <a:rPr lang="en-US" b="0" i="0" dirty="0">
                <a:solidFill>
                  <a:srgbClr val="374151"/>
                </a:solidFill>
                <a:effectLst/>
                <a:latin typeface="__foundersGrotesk_c3e0d2"/>
              </a:rPr>
              <a:t>Data normalization ensured that models like KNN, which are sensitive to scale, performed effectively. </a:t>
            </a:r>
          </a:p>
          <a:p>
            <a:r>
              <a:rPr lang="en-US" b="0" i="0" dirty="0">
                <a:solidFill>
                  <a:srgbClr val="374151"/>
                </a:solidFill>
                <a:effectLst/>
                <a:latin typeface="__foundersGrotesk_c3e0d2"/>
              </a:rPr>
              <a:t>Finally, we split our dataset into training and testing sets, ensuring a fair evaluation of our models. </a:t>
            </a:r>
          </a:p>
          <a:p>
            <a:endParaRPr lang="en-US" b="0" i="0" dirty="0">
              <a:solidFill>
                <a:srgbClr val="374151"/>
              </a:solidFill>
              <a:effectLst/>
              <a:latin typeface="__foundersGrotesk_c3e0d2"/>
            </a:endParaRPr>
          </a:p>
          <a:p>
            <a:r>
              <a:rPr lang="en-US" b="0" i="0" dirty="0">
                <a:solidFill>
                  <a:srgbClr val="374151"/>
                </a:solidFill>
                <a:effectLst/>
                <a:latin typeface="__foundersGrotesk_c3e0d2"/>
              </a:rPr>
              <a:t>Proper preprocessing lays the foundation for accurate and meaningful predictions.</a:t>
            </a:r>
            <a:endParaRPr lang="en-US" dirty="0"/>
          </a:p>
          <a:p>
            <a:endParaRPr lang="en-US" dirty="0"/>
          </a:p>
        </p:txBody>
      </p:sp>
      <p:sp>
        <p:nvSpPr>
          <p:cNvPr id="4" name="Slide Number Placeholder 3">
            <a:extLst>
              <a:ext uri="{FF2B5EF4-FFF2-40B4-BE49-F238E27FC236}">
                <a16:creationId xmlns:a16="http://schemas.microsoft.com/office/drawing/2014/main" id="{FDB1E18B-B99B-ECCB-8FE2-BA5C17176FD7}"/>
              </a:ext>
            </a:extLst>
          </p:cNvPr>
          <p:cNvSpPr>
            <a:spLocks noGrp="1"/>
          </p:cNvSpPr>
          <p:nvPr>
            <p:ph type="sldNum" sz="quarter" idx="5"/>
          </p:nvPr>
        </p:nvSpPr>
        <p:spPr/>
        <p:txBody>
          <a:bodyPr/>
          <a:lstStyle/>
          <a:p>
            <a:fld id="{395438DD-A9C3-E048-9CF9-B984BCF11A6A}" type="slidenum">
              <a:rPr lang="en-US" smtClean="0"/>
              <a:t>26</a:t>
            </a:fld>
            <a:endParaRPr lang="en-US"/>
          </a:p>
        </p:txBody>
      </p:sp>
    </p:spTree>
    <p:extLst>
      <p:ext uri="{BB962C8B-B14F-4D97-AF65-F5344CB8AC3E}">
        <p14:creationId xmlns:p14="http://schemas.microsoft.com/office/powerpoint/2010/main" val="13835159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as we can see this is the head of our </a:t>
            </a:r>
            <a:r>
              <a:rPr lang="en-US" dirty="0" err="1"/>
              <a:t>dataframe</a:t>
            </a:r>
            <a:r>
              <a:rPr lang="en-US" dirty="0"/>
              <a:t> which shows just the independent variables that help predict our target variable – rent. Here we have converted the categorical variables to numerical values.</a:t>
            </a:r>
          </a:p>
        </p:txBody>
      </p:sp>
      <p:sp>
        <p:nvSpPr>
          <p:cNvPr id="4" name="Slide Number Placeholder 3"/>
          <p:cNvSpPr>
            <a:spLocks noGrp="1"/>
          </p:cNvSpPr>
          <p:nvPr>
            <p:ph type="sldNum" sz="quarter" idx="5"/>
          </p:nvPr>
        </p:nvSpPr>
        <p:spPr/>
        <p:txBody>
          <a:bodyPr/>
          <a:lstStyle/>
          <a:p>
            <a:fld id="{395438DD-A9C3-E048-9CF9-B984BCF11A6A}" type="slidenum">
              <a:rPr lang="en-US" smtClean="0"/>
              <a:t>27</a:t>
            </a:fld>
            <a:endParaRPr lang="en-US"/>
          </a:p>
        </p:txBody>
      </p:sp>
    </p:spTree>
    <p:extLst>
      <p:ext uri="{BB962C8B-B14F-4D97-AF65-F5344CB8AC3E}">
        <p14:creationId xmlns:p14="http://schemas.microsoft.com/office/powerpoint/2010/main" val="30354451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1" u="none" strike="noStrike" dirty="0">
                <a:solidFill>
                  <a:srgbClr val="404040"/>
                </a:solidFill>
                <a:effectLst/>
                <a:latin typeface="KaTeX_Math"/>
              </a:rPr>
              <a:t>y</a:t>
            </a:r>
            <a:r>
              <a:rPr lang="en-US" b="0" i="0" u="none" strike="noStrike" dirty="0">
                <a:solidFill>
                  <a:srgbClr val="404040"/>
                </a:solidFill>
                <a:effectLst/>
                <a:latin typeface="Inter"/>
              </a:rPr>
              <a:t> is the dependent variable (the variable you are trying to predict).</a:t>
            </a:r>
          </a:p>
          <a:p>
            <a:pPr algn="l">
              <a:spcBef>
                <a:spcPts val="300"/>
              </a:spcBef>
              <a:buFont typeface="Arial" panose="020B0604020202020204" pitchFamily="34" charset="0"/>
              <a:buChar char="•"/>
            </a:pPr>
            <a:r>
              <a:rPr lang="el-GR" b="0" i="1" u="none" strike="noStrike" dirty="0">
                <a:solidFill>
                  <a:srgbClr val="404040"/>
                </a:solidFill>
                <a:effectLst/>
                <a:latin typeface="KaTeX_Math"/>
              </a:rPr>
              <a:t>β</a:t>
            </a:r>
            <a:r>
              <a:rPr lang="el-GR" b="0" i="0" u="none" strike="noStrike" dirty="0">
                <a:solidFill>
                  <a:srgbClr val="404040"/>
                </a:solidFill>
                <a:effectLst/>
                <a:latin typeface="KaTeX_Main"/>
              </a:rPr>
              <a:t>0​</a:t>
            </a:r>
            <a:r>
              <a:rPr lang="el-GR" b="0" i="0" u="none" strike="noStrike" dirty="0">
                <a:solidFill>
                  <a:srgbClr val="404040"/>
                </a:solidFill>
                <a:effectLst/>
                <a:latin typeface="Inter"/>
              </a:rPr>
              <a:t> </a:t>
            </a:r>
            <a:r>
              <a:rPr lang="en-US" b="0" i="0" u="none" strike="noStrike" dirty="0">
                <a:solidFill>
                  <a:srgbClr val="404040"/>
                </a:solidFill>
                <a:effectLst/>
                <a:latin typeface="Inter"/>
              </a:rPr>
              <a:t>is the intercept term.</a:t>
            </a:r>
          </a:p>
          <a:p>
            <a:endParaRPr lang="en-US" dirty="0"/>
          </a:p>
        </p:txBody>
      </p:sp>
      <p:sp>
        <p:nvSpPr>
          <p:cNvPr id="4" name="Slide Number Placeholder 3"/>
          <p:cNvSpPr>
            <a:spLocks noGrp="1"/>
          </p:cNvSpPr>
          <p:nvPr>
            <p:ph type="sldNum" sz="quarter" idx="5"/>
          </p:nvPr>
        </p:nvSpPr>
        <p:spPr/>
        <p:txBody>
          <a:bodyPr/>
          <a:lstStyle/>
          <a:p>
            <a:fld id="{395438DD-A9C3-E048-9CF9-B984BCF11A6A}" type="slidenum">
              <a:rPr lang="en-US" smtClean="0"/>
              <a:t>28</a:t>
            </a:fld>
            <a:endParaRPr lang="en-US"/>
          </a:p>
        </p:txBody>
      </p:sp>
    </p:spTree>
    <p:extLst>
      <p:ext uri="{BB962C8B-B14F-4D97-AF65-F5344CB8AC3E}">
        <p14:creationId xmlns:p14="http://schemas.microsoft.com/office/powerpoint/2010/main" val="22005137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determine relationship between dependent and independent variables.</a:t>
            </a:r>
          </a:p>
        </p:txBody>
      </p:sp>
      <p:sp>
        <p:nvSpPr>
          <p:cNvPr id="4" name="Slide Number Placeholder 3"/>
          <p:cNvSpPr>
            <a:spLocks noGrp="1"/>
          </p:cNvSpPr>
          <p:nvPr>
            <p:ph type="sldNum" sz="quarter" idx="5"/>
          </p:nvPr>
        </p:nvSpPr>
        <p:spPr/>
        <p:txBody>
          <a:bodyPr/>
          <a:lstStyle/>
          <a:p>
            <a:fld id="{395438DD-A9C3-E048-9CF9-B984BCF11A6A}" type="slidenum">
              <a:rPr lang="en-US" smtClean="0"/>
              <a:t>30</a:t>
            </a:fld>
            <a:endParaRPr lang="en-US"/>
          </a:p>
        </p:txBody>
      </p:sp>
    </p:spTree>
    <p:extLst>
      <p:ext uri="{BB962C8B-B14F-4D97-AF65-F5344CB8AC3E}">
        <p14:creationId xmlns:p14="http://schemas.microsoft.com/office/powerpoint/2010/main" val="32679529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Polynomial reg with degree 2 provides the best fit model. </a:t>
            </a:r>
          </a:p>
          <a:p>
            <a:endParaRPr lang="en-US"/>
          </a:p>
        </p:txBody>
      </p:sp>
      <p:sp>
        <p:nvSpPr>
          <p:cNvPr id="4" name="Slide Number Placeholder 3"/>
          <p:cNvSpPr>
            <a:spLocks noGrp="1"/>
          </p:cNvSpPr>
          <p:nvPr>
            <p:ph type="sldNum" sz="quarter" idx="5"/>
          </p:nvPr>
        </p:nvSpPr>
        <p:spPr/>
        <p:txBody>
          <a:bodyPr/>
          <a:lstStyle/>
          <a:p>
            <a:fld id="{395438DD-A9C3-E048-9CF9-B984BCF11A6A}" type="slidenum">
              <a:rPr lang="en-US" smtClean="0"/>
              <a:t>32</a:t>
            </a:fld>
            <a:endParaRPr lang="en-US"/>
          </a:p>
        </p:txBody>
      </p:sp>
    </p:spTree>
    <p:extLst>
      <p:ext uri="{BB962C8B-B14F-4D97-AF65-F5344CB8AC3E}">
        <p14:creationId xmlns:p14="http://schemas.microsoft.com/office/powerpoint/2010/main" val="41692994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good model fit indicates that the model is</a:t>
            </a:r>
            <a:br>
              <a:rPr lang="en-US"/>
            </a:br>
            <a:r>
              <a:rPr lang="en-US"/>
              <a:t>able to accurately capture the relationship</a:t>
            </a:r>
            <a:br>
              <a:rPr lang="en-US"/>
            </a:br>
            <a:r>
              <a:rPr lang="en-US"/>
              <a:t>between the dependent and independent</a:t>
            </a:r>
            <a:br>
              <a:rPr lang="en-US"/>
            </a:br>
            <a:r>
              <a:rPr lang="en-US"/>
              <a:t>variables.</a:t>
            </a:r>
          </a:p>
        </p:txBody>
      </p:sp>
      <p:sp>
        <p:nvSpPr>
          <p:cNvPr id="4" name="Slide Number Placeholder 3"/>
          <p:cNvSpPr>
            <a:spLocks noGrp="1"/>
          </p:cNvSpPr>
          <p:nvPr>
            <p:ph type="sldNum" sz="quarter" idx="5"/>
          </p:nvPr>
        </p:nvSpPr>
        <p:spPr/>
        <p:txBody>
          <a:bodyPr/>
          <a:lstStyle/>
          <a:p>
            <a:fld id="{395438DD-A9C3-E048-9CF9-B984BCF11A6A}" type="slidenum">
              <a:rPr lang="en-US" smtClean="0"/>
              <a:t>33</a:t>
            </a:fld>
            <a:endParaRPr lang="en-US"/>
          </a:p>
        </p:txBody>
      </p:sp>
    </p:spTree>
    <p:extLst>
      <p:ext uri="{BB962C8B-B14F-4D97-AF65-F5344CB8AC3E}">
        <p14:creationId xmlns:p14="http://schemas.microsoft.com/office/powerpoint/2010/main" val="17108420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Strong positive correlation with </a:t>
            </a:r>
            <a:r>
              <a:rPr lang="en-US" b="1"/>
              <a:t>Bathroom</a:t>
            </a:r>
            <a:r>
              <a:rPr lang="en-US"/>
              <a:t> (0.79) and BHK.</a:t>
            </a:r>
          </a:p>
          <a:p>
            <a:pPr marL="285750" indent="-285750">
              <a:buFont typeface="Arial"/>
              <a:buChar char="•"/>
            </a:pPr>
            <a:r>
              <a:rPr lang="en-US"/>
              <a:t>Strong positive correlation with </a:t>
            </a:r>
            <a:r>
              <a:rPr lang="en-US" b="1"/>
              <a:t>Size</a:t>
            </a:r>
            <a:r>
              <a:rPr lang="en-US"/>
              <a:t> (0.74) and Bathroom.</a:t>
            </a:r>
          </a:p>
          <a:p>
            <a:pPr marL="285750" indent="-285750">
              <a:buFont typeface="Arial"/>
              <a:buChar char="•"/>
            </a:pPr>
            <a:r>
              <a:rPr lang="en-US"/>
              <a:t>Strong positive correlation with </a:t>
            </a:r>
            <a:r>
              <a:rPr lang="en-US" b="1"/>
              <a:t>BHK </a:t>
            </a:r>
            <a:r>
              <a:rPr lang="en-US"/>
              <a:t>(0.71) and </a:t>
            </a:r>
            <a:r>
              <a:rPr lang="en-US" b="1"/>
              <a:t>Size</a:t>
            </a:r>
            <a:r>
              <a:rPr lang="en-US"/>
              <a:t>.</a:t>
            </a:r>
          </a:p>
          <a:p>
            <a:r>
              <a:rPr lang="en-US"/>
              <a:t>The heatmap indicates that some variables are highly correlated with each other (e.g., BHK Size and Bathroom), which might indicate multicollinearity in a regression model. This could affect the performance and interpretability of the model, so it might be necessary to address these correlations, possibly by removing or combining some variables.</a:t>
            </a:r>
          </a:p>
        </p:txBody>
      </p:sp>
      <p:sp>
        <p:nvSpPr>
          <p:cNvPr id="4" name="Slide Number Placeholder 3"/>
          <p:cNvSpPr>
            <a:spLocks noGrp="1"/>
          </p:cNvSpPr>
          <p:nvPr>
            <p:ph type="sldNum" sz="quarter" idx="5"/>
          </p:nvPr>
        </p:nvSpPr>
        <p:spPr/>
        <p:txBody>
          <a:bodyPr/>
          <a:lstStyle/>
          <a:p>
            <a:fld id="{395438DD-A9C3-E048-9CF9-B984BCF11A6A}" type="slidenum">
              <a:rPr lang="en-US" smtClean="0"/>
              <a:t>34</a:t>
            </a:fld>
            <a:endParaRPr lang="en-US"/>
          </a:p>
        </p:txBody>
      </p:sp>
    </p:spTree>
    <p:extLst>
      <p:ext uri="{BB962C8B-B14F-4D97-AF65-F5344CB8AC3E}">
        <p14:creationId xmlns:p14="http://schemas.microsoft.com/office/powerpoint/2010/main" val="2144907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E8A1-6DA8-4496-BCE8-03ED561CC4E5}"/>
              </a:ext>
            </a:extLst>
          </p:cNvPr>
          <p:cNvSpPr>
            <a:spLocks noGrp="1"/>
          </p:cNvSpPr>
          <p:nvPr>
            <p:ph type="ctrTitle"/>
          </p:nvPr>
        </p:nvSpPr>
        <p:spPr>
          <a:xfrm>
            <a:off x="838200" y="365760"/>
            <a:ext cx="10515600" cy="2890202"/>
          </a:xfrm>
        </p:spPr>
        <p:txBody>
          <a:bodyPr anchor="b">
            <a:normAutofit/>
          </a:bodyPr>
          <a:lstStyle>
            <a:lvl1pPr algn="l">
              <a:defRPr sz="6600"/>
            </a:lvl1pPr>
          </a:lstStyle>
          <a:p>
            <a:r>
              <a:rPr lang="en-US"/>
              <a:t>Click to edit Master title style</a:t>
            </a:r>
          </a:p>
        </p:txBody>
      </p:sp>
      <p:sp>
        <p:nvSpPr>
          <p:cNvPr id="3" name="Subtitle 2">
            <a:extLst>
              <a:ext uri="{FF2B5EF4-FFF2-40B4-BE49-F238E27FC236}">
                <a16:creationId xmlns:a16="http://schemas.microsoft.com/office/drawing/2014/main" id="{3EB24CCC-3D44-4BB5-AA35-A21607EF69A4}"/>
              </a:ext>
            </a:extLst>
          </p:cNvPr>
          <p:cNvSpPr>
            <a:spLocks noGrp="1"/>
          </p:cNvSpPr>
          <p:nvPr>
            <p:ph type="subTitle" idx="1"/>
          </p:nvPr>
        </p:nvSpPr>
        <p:spPr>
          <a:xfrm>
            <a:off x="838200" y="3506150"/>
            <a:ext cx="10515600" cy="248348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1F80F6-1855-44E9-BA95-5E00A06E786D}"/>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5" name="Footer Placeholder 4">
            <a:extLst>
              <a:ext uri="{FF2B5EF4-FFF2-40B4-BE49-F238E27FC236}">
                <a16:creationId xmlns:a16="http://schemas.microsoft.com/office/drawing/2014/main" id="{873D7FFD-570A-4968-B943-AF87BB679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CE6A8-0665-4714-B241-6AFBA8C6F80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485312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2A8A8-ECDA-4018-ABB4-CC22892BE8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90AE7C-51AF-4F0E-B5A3-8C7E1026C2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F28C09-A717-49AB-B60E-433BC469258F}"/>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5" name="Footer Placeholder 4">
            <a:extLst>
              <a:ext uri="{FF2B5EF4-FFF2-40B4-BE49-F238E27FC236}">
                <a16:creationId xmlns:a16="http://schemas.microsoft.com/office/drawing/2014/main" id="{1D11A47A-6E5A-4754-8B43-9CE556160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CA1EB-7AC7-4F86-90C0-AA980D88722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35215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5957-C46F-4F17-BC8C-6507E676E916}"/>
              </a:ext>
            </a:extLst>
          </p:cNvPr>
          <p:cNvSpPr>
            <a:spLocks noGrp="1"/>
          </p:cNvSpPr>
          <p:nvPr>
            <p:ph type="title"/>
          </p:nvPr>
        </p:nvSpPr>
        <p:spPr>
          <a:xfrm>
            <a:off x="831850" y="365760"/>
            <a:ext cx="10515600" cy="3827868"/>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D9661B-6633-4C8B-8B9C-E514DF851D3E}"/>
              </a:ext>
            </a:extLst>
          </p:cNvPr>
          <p:cNvSpPr>
            <a:spLocks noGrp="1"/>
          </p:cNvSpPr>
          <p:nvPr>
            <p:ph type="body" idx="1"/>
          </p:nvPr>
        </p:nvSpPr>
        <p:spPr>
          <a:xfrm>
            <a:off x="831850" y="4443817"/>
            <a:ext cx="10515600" cy="1645834"/>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6274BF-C1CD-4709-B0A0-E9407DBEA73C}"/>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5" name="Footer Placeholder 4">
            <a:extLst>
              <a:ext uri="{FF2B5EF4-FFF2-40B4-BE49-F238E27FC236}">
                <a16:creationId xmlns:a16="http://schemas.microsoft.com/office/drawing/2014/main" id="{CC9ADB94-0A5B-4B56-B0B1-1FF5580A47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A668A-35AE-4CDF-AC4C-2BEEA9EE80F8}"/>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794340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7F1FD-0E96-4963-9F09-92861572BB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79E5F0-B650-4AFF-B90E-23B378684D66}"/>
              </a:ext>
            </a:extLst>
          </p:cNvPr>
          <p:cNvSpPr>
            <a:spLocks noGrp="1"/>
          </p:cNvSpPr>
          <p:nvPr>
            <p:ph sz="half" idx="1"/>
          </p:nvPr>
        </p:nvSpPr>
        <p:spPr>
          <a:xfrm>
            <a:off x="838200" y="1940876"/>
            <a:ext cx="5181600" cy="423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D1747B-302D-476E-8F4F-E4B114C6624E}"/>
              </a:ext>
            </a:extLst>
          </p:cNvPr>
          <p:cNvSpPr>
            <a:spLocks noGrp="1"/>
          </p:cNvSpPr>
          <p:nvPr>
            <p:ph sz="half" idx="2"/>
          </p:nvPr>
        </p:nvSpPr>
        <p:spPr>
          <a:xfrm>
            <a:off x="6172200" y="1940876"/>
            <a:ext cx="5181600" cy="423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40577D-22F7-4958-BB3D-6C9265EA1964}"/>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6" name="Footer Placeholder 5">
            <a:extLst>
              <a:ext uri="{FF2B5EF4-FFF2-40B4-BE49-F238E27FC236}">
                <a16:creationId xmlns:a16="http://schemas.microsoft.com/office/drawing/2014/main" id="{71EC5B46-A8FB-4683-9618-3F6E07383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887BD-93E9-4181-9D7F-940C3E1730FF}"/>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005388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3D79-FA27-4567-9032-AF722733E1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77C1BF-703F-4992-BB0C-EB1E579C7410}"/>
              </a:ext>
            </a:extLst>
          </p:cNvPr>
          <p:cNvSpPr>
            <a:spLocks noGrp="1"/>
          </p:cNvSpPr>
          <p:nvPr>
            <p:ph type="body" idx="1"/>
          </p:nvPr>
        </p:nvSpPr>
        <p:spPr>
          <a:xfrm>
            <a:off x="839788" y="1951823"/>
            <a:ext cx="5157787"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B2FCE1-6DC0-43B5-8016-89FD4AF5ABD2}"/>
              </a:ext>
            </a:extLst>
          </p:cNvPr>
          <p:cNvSpPr>
            <a:spLocks noGrp="1"/>
          </p:cNvSpPr>
          <p:nvPr>
            <p:ph sz="half" idx="2"/>
          </p:nvPr>
        </p:nvSpPr>
        <p:spPr>
          <a:xfrm>
            <a:off x="839788" y="2954741"/>
            <a:ext cx="5157787" cy="3234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2FED7A-67D0-43CC-889A-25F8849647F1}"/>
              </a:ext>
            </a:extLst>
          </p:cNvPr>
          <p:cNvSpPr>
            <a:spLocks noGrp="1"/>
          </p:cNvSpPr>
          <p:nvPr>
            <p:ph type="body" sz="quarter" idx="3"/>
          </p:nvPr>
        </p:nvSpPr>
        <p:spPr>
          <a:xfrm>
            <a:off x="6172200" y="1951823"/>
            <a:ext cx="5183188"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31C176-48F2-44EC-B3A2-A144403D57FB}"/>
              </a:ext>
            </a:extLst>
          </p:cNvPr>
          <p:cNvSpPr>
            <a:spLocks noGrp="1"/>
          </p:cNvSpPr>
          <p:nvPr>
            <p:ph sz="quarter" idx="4"/>
          </p:nvPr>
        </p:nvSpPr>
        <p:spPr>
          <a:xfrm>
            <a:off x="6172200" y="2954741"/>
            <a:ext cx="5183188" cy="3234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9187B8-AC48-4FE7-8658-8A31E37311F6}"/>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8" name="Footer Placeholder 7">
            <a:extLst>
              <a:ext uri="{FF2B5EF4-FFF2-40B4-BE49-F238E27FC236}">
                <a16:creationId xmlns:a16="http://schemas.microsoft.com/office/drawing/2014/main" id="{7CCAB465-E22E-45DC-89C9-406121BCED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F9D1CF-F964-4405-8677-5F9E2A02878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725590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3453-DD0F-41C0-8F4A-5DC343F5EB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4E6313-506F-4456-B3D9-D9655538F9FB}"/>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4" name="Footer Placeholder 3">
            <a:extLst>
              <a:ext uri="{FF2B5EF4-FFF2-40B4-BE49-F238E27FC236}">
                <a16:creationId xmlns:a16="http://schemas.microsoft.com/office/drawing/2014/main" id="{E8F26068-7707-41EC-93EF-A24CAF8FFD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9C8A3C-8C01-4039-B47B-57D8497587A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436328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92633-8C77-419D-B24D-2B3D44DBA556}"/>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3" name="Footer Placeholder 2">
            <a:extLst>
              <a:ext uri="{FF2B5EF4-FFF2-40B4-BE49-F238E27FC236}">
                <a16:creationId xmlns:a16="http://schemas.microsoft.com/office/drawing/2014/main" id="{FD149D59-0A88-4A14-A740-4CCD9B5264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3DEF9-802F-444E-92D2-397862EEAB0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611793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3C20-3881-4F15-94F7-9D7B9F9E357A}"/>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US"/>
              <a:t>Click to edit Master title style</a:t>
            </a:r>
          </a:p>
        </p:txBody>
      </p:sp>
      <p:sp>
        <p:nvSpPr>
          <p:cNvPr id="3" name="Content Placeholder 2">
            <a:extLst>
              <a:ext uri="{FF2B5EF4-FFF2-40B4-BE49-F238E27FC236}">
                <a16:creationId xmlns:a16="http://schemas.microsoft.com/office/drawing/2014/main" id="{B268F40F-6C2A-48EC-8F16-DA179A1DA375}"/>
              </a:ext>
            </a:extLst>
          </p:cNvPr>
          <p:cNvSpPr>
            <a:spLocks noGrp="1"/>
          </p:cNvSpPr>
          <p:nvPr>
            <p:ph idx="1"/>
          </p:nvPr>
        </p:nvSpPr>
        <p:spPr>
          <a:xfrm>
            <a:off x="5554638" y="457201"/>
            <a:ext cx="5800749" cy="540385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736B7E-D33D-48C7-97AC-5C0D9874FE53}"/>
              </a:ext>
            </a:extLst>
          </p:cNvPr>
          <p:cNvSpPr>
            <a:spLocks noGrp="1"/>
          </p:cNvSpPr>
          <p:nvPr>
            <p:ph type="body" sz="half" idx="2"/>
          </p:nvPr>
        </p:nvSpPr>
        <p:spPr>
          <a:xfrm>
            <a:off x="839788" y="3657600"/>
            <a:ext cx="4343400" cy="2211387"/>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5" name="Date Placeholder 4">
            <a:extLst>
              <a:ext uri="{FF2B5EF4-FFF2-40B4-BE49-F238E27FC236}">
                <a16:creationId xmlns:a16="http://schemas.microsoft.com/office/drawing/2014/main" id="{E9149BC5-FF58-463A-B4FA-F0F912F1234F}"/>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6" name="Footer Placeholder 5">
            <a:extLst>
              <a:ext uri="{FF2B5EF4-FFF2-40B4-BE49-F238E27FC236}">
                <a16:creationId xmlns:a16="http://schemas.microsoft.com/office/drawing/2014/main" id="{947072D7-4A2A-407F-A084-6AE8DD0016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D4C41C-C368-475C-BDC1-DC5B29C7800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277616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F67B0-865B-44ED-9DFE-36C73B0C8B43}"/>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US"/>
              <a:t>Click to edit Master title style</a:t>
            </a:r>
          </a:p>
        </p:txBody>
      </p:sp>
      <p:sp>
        <p:nvSpPr>
          <p:cNvPr id="3" name="Picture Placeholder 2">
            <a:extLst>
              <a:ext uri="{FF2B5EF4-FFF2-40B4-BE49-F238E27FC236}">
                <a16:creationId xmlns:a16="http://schemas.microsoft.com/office/drawing/2014/main" id="{B73C5CF7-138A-437C-9E0A-FF4179970319}"/>
              </a:ext>
            </a:extLst>
          </p:cNvPr>
          <p:cNvSpPr>
            <a:spLocks noGrp="1"/>
          </p:cNvSpPr>
          <p:nvPr>
            <p:ph type="pic" idx="1"/>
          </p:nvPr>
        </p:nvSpPr>
        <p:spPr>
          <a:xfrm>
            <a:off x="5561462" y="457201"/>
            <a:ext cx="5793925"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117822-7770-4117-96A2-8D2FF0A01044}"/>
              </a:ext>
            </a:extLst>
          </p:cNvPr>
          <p:cNvSpPr>
            <a:spLocks noGrp="1"/>
          </p:cNvSpPr>
          <p:nvPr>
            <p:ph type="body" sz="half" idx="2"/>
          </p:nvPr>
        </p:nvSpPr>
        <p:spPr>
          <a:xfrm>
            <a:off x="839788" y="3664424"/>
            <a:ext cx="4343400" cy="2204564"/>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5" name="Date Placeholder 4">
            <a:extLst>
              <a:ext uri="{FF2B5EF4-FFF2-40B4-BE49-F238E27FC236}">
                <a16:creationId xmlns:a16="http://schemas.microsoft.com/office/drawing/2014/main" id="{11295030-39C7-4814-A766-1A3E094EBA15}"/>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6" name="Footer Placeholder 5">
            <a:extLst>
              <a:ext uri="{FF2B5EF4-FFF2-40B4-BE49-F238E27FC236}">
                <a16:creationId xmlns:a16="http://schemas.microsoft.com/office/drawing/2014/main" id="{B91F02CD-DC87-47B6-96C4-F6470B1D8F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FF531-02C2-4C1D-A692-7040378066C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581149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26EC-DC54-4882-9D58-F201EA25C4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804E7C-4CBA-49AF-B24C-1A1FF51C21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3C727-C0C7-4BBA-9CF5-6C1FAC76B10C}"/>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5" name="Footer Placeholder 4">
            <a:extLst>
              <a:ext uri="{FF2B5EF4-FFF2-40B4-BE49-F238E27FC236}">
                <a16:creationId xmlns:a16="http://schemas.microsoft.com/office/drawing/2014/main" id="{34603986-C5B4-4956-AC6F-4F36186B8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5F941-E847-4C51-97D6-21066B26EB26}"/>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603767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0338D2-D9EE-4B67-97C1-08ABD574530B}"/>
              </a:ext>
            </a:extLst>
          </p:cNvPr>
          <p:cNvSpPr>
            <a:spLocks noGrp="1"/>
          </p:cNvSpPr>
          <p:nvPr>
            <p:ph type="title" orient="vert"/>
          </p:nvPr>
        </p:nvSpPr>
        <p:spPr>
          <a:xfrm>
            <a:off x="7353848" y="365125"/>
            <a:ext cx="3999952"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4B1422-6C1E-4422-80E8-34B0092FBF05}"/>
              </a:ext>
            </a:extLst>
          </p:cNvPr>
          <p:cNvSpPr>
            <a:spLocks noGrp="1"/>
          </p:cNvSpPr>
          <p:nvPr>
            <p:ph type="body" orient="vert" idx="1"/>
          </p:nvPr>
        </p:nvSpPr>
        <p:spPr>
          <a:xfrm>
            <a:off x="838200" y="365125"/>
            <a:ext cx="626546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C8B53C-3084-4BC0-A80E-DB41C04C6258}"/>
              </a:ext>
            </a:extLst>
          </p:cNvPr>
          <p:cNvSpPr>
            <a:spLocks noGrp="1"/>
          </p:cNvSpPr>
          <p:nvPr>
            <p:ph type="dt" sz="half" idx="10"/>
          </p:nvPr>
        </p:nvSpPr>
        <p:spPr/>
        <p:txBody>
          <a:bodyPr/>
          <a:lstStyle/>
          <a:p>
            <a:fld id="{FD2766A6-3C10-4AB8-86A1-BB1F0CDA7EFE}" type="datetimeFigureOut">
              <a:rPr lang="en-US" smtClean="0"/>
              <a:t>3/2/25</a:t>
            </a:fld>
            <a:endParaRPr lang="en-US"/>
          </a:p>
        </p:txBody>
      </p:sp>
      <p:sp>
        <p:nvSpPr>
          <p:cNvPr id="5" name="Footer Placeholder 4">
            <a:extLst>
              <a:ext uri="{FF2B5EF4-FFF2-40B4-BE49-F238E27FC236}">
                <a16:creationId xmlns:a16="http://schemas.microsoft.com/office/drawing/2014/main" id="{8276BFDE-DC70-4A6E-90B8-337FC4725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3578F-39AE-4F6F-9614-32EF672E616D}"/>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119170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6818BD-D734-48A1-8CC0-609D11E5560E}"/>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AF9D215A-D2A1-4903-A905-F8B06EF41B4F}"/>
              </a:ext>
            </a:extLst>
          </p:cNvPr>
          <p:cNvSpPr>
            <a:spLocks noGrp="1"/>
          </p:cNvSpPr>
          <p:nvPr>
            <p:ph type="body" idx="1"/>
          </p:nvPr>
        </p:nvSpPr>
        <p:spPr>
          <a:xfrm>
            <a:off x="838200" y="1940875"/>
            <a:ext cx="10515600" cy="42360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42B88A-7A1D-4AA1-8536-28DC13D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D2766A6-3C10-4AB8-86A1-BB1F0CDA7EFE}" type="datetimeFigureOut">
              <a:rPr lang="en-US" smtClean="0"/>
              <a:pPr/>
              <a:t>3/2/25</a:t>
            </a:fld>
            <a:endParaRPr lang="en-US"/>
          </a:p>
        </p:txBody>
      </p:sp>
      <p:sp>
        <p:nvSpPr>
          <p:cNvPr id="5" name="Footer Placeholder 4">
            <a:extLst>
              <a:ext uri="{FF2B5EF4-FFF2-40B4-BE49-F238E27FC236}">
                <a16:creationId xmlns:a16="http://schemas.microsoft.com/office/drawing/2014/main" id="{B37FE925-0C4B-4BAE-9799-3A9D46D920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DAD54-E5C5-4D48-8592-BB22F0A851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3060201-1C40-4B39-813D-5CD9493BAEED}" type="slidenum">
              <a:rPr lang="en-US" smtClean="0"/>
              <a:pPr/>
              <a:t>‹#›</a:t>
            </a:fld>
            <a:endParaRPr lang="en-US"/>
          </a:p>
        </p:txBody>
      </p:sp>
    </p:spTree>
    <p:extLst>
      <p:ext uri="{BB962C8B-B14F-4D97-AF65-F5344CB8AC3E}">
        <p14:creationId xmlns:p14="http://schemas.microsoft.com/office/powerpoint/2010/main" val="182049104"/>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6" r:id="rId6"/>
    <p:sldLayoutId id="2147483731" r:id="rId7"/>
    <p:sldLayoutId id="2147483732" r:id="rId8"/>
    <p:sldLayoutId id="2147483733" r:id="rId9"/>
    <p:sldLayoutId id="2147483735" r:id="rId10"/>
    <p:sldLayoutId id="2147483734" r:id="rId11"/>
  </p:sldLayoutIdLst>
  <p:txStyles>
    <p:titleStyle>
      <a:lvl1pPr algn="l" defTabSz="914400" rtl="0" eaLnBrk="1" latinLnBrk="0" hangingPunct="1">
        <a:lnSpc>
          <a:spcPct val="100000"/>
        </a:lnSpc>
        <a:spcBef>
          <a:spcPct val="0"/>
        </a:spcBef>
        <a:buNone/>
        <a:defRPr lang="en-US" sz="5400" kern="1200" smtClean="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p:titleStyle>
    <p:bodyStyle>
      <a:lvl1pPr marL="228600" indent="-228600" algn="l" defTabSz="914400" rtl="0" eaLnBrk="1" latinLnBrk="0" hangingPunct="1">
        <a:lnSpc>
          <a:spcPct val="110000"/>
        </a:lnSpc>
        <a:spcBef>
          <a:spcPts val="1000"/>
        </a:spcBef>
        <a:buClr>
          <a:schemeClr val="tx2"/>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44.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8B37B9-3AEB-170B-B5FD-953FFFDA16DD}"/>
              </a:ext>
            </a:extLst>
          </p:cNvPr>
          <p:cNvSpPr>
            <a:spLocks noGrp="1"/>
          </p:cNvSpPr>
          <p:nvPr>
            <p:ph type="ctrTitle"/>
          </p:nvPr>
        </p:nvSpPr>
        <p:spPr>
          <a:xfrm>
            <a:off x="838200" y="596644"/>
            <a:ext cx="5500125" cy="3435606"/>
          </a:xfrm>
        </p:spPr>
        <p:txBody>
          <a:bodyPr vert="horz" lIns="91440" tIns="45720" rIns="91440" bIns="45720" rtlCol="0" anchor="b">
            <a:normAutofit/>
          </a:bodyPr>
          <a:lstStyle/>
          <a:p>
            <a:r>
              <a:rPr lang="en-US" b="1" kern="1200">
                <a:latin typeface="Aharoni" panose="02010803020104030203" pitchFamily="2" charset="-79"/>
                <a:ea typeface="+mn-ea"/>
                <a:cs typeface="Angsana New" panose="02020603050405020304" pitchFamily="18" charset="-34"/>
              </a:rPr>
              <a:t>Final Project  SCM 516</a:t>
            </a:r>
          </a:p>
        </p:txBody>
      </p:sp>
      <p:sp>
        <p:nvSpPr>
          <p:cNvPr id="3" name="Subtitle 2">
            <a:extLst>
              <a:ext uri="{FF2B5EF4-FFF2-40B4-BE49-F238E27FC236}">
                <a16:creationId xmlns:a16="http://schemas.microsoft.com/office/drawing/2014/main" id="{58E05B6F-1E2B-8E04-CBEB-450B2FA639CF}"/>
              </a:ext>
            </a:extLst>
          </p:cNvPr>
          <p:cNvSpPr>
            <a:spLocks noGrp="1"/>
          </p:cNvSpPr>
          <p:nvPr>
            <p:ph type="subTitle" idx="1"/>
          </p:nvPr>
        </p:nvSpPr>
        <p:spPr>
          <a:xfrm>
            <a:off x="838200" y="4298950"/>
            <a:ext cx="5500125" cy="1962406"/>
          </a:xfrm>
        </p:spPr>
        <p:txBody>
          <a:bodyPr vert="horz" lIns="91440" tIns="45720" rIns="91440" bIns="45720" rtlCol="0">
            <a:normAutofit/>
          </a:bodyPr>
          <a:lstStyle/>
          <a:p>
            <a:pPr>
              <a:lnSpc>
                <a:spcPct val="100000"/>
              </a:lnSpc>
            </a:pPr>
            <a:r>
              <a:rPr lang="en-US" sz="1300"/>
              <a:t>by </a:t>
            </a:r>
            <a:r>
              <a:rPr lang="en-US" sz="1300" b="1">
                <a:solidFill>
                  <a:schemeClr val="accent4"/>
                </a:solidFill>
              </a:rPr>
              <a:t>Synergy Sparks </a:t>
            </a:r>
          </a:p>
          <a:p>
            <a:pPr marL="285750" indent="-228600">
              <a:lnSpc>
                <a:spcPct val="100000"/>
              </a:lnSpc>
              <a:buFont typeface="Arial" panose="020B0604020202020204" pitchFamily="34" charset="0"/>
              <a:buChar char="•"/>
            </a:pPr>
            <a:r>
              <a:rPr lang="en-US" sz="1300"/>
              <a:t>Akanksha Manohar</a:t>
            </a:r>
          </a:p>
          <a:p>
            <a:pPr marL="285750" indent="-228600">
              <a:lnSpc>
                <a:spcPct val="100000"/>
              </a:lnSpc>
              <a:buFont typeface="Arial" panose="020B0604020202020204" pitchFamily="34" charset="0"/>
              <a:buChar char="•"/>
            </a:pPr>
            <a:r>
              <a:rPr lang="en-US" sz="1300"/>
              <a:t>Meenakshi Rajeev Nair</a:t>
            </a:r>
          </a:p>
          <a:p>
            <a:pPr marL="285750" indent="-228600">
              <a:lnSpc>
                <a:spcPct val="100000"/>
              </a:lnSpc>
              <a:buFont typeface="Arial" panose="020B0604020202020204" pitchFamily="34" charset="0"/>
              <a:buChar char="•"/>
            </a:pPr>
            <a:r>
              <a:rPr lang="en-US" sz="1300"/>
              <a:t>Neha Tiwari</a:t>
            </a:r>
          </a:p>
          <a:p>
            <a:pPr marL="285750" indent="-228600">
              <a:lnSpc>
                <a:spcPct val="100000"/>
              </a:lnSpc>
              <a:buFont typeface="Arial" panose="020B0604020202020204" pitchFamily="34" charset="0"/>
              <a:buChar char="•"/>
            </a:pPr>
            <a:r>
              <a:rPr lang="en-US" sz="1300"/>
              <a:t>Niketha Venkatesh</a:t>
            </a:r>
          </a:p>
          <a:p>
            <a:pPr marL="285750" indent="-228600">
              <a:lnSpc>
                <a:spcPct val="100000"/>
              </a:lnSpc>
              <a:buFont typeface="Arial" panose="020B0604020202020204" pitchFamily="34" charset="0"/>
              <a:buChar char="•"/>
            </a:pPr>
            <a:r>
              <a:rPr lang="en-US" sz="1300"/>
              <a:t>Shriya Karthikeyan</a:t>
            </a:r>
          </a:p>
        </p:txBody>
      </p:sp>
      <p:pic>
        <p:nvPicPr>
          <p:cNvPr id="4" name="Picture 3" descr="A close-up of many colorful dots&#10;&#10;AI-generated content may be incorrect.">
            <a:extLst>
              <a:ext uri="{FF2B5EF4-FFF2-40B4-BE49-F238E27FC236}">
                <a16:creationId xmlns:a16="http://schemas.microsoft.com/office/drawing/2014/main" id="{50E742E8-87AC-5935-8137-39F27FD98558}"/>
              </a:ext>
            </a:extLst>
          </p:cNvPr>
          <p:cNvPicPr>
            <a:picLocks noChangeAspect="1"/>
          </p:cNvPicPr>
          <p:nvPr/>
        </p:nvPicPr>
        <p:blipFill>
          <a:blip r:embed="rId2"/>
          <a:srcRect l="11312" r="-2" b="-2"/>
          <a:stretch/>
        </p:blipFill>
        <p:spPr>
          <a:xfrm>
            <a:off x="6798509" y="1406554"/>
            <a:ext cx="4780081" cy="4042318"/>
          </a:xfrm>
          <a:prstGeom prst="rect">
            <a:avLst/>
          </a:prstGeom>
        </p:spPr>
      </p:pic>
    </p:spTree>
    <p:extLst>
      <p:ext uri="{BB962C8B-B14F-4D97-AF65-F5344CB8AC3E}">
        <p14:creationId xmlns:p14="http://schemas.microsoft.com/office/powerpoint/2010/main" val="339606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B7B6363-B86F-40A3-8902-DFA61F46B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0D81EC-9BF7-51FB-F249-6AD032FABDBA}"/>
              </a:ext>
            </a:extLst>
          </p:cNvPr>
          <p:cNvSpPr>
            <a:spLocks noGrp="1"/>
          </p:cNvSpPr>
          <p:nvPr>
            <p:ph type="title"/>
          </p:nvPr>
        </p:nvSpPr>
        <p:spPr>
          <a:xfrm>
            <a:off x="838200" y="780444"/>
            <a:ext cx="4993769" cy="5391756"/>
          </a:xfrm>
        </p:spPr>
        <p:txBody>
          <a:bodyPr anchor="t">
            <a:normAutofit/>
          </a:bodyPr>
          <a:lstStyle/>
          <a:p>
            <a:r>
              <a:rPr lang="en-US" b="0" i="0">
                <a:effectLst/>
                <a:latin typeface="Arial" panose="020B0604020202020204" pitchFamily="34" charset="0"/>
              </a:rPr>
              <a:t>Objective</a:t>
            </a:r>
            <a:endParaRPr lang="en-US"/>
          </a:p>
        </p:txBody>
      </p:sp>
      <p:graphicFrame>
        <p:nvGraphicFramePr>
          <p:cNvPr id="7" name="Content Placeholder 2">
            <a:extLst>
              <a:ext uri="{FF2B5EF4-FFF2-40B4-BE49-F238E27FC236}">
                <a16:creationId xmlns:a16="http://schemas.microsoft.com/office/drawing/2014/main" id="{DC5BD31B-DA13-537D-DBE7-CCEB088A14A1}"/>
              </a:ext>
            </a:extLst>
          </p:cNvPr>
          <p:cNvGraphicFramePr>
            <a:graphicFrameLocks noGrp="1"/>
          </p:cNvGraphicFramePr>
          <p:nvPr>
            <p:ph idx="1"/>
            <p:extLst>
              <p:ext uri="{D42A27DB-BD31-4B8C-83A1-F6EECF244321}">
                <p14:modId xmlns:p14="http://schemas.microsoft.com/office/powerpoint/2010/main" val="2382272988"/>
              </p:ext>
            </p:extLst>
          </p:nvPr>
        </p:nvGraphicFramePr>
        <p:xfrm>
          <a:off x="6360030" y="780444"/>
          <a:ext cx="4993769" cy="53965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0018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F65A8D-4386-7F3F-BB1D-A26FA8CDA1B8}"/>
              </a:ext>
            </a:extLst>
          </p:cNvPr>
          <p:cNvSpPr txBox="1"/>
          <p:nvPr/>
        </p:nvSpPr>
        <p:spPr>
          <a:xfrm>
            <a:off x="560614" y="489857"/>
            <a:ext cx="6411686" cy="830997"/>
          </a:xfrm>
          <a:prstGeom prst="rect">
            <a:avLst/>
          </a:prstGeom>
          <a:noFill/>
        </p:spPr>
        <p:txBody>
          <a:bodyPr wrap="square" rtlCol="0">
            <a:spAutoFit/>
          </a:bodyPr>
          <a:lstStyle/>
          <a:p>
            <a:r>
              <a:rPr lang="en-US" sz="2800" b="1"/>
              <a:t>About Classification Dataset</a:t>
            </a:r>
          </a:p>
          <a:p>
            <a:r>
              <a:rPr lang="en-US" sz="2000"/>
              <a:t>Customer Churn Prediction Dataset:</a:t>
            </a:r>
            <a:endParaRPr lang="en-US" sz="2000" b="1"/>
          </a:p>
        </p:txBody>
      </p:sp>
      <p:graphicFrame>
        <p:nvGraphicFramePr>
          <p:cNvPr id="5" name="TextBox 1">
            <a:extLst>
              <a:ext uri="{FF2B5EF4-FFF2-40B4-BE49-F238E27FC236}">
                <a16:creationId xmlns:a16="http://schemas.microsoft.com/office/drawing/2014/main" id="{FA444E60-C54C-F2C0-F1BF-EB28643DF7B5}"/>
              </a:ext>
            </a:extLst>
          </p:cNvPr>
          <p:cNvGraphicFramePr/>
          <p:nvPr>
            <p:extLst>
              <p:ext uri="{D42A27DB-BD31-4B8C-83A1-F6EECF244321}">
                <p14:modId xmlns:p14="http://schemas.microsoft.com/office/powerpoint/2010/main" val="1479019909"/>
              </p:ext>
            </p:extLst>
          </p:nvPr>
        </p:nvGraphicFramePr>
        <p:xfrm>
          <a:off x="560614" y="1458685"/>
          <a:ext cx="11070772" cy="42473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6377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58522-E921-6AC2-6CA3-7F0007BADE72}"/>
              </a:ext>
            </a:extLst>
          </p:cNvPr>
          <p:cNvSpPr>
            <a:spLocks noGrp="1"/>
          </p:cNvSpPr>
          <p:nvPr>
            <p:ph type="title"/>
          </p:nvPr>
        </p:nvSpPr>
        <p:spPr/>
        <p:txBody>
          <a:bodyPr/>
          <a:lstStyle/>
          <a:p>
            <a:r>
              <a:rPr lang="en-US"/>
              <a:t>Preprocessing steps:</a:t>
            </a:r>
          </a:p>
        </p:txBody>
      </p:sp>
      <p:sp>
        <p:nvSpPr>
          <p:cNvPr id="3" name="Content Placeholder 2">
            <a:extLst>
              <a:ext uri="{FF2B5EF4-FFF2-40B4-BE49-F238E27FC236}">
                <a16:creationId xmlns:a16="http://schemas.microsoft.com/office/drawing/2014/main" id="{9933EE51-CC00-22B3-5C74-7E4739FE3CB7}"/>
              </a:ext>
            </a:extLst>
          </p:cNvPr>
          <p:cNvSpPr>
            <a:spLocks noGrp="1"/>
          </p:cNvSpPr>
          <p:nvPr>
            <p:ph idx="1"/>
          </p:nvPr>
        </p:nvSpPr>
        <p:spPr/>
        <p:txBody>
          <a:bodyPr>
            <a:normAutofit/>
          </a:bodyPr>
          <a:lstStyle/>
          <a:p>
            <a:pPr>
              <a:buFont typeface="Arial" panose="020B0604020202020204" pitchFamily="34" charset="0"/>
              <a:buChar char="•"/>
            </a:pPr>
            <a:r>
              <a:rPr lang="en-US" b="1">
                <a:effectLst/>
                <a:latin typeface="Helvetica" pitchFamily="2" charset="0"/>
              </a:rPr>
              <a:t>﻿﻿Dataset Overview: </a:t>
            </a:r>
            <a:r>
              <a:rPr lang="en-US">
                <a:effectLst/>
                <a:latin typeface="Helvetica" pitchFamily="2" charset="0"/>
              </a:rPr>
              <a:t>Collected real-world data with multiple features for classification.</a:t>
            </a:r>
          </a:p>
          <a:p>
            <a:pPr>
              <a:buFont typeface="Arial" panose="020B0604020202020204" pitchFamily="34" charset="0"/>
              <a:buChar char="•"/>
            </a:pPr>
            <a:r>
              <a:rPr lang="en-US">
                <a:effectLst/>
                <a:latin typeface="Helvetica" pitchFamily="2" charset="0"/>
              </a:rPr>
              <a:t>﻿﻿</a:t>
            </a:r>
            <a:r>
              <a:rPr lang="en-US" b="1">
                <a:effectLst/>
                <a:latin typeface="Helvetica" pitchFamily="2" charset="0"/>
              </a:rPr>
              <a:t>Handling Missing Data: </a:t>
            </a:r>
            <a:r>
              <a:rPr lang="en-US">
                <a:effectLst/>
                <a:latin typeface="Helvetica" pitchFamily="2" charset="0"/>
              </a:rPr>
              <a:t>Implemented imputation strategies to ensure data completeness.</a:t>
            </a:r>
          </a:p>
          <a:p>
            <a:r>
              <a:rPr lang="en-US" b="1"/>
              <a:t>Label Encoding</a:t>
            </a:r>
            <a:r>
              <a:rPr lang="en-US"/>
              <a:t>: Converted categorical labels into numerical values.</a:t>
            </a:r>
            <a:endParaRPr lang="en-US">
              <a:effectLst/>
              <a:latin typeface="Helvetica" pitchFamily="2" charset="0"/>
            </a:endParaRPr>
          </a:p>
          <a:p>
            <a:pPr>
              <a:buFont typeface="Arial" panose="020B0604020202020204" pitchFamily="34" charset="0"/>
              <a:buChar char="•"/>
            </a:pPr>
            <a:r>
              <a:rPr lang="en-US" b="1"/>
              <a:t>Outlier Removal</a:t>
            </a:r>
            <a:r>
              <a:rPr lang="en-US"/>
              <a:t>: Used boxplot analysis to detect and remove outliers.</a:t>
            </a:r>
          </a:p>
          <a:p>
            <a:pPr>
              <a:buFont typeface="Arial" panose="020B0604020202020204" pitchFamily="34" charset="0"/>
              <a:buChar char="•"/>
            </a:pPr>
            <a:r>
              <a:rPr lang="en-US" b="1"/>
              <a:t>SMOTE Analysis</a:t>
            </a:r>
            <a:r>
              <a:rPr lang="en-US"/>
              <a:t>: Applied SMOTE to balance the dataset.</a:t>
            </a:r>
          </a:p>
          <a:p>
            <a:pPr>
              <a:buFont typeface="Arial" panose="020B0604020202020204" pitchFamily="34" charset="0"/>
              <a:buChar char="•"/>
            </a:pPr>
            <a:r>
              <a:rPr lang="en-US">
                <a:effectLst/>
                <a:latin typeface="Helvetica" pitchFamily="2" charset="0"/>
              </a:rPr>
              <a:t>﻿﻿</a:t>
            </a:r>
            <a:r>
              <a:rPr lang="en-US" b="1">
                <a:effectLst/>
                <a:latin typeface="Helvetica" pitchFamily="2" charset="0"/>
              </a:rPr>
              <a:t>Data Normalization: </a:t>
            </a:r>
            <a:r>
              <a:rPr lang="en-US">
                <a:effectLst/>
                <a:latin typeface="Helvetica" pitchFamily="2" charset="0"/>
              </a:rPr>
              <a:t>Standardized feature values to enhance model efficiency.</a:t>
            </a:r>
          </a:p>
          <a:p>
            <a:pPr>
              <a:buFont typeface="Arial" panose="020B0604020202020204" pitchFamily="34" charset="0"/>
              <a:buChar char="•"/>
            </a:pPr>
            <a:r>
              <a:rPr lang="en-US">
                <a:effectLst/>
                <a:latin typeface="Helvetica" pitchFamily="2" charset="0"/>
              </a:rPr>
              <a:t>﻿﻿</a:t>
            </a:r>
            <a:r>
              <a:rPr lang="en-US" b="1">
                <a:effectLst/>
                <a:latin typeface="Helvetica" pitchFamily="2" charset="0"/>
              </a:rPr>
              <a:t>Splitting Strategy: </a:t>
            </a:r>
            <a:r>
              <a:rPr lang="en-US">
                <a:effectLst/>
                <a:latin typeface="Helvetica" pitchFamily="2" charset="0"/>
              </a:rPr>
              <a:t>Divided data into training and testing sets for evaluation.</a:t>
            </a:r>
          </a:p>
        </p:txBody>
      </p:sp>
    </p:spTree>
    <p:extLst>
      <p:ext uri="{BB962C8B-B14F-4D97-AF65-F5344CB8AC3E}">
        <p14:creationId xmlns:p14="http://schemas.microsoft.com/office/powerpoint/2010/main" val="394238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61EB98-E0C4-4B95-984A-E7D9DFAD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A1D75B-C337-4A30-B00B-571709211D35}"/>
              </a:ext>
            </a:extLst>
          </p:cNvPr>
          <p:cNvSpPr>
            <a:spLocks noGrp="1"/>
          </p:cNvSpPr>
          <p:nvPr>
            <p:ph type="title"/>
          </p:nvPr>
        </p:nvSpPr>
        <p:spPr>
          <a:xfrm>
            <a:off x="370438" y="365125"/>
            <a:ext cx="10515601" cy="922685"/>
          </a:xfrm>
        </p:spPr>
        <p:txBody>
          <a:bodyPr vert="horz" lIns="91440" tIns="45720" rIns="91440" bIns="45720" rtlCol="0" anchor="ctr">
            <a:noAutofit/>
          </a:bodyPr>
          <a:lstStyle/>
          <a:p>
            <a:pPr>
              <a:lnSpc>
                <a:spcPct val="90000"/>
              </a:lnSpc>
            </a:pPr>
            <a:r>
              <a:rPr lang="en-US" sz="4000">
                <a:gradFill>
                  <a:gsLst>
                    <a:gs pos="0">
                      <a:srgbClr val="00BAC8"/>
                    </a:gs>
                    <a:gs pos="100000">
                      <a:srgbClr val="203040"/>
                    </a:gs>
                  </a:gsLst>
                  <a:lin ang="0" scaled="1"/>
                </a:gradFill>
                <a:effectLst/>
                <a:latin typeface="Helvetica"/>
                <a:cs typeface="Angsana New"/>
              </a:rPr>
              <a:t>Models</a:t>
            </a:r>
            <a:br>
              <a:rPr lang="en-US" sz="4800">
                <a:effectLst/>
                <a:latin typeface="Helvetica" pitchFamily="2" charset="0"/>
              </a:rPr>
            </a:br>
            <a:endParaRPr lang="en-US" sz="2400">
              <a:gradFill>
                <a:gsLst>
                  <a:gs pos="0">
                    <a:srgbClr val="00BAC8"/>
                  </a:gs>
                  <a:gs pos="100000">
                    <a:srgbClr val="203040"/>
                  </a:gs>
                </a:gsLst>
                <a:lin ang="0" scaled="1"/>
              </a:gradFill>
              <a:latin typeface="Helvetica"/>
              <a:cs typeface="Angsana New"/>
            </a:endParaRPr>
          </a:p>
        </p:txBody>
      </p:sp>
      <p:graphicFrame>
        <p:nvGraphicFramePr>
          <p:cNvPr id="5" name="Content Placeholder 2">
            <a:extLst>
              <a:ext uri="{FF2B5EF4-FFF2-40B4-BE49-F238E27FC236}">
                <a16:creationId xmlns:a16="http://schemas.microsoft.com/office/drawing/2014/main" id="{FAFE9E95-8A5E-E8E5-9AB3-9E0533B45815}"/>
              </a:ext>
            </a:extLst>
          </p:cNvPr>
          <p:cNvGraphicFramePr>
            <a:graphicFrameLocks noGrp="1"/>
          </p:cNvGraphicFramePr>
          <p:nvPr>
            <p:ph idx="1"/>
            <p:extLst>
              <p:ext uri="{D42A27DB-BD31-4B8C-83A1-F6EECF244321}">
                <p14:modId xmlns:p14="http://schemas.microsoft.com/office/powerpoint/2010/main" val="278070636"/>
              </p:ext>
            </p:extLst>
          </p:nvPr>
        </p:nvGraphicFramePr>
        <p:xfrm>
          <a:off x="164978" y="4660739"/>
          <a:ext cx="11904674" cy="15313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4" name="Content Placeholder 2">
            <a:extLst>
              <a:ext uri="{FF2B5EF4-FFF2-40B4-BE49-F238E27FC236}">
                <a16:creationId xmlns:a16="http://schemas.microsoft.com/office/drawing/2014/main" id="{AC3A0988-8761-527A-4C46-2448B25BAF3D}"/>
              </a:ext>
            </a:extLst>
          </p:cNvPr>
          <p:cNvGraphicFramePr>
            <a:graphicFrameLocks/>
          </p:cNvGraphicFramePr>
          <p:nvPr>
            <p:extLst>
              <p:ext uri="{D42A27DB-BD31-4B8C-83A1-F6EECF244321}">
                <p14:modId xmlns:p14="http://schemas.microsoft.com/office/powerpoint/2010/main" val="3274525738"/>
              </p:ext>
            </p:extLst>
          </p:nvPr>
        </p:nvGraphicFramePr>
        <p:xfrm>
          <a:off x="838318" y="832544"/>
          <a:ext cx="10515600" cy="263809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43" name="Title 1">
            <a:extLst>
              <a:ext uri="{FF2B5EF4-FFF2-40B4-BE49-F238E27FC236}">
                <a16:creationId xmlns:a16="http://schemas.microsoft.com/office/drawing/2014/main" id="{954BAAF1-8C05-CA04-3A00-237DF3D4BD82}"/>
              </a:ext>
            </a:extLst>
          </p:cNvPr>
          <p:cNvSpPr txBox="1">
            <a:spLocks/>
          </p:cNvSpPr>
          <p:nvPr/>
        </p:nvSpPr>
        <p:spPr>
          <a:xfrm>
            <a:off x="370555" y="3743078"/>
            <a:ext cx="10515601" cy="922685"/>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lang="en-US" sz="5400" kern="1200" smtClean="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pPr>
              <a:lnSpc>
                <a:spcPct val="90000"/>
              </a:lnSpc>
            </a:pPr>
            <a:r>
              <a:rPr lang="en-US" sz="4000">
                <a:solidFill>
                  <a:schemeClr val="accent6">
                    <a:lumMod val="60000"/>
                    <a:lumOff val="40000"/>
                  </a:schemeClr>
                </a:solidFill>
                <a:latin typeface="Helvetica"/>
                <a:cs typeface="Angsana New"/>
              </a:rPr>
              <a:t>Goodness of Models</a:t>
            </a:r>
            <a:br>
              <a:rPr lang="en-US" sz="4800">
                <a:solidFill>
                  <a:schemeClr val="accent6">
                    <a:lumMod val="60000"/>
                    <a:lumOff val="40000"/>
                  </a:schemeClr>
                </a:solidFill>
                <a:latin typeface="Helvetica" pitchFamily="2" charset="0"/>
              </a:rPr>
            </a:br>
            <a:endParaRPr lang="en-US" sz="2400">
              <a:gradFill>
                <a:gsLst>
                  <a:gs pos="0">
                    <a:srgbClr val="00BAC8"/>
                  </a:gs>
                  <a:gs pos="100000">
                    <a:srgbClr val="203040"/>
                  </a:gs>
                </a:gsLst>
                <a:lin ang="0" scaled="1"/>
              </a:gradFill>
              <a:latin typeface="Helvetica"/>
              <a:cs typeface="Angsana New"/>
            </a:endParaRPr>
          </a:p>
        </p:txBody>
      </p:sp>
    </p:spTree>
    <p:extLst>
      <p:ext uri="{BB962C8B-B14F-4D97-AF65-F5344CB8AC3E}">
        <p14:creationId xmlns:p14="http://schemas.microsoft.com/office/powerpoint/2010/main" val="155237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FAD80-4DE9-6AD5-2AC4-CC7A02B0ED70}"/>
              </a:ext>
            </a:extLst>
          </p:cNvPr>
          <p:cNvSpPr>
            <a:spLocks noGrp="1"/>
          </p:cNvSpPr>
          <p:nvPr>
            <p:ph type="title"/>
          </p:nvPr>
        </p:nvSpPr>
        <p:spPr>
          <a:xfrm>
            <a:off x="593921" y="272527"/>
            <a:ext cx="10515600" cy="1325563"/>
          </a:xfrm>
        </p:spPr>
        <p:txBody>
          <a:bodyPr anchor="ctr">
            <a:normAutofit fontScale="90000"/>
          </a:bodyPr>
          <a:lstStyle/>
          <a:p>
            <a:pPr algn="ctr"/>
            <a:r>
              <a:rPr lang="en-US"/>
              <a:t>Confusion Matrix for Naïve Bayes</a:t>
            </a:r>
          </a:p>
        </p:txBody>
      </p:sp>
      <p:pic>
        <p:nvPicPr>
          <p:cNvPr id="1026" name="Picture 2">
            <a:extLst>
              <a:ext uri="{FF2B5EF4-FFF2-40B4-BE49-F238E27FC236}">
                <a16:creationId xmlns:a16="http://schemas.microsoft.com/office/drawing/2014/main" id="{2A531EB5-7FA0-989E-B7C9-497FF60341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759" y="1598090"/>
            <a:ext cx="5186241" cy="4306094"/>
          </a:xfrm>
          <a:prstGeom prst="rect">
            <a:avLst/>
          </a:prstGeom>
          <a:noFill/>
          <a:extLst>
            <a:ext uri="{909E8E84-426E-40DD-AFC4-6F175D3DCCD1}">
              <a14:hiddenFill xmlns:a14="http://schemas.microsoft.com/office/drawing/2010/main">
                <a:solidFill>
                  <a:srgbClr val="FFFFFF"/>
                </a:solidFill>
              </a14:hiddenFill>
            </a:ext>
          </a:extLst>
        </p:spPr>
      </p:pic>
      <p:sp>
        <p:nvSpPr>
          <p:cNvPr id="6" name="Round Single Corner Rectangle 5">
            <a:extLst>
              <a:ext uri="{FF2B5EF4-FFF2-40B4-BE49-F238E27FC236}">
                <a16:creationId xmlns:a16="http://schemas.microsoft.com/office/drawing/2014/main" id="{1480AFD1-9EDA-3242-41A0-1F97B0FB979E}"/>
              </a:ext>
            </a:extLst>
          </p:cNvPr>
          <p:cNvSpPr/>
          <p:nvPr/>
        </p:nvSpPr>
        <p:spPr>
          <a:xfrm>
            <a:off x="7851648" y="2304288"/>
            <a:ext cx="2669739" cy="2429758"/>
          </a:xfrm>
          <a:prstGeom prst="round1Rect">
            <a:avLst/>
          </a:prstGeom>
          <a:solidFill>
            <a:schemeClr val="tx2">
              <a:lumMod val="25000"/>
              <a:lumOff val="7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a:ln w="0"/>
                <a:solidFill>
                  <a:schemeClr val="tx1"/>
                </a:solidFill>
                <a:effectLst>
                  <a:outerShdw blurRad="38100" dist="19050" dir="2700000" algn="tl" rotWithShape="0">
                    <a:schemeClr val="dk1">
                      <a:alpha val="40000"/>
                    </a:schemeClr>
                  </a:outerShdw>
                </a:effectLst>
              </a:rPr>
              <a:t>For Naïve Bayes:</a:t>
            </a:r>
          </a:p>
          <a:p>
            <a:pPr marL="0" indent="0">
              <a:buNone/>
            </a:pPr>
            <a:endParaRPr lang="en-US">
              <a:ln w="0"/>
              <a:solidFill>
                <a:schemeClr val="tx1"/>
              </a:solidFill>
              <a:effectLst>
                <a:outerShdw blurRad="38100" dist="19050" dir="2700000" algn="tl" rotWithShape="0">
                  <a:schemeClr val="dk1">
                    <a:alpha val="40000"/>
                  </a:schemeClr>
                </a:outerShdw>
              </a:effectLst>
            </a:endParaRPr>
          </a:p>
          <a:p>
            <a:pPr lvl="1"/>
            <a:r>
              <a:rPr lang="en-US" b="1">
                <a:solidFill>
                  <a:schemeClr val="tx1"/>
                </a:solidFill>
              </a:rPr>
              <a:t>Accuracy:</a:t>
            </a:r>
            <a:r>
              <a:rPr lang="en-US">
                <a:solidFill>
                  <a:schemeClr val="tx1"/>
                </a:solidFill>
              </a:rPr>
              <a:t> 63%</a:t>
            </a:r>
          </a:p>
          <a:p>
            <a:pPr lvl="1"/>
            <a:r>
              <a:rPr lang="en-US" b="1">
                <a:solidFill>
                  <a:schemeClr val="tx1"/>
                </a:solidFill>
              </a:rPr>
              <a:t>Precision:</a:t>
            </a:r>
            <a:r>
              <a:rPr lang="en-US">
                <a:solidFill>
                  <a:schemeClr val="tx1"/>
                </a:solidFill>
              </a:rPr>
              <a:t> 62%</a:t>
            </a:r>
          </a:p>
          <a:p>
            <a:pPr lvl="1"/>
            <a:r>
              <a:rPr lang="en-US" b="1">
                <a:solidFill>
                  <a:schemeClr val="tx1"/>
                </a:solidFill>
              </a:rPr>
              <a:t>Recall:</a:t>
            </a:r>
            <a:r>
              <a:rPr lang="en-US">
                <a:solidFill>
                  <a:schemeClr val="tx1"/>
                </a:solidFill>
              </a:rPr>
              <a:t> 68%</a:t>
            </a:r>
          </a:p>
          <a:p>
            <a:pPr lvl="1"/>
            <a:r>
              <a:rPr lang="en-US" b="1">
                <a:solidFill>
                  <a:schemeClr val="tx1"/>
                </a:solidFill>
              </a:rPr>
              <a:t>F1 Score:</a:t>
            </a:r>
            <a:r>
              <a:rPr lang="en-US">
                <a:solidFill>
                  <a:schemeClr val="tx1"/>
                </a:solidFill>
              </a:rPr>
              <a:t> 65%</a:t>
            </a:r>
          </a:p>
        </p:txBody>
      </p:sp>
    </p:spTree>
    <p:extLst>
      <p:ext uri="{BB962C8B-B14F-4D97-AF65-F5344CB8AC3E}">
        <p14:creationId xmlns:p14="http://schemas.microsoft.com/office/powerpoint/2010/main" val="3868147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8046A-772E-DC46-4A44-77BBB75B0DD4}"/>
              </a:ext>
            </a:extLst>
          </p:cNvPr>
          <p:cNvSpPr>
            <a:spLocks noGrp="1"/>
          </p:cNvSpPr>
          <p:nvPr>
            <p:ph type="title"/>
          </p:nvPr>
        </p:nvSpPr>
        <p:spPr/>
        <p:txBody>
          <a:bodyPr anchor="ctr"/>
          <a:lstStyle/>
          <a:p>
            <a:pPr algn="ctr"/>
            <a:r>
              <a:rPr lang="en-US" sz="5400"/>
              <a:t>Confusion Matrix for KNN</a:t>
            </a:r>
            <a:endParaRPr lang="en-US"/>
          </a:p>
        </p:txBody>
      </p:sp>
      <p:pic>
        <p:nvPicPr>
          <p:cNvPr id="4098" name="Picture 2">
            <a:extLst>
              <a:ext uri="{FF2B5EF4-FFF2-40B4-BE49-F238E27FC236}">
                <a16:creationId xmlns:a16="http://schemas.microsoft.com/office/drawing/2014/main" id="{4381E225-BF90-D712-FE8D-AF4443EC378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92200" y="1690688"/>
            <a:ext cx="5003800" cy="4152900"/>
          </a:xfrm>
          <a:prstGeom prst="rect">
            <a:avLst/>
          </a:prstGeom>
          <a:noFill/>
          <a:extLst>
            <a:ext uri="{909E8E84-426E-40DD-AFC4-6F175D3DCCD1}">
              <a14:hiddenFill xmlns:a14="http://schemas.microsoft.com/office/drawing/2010/main">
                <a:solidFill>
                  <a:srgbClr val="FFFFFF"/>
                </a:solidFill>
              </a14:hiddenFill>
            </a:ext>
          </a:extLst>
        </p:spPr>
      </p:pic>
      <p:sp>
        <p:nvSpPr>
          <p:cNvPr id="3" name="Round Single Corner Rectangle 2">
            <a:extLst>
              <a:ext uri="{FF2B5EF4-FFF2-40B4-BE49-F238E27FC236}">
                <a16:creationId xmlns:a16="http://schemas.microsoft.com/office/drawing/2014/main" id="{A5ED1F9B-72C9-E3C4-D855-24B013FF938E}"/>
              </a:ext>
            </a:extLst>
          </p:cNvPr>
          <p:cNvSpPr/>
          <p:nvPr/>
        </p:nvSpPr>
        <p:spPr>
          <a:xfrm>
            <a:off x="7851648" y="2304288"/>
            <a:ext cx="2669739" cy="2429758"/>
          </a:xfrm>
          <a:prstGeom prst="round1Rect">
            <a:avLst/>
          </a:prstGeom>
          <a:solidFill>
            <a:schemeClr val="tx2">
              <a:lumMod val="25000"/>
              <a:lumOff val="7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a:ln w="0"/>
                <a:solidFill>
                  <a:schemeClr val="tx1"/>
                </a:solidFill>
                <a:effectLst>
                  <a:outerShdw blurRad="38100" dist="19050" dir="2700000" algn="tl" rotWithShape="0">
                    <a:schemeClr val="dk1">
                      <a:alpha val="40000"/>
                    </a:schemeClr>
                  </a:outerShdw>
                </a:effectLst>
              </a:rPr>
              <a:t>For KNN:</a:t>
            </a:r>
          </a:p>
          <a:p>
            <a:pPr marL="0" indent="0">
              <a:buNone/>
            </a:pPr>
            <a:endParaRPr lang="en-US">
              <a:ln w="0"/>
              <a:solidFill>
                <a:schemeClr val="tx1"/>
              </a:solidFill>
              <a:effectLst>
                <a:outerShdw blurRad="38100" dist="19050" dir="2700000" algn="tl" rotWithShape="0">
                  <a:schemeClr val="dk1">
                    <a:alpha val="40000"/>
                  </a:schemeClr>
                </a:outerShdw>
              </a:effectLst>
            </a:endParaRPr>
          </a:p>
          <a:p>
            <a:pPr lvl="1"/>
            <a:r>
              <a:rPr lang="en-US" b="1">
                <a:solidFill>
                  <a:schemeClr val="tx1"/>
                </a:solidFill>
              </a:rPr>
              <a:t>Accuracy:</a:t>
            </a:r>
            <a:r>
              <a:rPr lang="en-US">
                <a:solidFill>
                  <a:schemeClr val="tx1"/>
                </a:solidFill>
              </a:rPr>
              <a:t> 68%</a:t>
            </a:r>
          </a:p>
          <a:p>
            <a:pPr lvl="1"/>
            <a:r>
              <a:rPr lang="en-US" b="1">
                <a:solidFill>
                  <a:schemeClr val="tx1"/>
                </a:solidFill>
              </a:rPr>
              <a:t>Precision:</a:t>
            </a:r>
            <a:r>
              <a:rPr lang="en-US">
                <a:solidFill>
                  <a:schemeClr val="tx1"/>
                </a:solidFill>
              </a:rPr>
              <a:t> 65%</a:t>
            </a:r>
          </a:p>
          <a:p>
            <a:pPr lvl="1"/>
            <a:r>
              <a:rPr lang="en-US" b="1">
                <a:solidFill>
                  <a:schemeClr val="tx1"/>
                </a:solidFill>
              </a:rPr>
              <a:t>Recall:</a:t>
            </a:r>
            <a:r>
              <a:rPr lang="en-US">
                <a:solidFill>
                  <a:schemeClr val="tx1"/>
                </a:solidFill>
              </a:rPr>
              <a:t> 78%</a:t>
            </a:r>
          </a:p>
          <a:p>
            <a:pPr lvl="1"/>
            <a:r>
              <a:rPr lang="en-US" b="1">
                <a:solidFill>
                  <a:schemeClr val="tx1"/>
                </a:solidFill>
              </a:rPr>
              <a:t>F1 Score:</a:t>
            </a:r>
            <a:r>
              <a:rPr lang="en-US">
                <a:solidFill>
                  <a:schemeClr val="tx1"/>
                </a:solidFill>
              </a:rPr>
              <a:t> 71%</a:t>
            </a:r>
          </a:p>
        </p:txBody>
      </p:sp>
    </p:spTree>
    <p:extLst>
      <p:ext uri="{BB962C8B-B14F-4D97-AF65-F5344CB8AC3E}">
        <p14:creationId xmlns:p14="http://schemas.microsoft.com/office/powerpoint/2010/main" val="997413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7D740-537D-47CB-D06B-B229E24C3F07}"/>
              </a:ext>
            </a:extLst>
          </p:cNvPr>
          <p:cNvSpPr>
            <a:spLocks noGrp="1"/>
          </p:cNvSpPr>
          <p:nvPr>
            <p:ph type="title"/>
          </p:nvPr>
        </p:nvSpPr>
        <p:spPr/>
        <p:txBody>
          <a:bodyPr anchor="ctr">
            <a:normAutofit/>
          </a:bodyPr>
          <a:lstStyle/>
          <a:p>
            <a:r>
              <a:rPr lang="en-US" sz="4000"/>
              <a:t>Finding the Optimal K:</a:t>
            </a:r>
          </a:p>
        </p:txBody>
      </p:sp>
      <p:pic>
        <p:nvPicPr>
          <p:cNvPr id="6148" name="Picture 4">
            <a:extLst>
              <a:ext uri="{FF2B5EF4-FFF2-40B4-BE49-F238E27FC236}">
                <a16:creationId xmlns:a16="http://schemas.microsoft.com/office/drawing/2014/main" id="{4B44C7BF-2BFC-F18C-0AFE-BB3EC5496E4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51535" y="1941513"/>
            <a:ext cx="7888929" cy="423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4783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FEE17A-AE92-478B-6487-19773095E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B18AF-AB7E-7D38-2A76-D2877CFE6234}"/>
              </a:ext>
            </a:extLst>
          </p:cNvPr>
          <p:cNvSpPr>
            <a:spLocks noGrp="1"/>
          </p:cNvSpPr>
          <p:nvPr>
            <p:ph type="title"/>
          </p:nvPr>
        </p:nvSpPr>
        <p:spPr/>
        <p:txBody>
          <a:bodyPr anchor="ctr">
            <a:noAutofit/>
          </a:bodyPr>
          <a:lstStyle/>
          <a:p>
            <a:pPr algn="ctr"/>
            <a:r>
              <a:rPr lang="en-US" sz="4000">
                <a:gradFill>
                  <a:gsLst>
                    <a:gs pos="0">
                      <a:srgbClr val="00BAC8"/>
                    </a:gs>
                    <a:gs pos="100000">
                      <a:srgbClr val="203040"/>
                    </a:gs>
                  </a:gsLst>
                  <a:lin ang="0" scaled="1"/>
                </a:gradFill>
                <a:latin typeface="Aharoni"/>
                <a:cs typeface="Angsana New"/>
              </a:rPr>
              <a:t>Confusion Matrix for KNN for optimal k=1</a:t>
            </a:r>
          </a:p>
        </p:txBody>
      </p:sp>
      <p:sp>
        <p:nvSpPr>
          <p:cNvPr id="3" name="Round Single Corner Rectangle 2">
            <a:extLst>
              <a:ext uri="{FF2B5EF4-FFF2-40B4-BE49-F238E27FC236}">
                <a16:creationId xmlns:a16="http://schemas.microsoft.com/office/drawing/2014/main" id="{8B3D4368-44CB-599E-4EAC-1A8DB134E582}"/>
              </a:ext>
            </a:extLst>
          </p:cNvPr>
          <p:cNvSpPr/>
          <p:nvPr/>
        </p:nvSpPr>
        <p:spPr>
          <a:xfrm>
            <a:off x="7851648" y="2304288"/>
            <a:ext cx="2669739" cy="2429758"/>
          </a:xfrm>
          <a:prstGeom prst="round1Rect">
            <a:avLst/>
          </a:prstGeom>
          <a:solidFill>
            <a:schemeClr val="tx2">
              <a:lumMod val="25000"/>
              <a:lumOff val="7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indent="0">
              <a:buNone/>
            </a:pPr>
            <a:r>
              <a:rPr lang="en-US">
                <a:ln w="0"/>
                <a:solidFill>
                  <a:schemeClr val="tx1"/>
                </a:solidFill>
                <a:effectLst>
                  <a:outerShdw blurRad="38100" dist="19050" dir="2700000" algn="tl" rotWithShape="0">
                    <a:schemeClr val="dk1">
                      <a:alpha val="40000"/>
                    </a:schemeClr>
                  </a:outerShdw>
                </a:effectLst>
              </a:rPr>
              <a:t>For KNN:</a:t>
            </a:r>
          </a:p>
          <a:p>
            <a:endParaRPr lang="en-US">
              <a:ln w="0"/>
              <a:solidFill>
                <a:schemeClr val="tx1"/>
              </a:solidFill>
              <a:effectLst>
                <a:outerShdw blurRad="38100" dist="19050" dir="2700000" algn="tl" rotWithShape="0">
                  <a:prstClr val="black">
                    <a:alpha val="40000"/>
                  </a:prstClr>
                </a:outerShdw>
              </a:effectLst>
              <a:latin typeface="Avenir Next LT Pro"/>
            </a:endParaRPr>
          </a:p>
          <a:p>
            <a:pPr lvl="1"/>
            <a:r>
              <a:rPr lang="en-US" b="1">
                <a:solidFill>
                  <a:schemeClr val="tx1"/>
                </a:solidFill>
                <a:latin typeface="Avenir Next LT Pro"/>
              </a:rPr>
              <a:t>Accuracy:</a:t>
            </a:r>
            <a:r>
              <a:rPr lang="en-US">
                <a:solidFill>
                  <a:schemeClr val="tx1"/>
                </a:solidFill>
                <a:latin typeface="Avenir Next LT Pro"/>
              </a:rPr>
              <a:t> </a:t>
            </a:r>
            <a:r>
              <a:rPr lang="en-US">
                <a:solidFill>
                  <a:schemeClr val="tx1"/>
                </a:solidFill>
              </a:rPr>
              <a:t>69%</a:t>
            </a:r>
          </a:p>
          <a:p>
            <a:pPr lvl="1"/>
            <a:r>
              <a:rPr lang="en-US" b="1">
                <a:solidFill>
                  <a:schemeClr val="tx1"/>
                </a:solidFill>
              </a:rPr>
              <a:t>Precision:</a:t>
            </a:r>
            <a:r>
              <a:rPr lang="en-US">
                <a:solidFill>
                  <a:schemeClr val="tx1"/>
                </a:solidFill>
              </a:rPr>
              <a:t> 65%</a:t>
            </a:r>
          </a:p>
          <a:p>
            <a:pPr lvl="1"/>
            <a:r>
              <a:rPr lang="en-US" b="1">
                <a:solidFill>
                  <a:schemeClr val="tx1"/>
                </a:solidFill>
              </a:rPr>
              <a:t>Recall:</a:t>
            </a:r>
            <a:r>
              <a:rPr lang="en-US">
                <a:solidFill>
                  <a:schemeClr val="tx1"/>
                </a:solidFill>
              </a:rPr>
              <a:t> 81%</a:t>
            </a:r>
          </a:p>
          <a:p>
            <a:pPr lvl="1"/>
            <a:r>
              <a:rPr lang="en-US" b="1">
                <a:solidFill>
                  <a:schemeClr val="tx1"/>
                </a:solidFill>
              </a:rPr>
              <a:t>F1 Score:</a:t>
            </a:r>
            <a:r>
              <a:rPr lang="en-US">
                <a:solidFill>
                  <a:schemeClr val="tx1"/>
                </a:solidFill>
              </a:rPr>
              <a:t> 72%</a:t>
            </a:r>
          </a:p>
        </p:txBody>
      </p:sp>
      <p:pic>
        <p:nvPicPr>
          <p:cNvPr id="9" name="Picture 8">
            <a:extLst>
              <a:ext uri="{FF2B5EF4-FFF2-40B4-BE49-F238E27FC236}">
                <a16:creationId xmlns:a16="http://schemas.microsoft.com/office/drawing/2014/main" id="{33EF94AD-91B3-111C-1F99-CFDA5E714ED3}"/>
              </a:ext>
            </a:extLst>
          </p:cNvPr>
          <p:cNvPicPr>
            <a:picLocks noChangeAspect="1"/>
          </p:cNvPicPr>
          <p:nvPr/>
        </p:nvPicPr>
        <p:blipFill>
          <a:blip r:embed="rId3"/>
          <a:stretch>
            <a:fillRect/>
          </a:stretch>
        </p:blipFill>
        <p:spPr>
          <a:xfrm>
            <a:off x="660400" y="1690688"/>
            <a:ext cx="5219700" cy="4333875"/>
          </a:xfrm>
          <a:prstGeom prst="rect">
            <a:avLst/>
          </a:prstGeom>
        </p:spPr>
      </p:pic>
    </p:spTree>
    <p:extLst>
      <p:ext uri="{BB962C8B-B14F-4D97-AF65-F5344CB8AC3E}">
        <p14:creationId xmlns:p14="http://schemas.microsoft.com/office/powerpoint/2010/main" val="2657987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2ADA-DA53-CAE8-D859-3506855948E5}"/>
              </a:ext>
            </a:extLst>
          </p:cNvPr>
          <p:cNvSpPr>
            <a:spLocks noGrp="1"/>
          </p:cNvSpPr>
          <p:nvPr>
            <p:ph type="title"/>
          </p:nvPr>
        </p:nvSpPr>
        <p:spPr/>
        <p:txBody>
          <a:bodyPr anchor="ctr">
            <a:normAutofit fontScale="90000"/>
          </a:bodyPr>
          <a:lstStyle/>
          <a:p>
            <a:pPr algn="ctr"/>
            <a:r>
              <a:rPr lang="en-US"/>
              <a:t>Confusion Matrix for Decision Tree</a:t>
            </a:r>
          </a:p>
        </p:txBody>
      </p:sp>
      <p:pic>
        <p:nvPicPr>
          <p:cNvPr id="2050" name="Picture 2">
            <a:extLst>
              <a:ext uri="{FF2B5EF4-FFF2-40B4-BE49-F238E27FC236}">
                <a16:creationId xmlns:a16="http://schemas.microsoft.com/office/drawing/2014/main" id="{370E9F05-06C4-BB8B-054B-71F996A99B1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92200" y="1820743"/>
            <a:ext cx="5003800" cy="4152900"/>
          </a:xfrm>
          <a:prstGeom prst="rect">
            <a:avLst/>
          </a:prstGeom>
          <a:noFill/>
          <a:extLst>
            <a:ext uri="{909E8E84-426E-40DD-AFC4-6F175D3DCCD1}">
              <a14:hiddenFill xmlns:a14="http://schemas.microsoft.com/office/drawing/2010/main">
                <a:solidFill>
                  <a:srgbClr val="FFFFFF"/>
                </a:solidFill>
              </a14:hiddenFill>
            </a:ext>
          </a:extLst>
        </p:spPr>
      </p:pic>
      <p:sp>
        <p:nvSpPr>
          <p:cNvPr id="3" name="Round Single Corner Rectangle 2">
            <a:extLst>
              <a:ext uri="{FF2B5EF4-FFF2-40B4-BE49-F238E27FC236}">
                <a16:creationId xmlns:a16="http://schemas.microsoft.com/office/drawing/2014/main" id="{BBBB998D-4B8E-7922-DB19-99573F4A89C3}"/>
              </a:ext>
            </a:extLst>
          </p:cNvPr>
          <p:cNvSpPr/>
          <p:nvPr/>
        </p:nvSpPr>
        <p:spPr>
          <a:xfrm>
            <a:off x="7851648" y="2304288"/>
            <a:ext cx="2669739" cy="2429758"/>
          </a:xfrm>
          <a:prstGeom prst="round1Rect">
            <a:avLst/>
          </a:prstGeom>
          <a:solidFill>
            <a:schemeClr val="tx2">
              <a:lumMod val="25000"/>
              <a:lumOff val="7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a:ln w="0"/>
                <a:solidFill>
                  <a:schemeClr val="tx1"/>
                </a:solidFill>
                <a:effectLst>
                  <a:outerShdw blurRad="38100" dist="19050" dir="2700000" algn="tl" rotWithShape="0">
                    <a:schemeClr val="dk1">
                      <a:alpha val="40000"/>
                    </a:schemeClr>
                  </a:outerShdw>
                </a:effectLst>
              </a:rPr>
              <a:t>For Decision Tree:</a:t>
            </a:r>
          </a:p>
          <a:p>
            <a:pPr marL="0" indent="0">
              <a:buNone/>
            </a:pPr>
            <a:endParaRPr lang="en-US">
              <a:ln w="0"/>
              <a:solidFill>
                <a:schemeClr val="tx1"/>
              </a:solidFill>
              <a:effectLst>
                <a:outerShdw blurRad="38100" dist="19050" dir="2700000" algn="tl" rotWithShape="0">
                  <a:schemeClr val="dk1">
                    <a:alpha val="40000"/>
                  </a:schemeClr>
                </a:outerShdw>
              </a:effectLst>
            </a:endParaRPr>
          </a:p>
          <a:p>
            <a:pPr lvl="1"/>
            <a:r>
              <a:rPr lang="en-US" b="1">
                <a:solidFill>
                  <a:schemeClr val="tx1"/>
                </a:solidFill>
              </a:rPr>
              <a:t>Accuracy:</a:t>
            </a:r>
            <a:r>
              <a:rPr lang="en-US">
                <a:solidFill>
                  <a:schemeClr val="tx1"/>
                </a:solidFill>
              </a:rPr>
              <a:t> 76%</a:t>
            </a:r>
          </a:p>
          <a:p>
            <a:pPr lvl="1"/>
            <a:r>
              <a:rPr lang="en-US" b="1">
                <a:solidFill>
                  <a:schemeClr val="tx1"/>
                </a:solidFill>
              </a:rPr>
              <a:t>Precision:</a:t>
            </a:r>
            <a:r>
              <a:rPr lang="en-US">
                <a:solidFill>
                  <a:schemeClr val="tx1"/>
                </a:solidFill>
              </a:rPr>
              <a:t> 75%</a:t>
            </a:r>
          </a:p>
          <a:p>
            <a:pPr lvl="1"/>
            <a:r>
              <a:rPr lang="en-US" b="1">
                <a:solidFill>
                  <a:schemeClr val="tx1"/>
                </a:solidFill>
              </a:rPr>
              <a:t>Recall:</a:t>
            </a:r>
            <a:r>
              <a:rPr lang="en-US">
                <a:solidFill>
                  <a:schemeClr val="tx1"/>
                </a:solidFill>
              </a:rPr>
              <a:t> 77%</a:t>
            </a:r>
          </a:p>
          <a:p>
            <a:pPr lvl="1"/>
            <a:r>
              <a:rPr lang="en-US" b="1">
                <a:solidFill>
                  <a:schemeClr val="tx1"/>
                </a:solidFill>
              </a:rPr>
              <a:t>F1 Score:</a:t>
            </a:r>
            <a:r>
              <a:rPr lang="en-US">
                <a:solidFill>
                  <a:schemeClr val="tx1"/>
                </a:solidFill>
              </a:rPr>
              <a:t> 76%</a:t>
            </a:r>
          </a:p>
        </p:txBody>
      </p:sp>
    </p:spTree>
    <p:extLst>
      <p:ext uri="{BB962C8B-B14F-4D97-AF65-F5344CB8AC3E}">
        <p14:creationId xmlns:p14="http://schemas.microsoft.com/office/powerpoint/2010/main" val="3518796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C0C77-2CFA-C6D5-E61F-8AF504A7D72C}"/>
              </a:ext>
            </a:extLst>
          </p:cNvPr>
          <p:cNvSpPr>
            <a:spLocks noGrp="1"/>
          </p:cNvSpPr>
          <p:nvPr>
            <p:ph type="title"/>
          </p:nvPr>
        </p:nvSpPr>
        <p:spPr/>
        <p:txBody>
          <a:bodyPr anchor="ctr">
            <a:noAutofit/>
          </a:bodyPr>
          <a:lstStyle/>
          <a:p>
            <a:pPr algn="ctr"/>
            <a:r>
              <a:rPr lang="en-US" sz="4000"/>
              <a:t>Confusion Matrix for Random Forest</a:t>
            </a:r>
          </a:p>
        </p:txBody>
      </p:sp>
      <p:pic>
        <p:nvPicPr>
          <p:cNvPr id="3074" name="Picture 2">
            <a:extLst>
              <a:ext uri="{FF2B5EF4-FFF2-40B4-BE49-F238E27FC236}">
                <a16:creationId xmlns:a16="http://schemas.microsoft.com/office/drawing/2014/main" id="{1D2A112F-8737-42DD-8CBF-B8F07CB2426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92200" y="1690688"/>
            <a:ext cx="5003800" cy="4152900"/>
          </a:xfrm>
          <a:prstGeom prst="rect">
            <a:avLst/>
          </a:prstGeom>
          <a:noFill/>
          <a:extLst>
            <a:ext uri="{909E8E84-426E-40DD-AFC4-6F175D3DCCD1}">
              <a14:hiddenFill xmlns:a14="http://schemas.microsoft.com/office/drawing/2010/main">
                <a:solidFill>
                  <a:srgbClr val="FFFFFF"/>
                </a:solidFill>
              </a14:hiddenFill>
            </a:ext>
          </a:extLst>
        </p:spPr>
      </p:pic>
      <p:sp>
        <p:nvSpPr>
          <p:cNvPr id="3" name="Round Single Corner Rectangle 2">
            <a:extLst>
              <a:ext uri="{FF2B5EF4-FFF2-40B4-BE49-F238E27FC236}">
                <a16:creationId xmlns:a16="http://schemas.microsoft.com/office/drawing/2014/main" id="{C39554A6-529E-AB87-0905-C8089873F297}"/>
              </a:ext>
            </a:extLst>
          </p:cNvPr>
          <p:cNvSpPr/>
          <p:nvPr/>
        </p:nvSpPr>
        <p:spPr>
          <a:xfrm>
            <a:off x="7851648" y="2304288"/>
            <a:ext cx="2669739" cy="2429758"/>
          </a:xfrm>
          <a:prstGeom prst="round1Rect">
            <a:avLst/>
          </a:prstGeom>
          <a:solidFill>
            <a:schemeClr val="tx2">
              <a:lumMod val="25000"/>
              <a:lumOff val="7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a:ln w="0"/>
                <a:solidFill>
                  <a:schemeClr val="tx1"/>
                </a:solidFill>
                <a:effectLst>
                  <a:outerShdw blurRad="38100" dist="19050" dir="2700000" algn="tl" rotWithShape="0">
                    <a:schemeClr val="dk1">
                      <a:alpha val="40000"/>
                    </a:schemeClr>
                  </a:outerShdw>
                </a:effectLst>
              </a:rPr>
              <a:t>For Random Forest:</a:t>
            </a:r>
          </a:p>
          <a:p>
            <a:pPr marL="0" indent="0">
              <a:buNone/>
            </a:pPr>
            <a:endParaRPr lang="en-US">
              <a:ln w="0"/>
              <a:solidFill>
                <a:schemeClr val="tx1"/>
              </a:solidFill>
              <a:effectLst>
                <a:outerShdw blurRad="38100" dist="19050" dir="2700000" algn="tl" rotWithShape="0">
                  <a:schemeClr val="dk1">
                    <a:alpha val="40000"/>
                  </a:schemeClr>
                </a:outerShdw>
              </a:effectLst>
            </a:endParaRPr>
          </a:p>
          <a:p>
            <a:pPr lvl="1"/>
            <a:r>
              <a:rPr lang="en-US" b="1">
                <a:solidFill>
                  <a:schemeClr val="tx1"/>
                </a:solidFill>
              </a:rPr>
              <a:t>Accuracy:</a:t>
            </a:r>
            <a:r>
              <a:rPr lang="en-US">
                <a:solidFill>
                  <a:schemeClr val="tx1"/>
                </a:solidFill>
              </a:rPr>
              <a:t> 85%</a:t>
            </a:r>
          </a:p>
          <a:p>
            <a:pPr lvl="1"/>
            <a:r>
              <a:rPr lang="en-US" b="1">
                <a:solidFill>
                  <a:schemeClr val="tx1"/>
                </a:solidFill>
              </a:rPr>
              <a:t>Precision:</a:t>
            </a:r>
            <a:r>
              <a:rPr lang="en-US">
                <a:solidFill>
                  <a:schemeClr val="tx1"/>
                </a:solidFill>
              </a:rPr>
              <a:t> 97%</a:t>
            </a:r>
          </a:p>
          <a:p>
            <a:pPr lvl="1"/>
            <a:r>
              <a:rPr lang="en-US" b="1">
                <a:solidFill>
                  <a:schemeClr val="tx1"/>
                </a:solidFill>
              </a:rPr>
              <a:t>Recall:</a:t>
            </a:r>
            <a:r>
              <a:rPr lang="en-US">
                <a:solidFill>
                  <a:schemeClr val="tx1"/>
                </a:solidFill>
              </a:rPr>
              <a:t> 72%</a:t>
            </a:r>
          </a:p>
          <a:p>
            <a:pPr lvl="1"/>
            <a:r>
              <a:rPr lang="en-US" b="1">
                <a:solidFill>
                  <a:schemeClr val="tx1"/>
                </a:solidFill>
              </a:rPr>
              <a:t>F1 Score:</a:t>
            </a:r>
            <a:r>
              <a:rPr lang="en-US">
                <a:solidFill>
                  <a:schemeClr val="tx1"/>
                </a:solidFill>
              </a:rPr>
              <a:t> 83%</a:t>
            </a:r>
          </a:p>
        </p:txBody>
      </p:sp>
    </p:spTree>
    <p:extLst>
      <p:ext uri="{BB962C8B-B14F-4D97-AF65-F5344CB8AC3E}">
        <p14:creationId xmlns:p14="http://schemas.microsoft.com/office/powerpoint/2010/main" val="2529878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1C6D2-DDB7-6D27-DFAD-AC85525AF3DC}"/>
              </a:ext>
            </a:extLst>
          </p:cNvPr>
          <p:cNvSpPr>
            <a:spLocks noGrp="1"/>
          </p:cNvSpPr>
          <p:nvPr>
            <p:ph type="title"/>
          </p:nvPr>
        </p:nvSpPr>
        <p:spPr/>
        <p:txBody>
          <a:bodyPr>
            <a:normAutofit fontScale="90000"/>
          </a:bodyPr>
          <a:lstStyle/>
          <a:p>
            <a:r>
              <a:rPr lang="en-US"/>
              <a:t>ROC Curve Analysis</a:t>
            </a:r>
            <a:br>
              <a:rPr lang="en-US"/>
            </a:br>
            <a:r>
              <a:rPr lang="en-US" sz="2700"/>
              <a:t>(for training dataset):</a:t>
            </a:r>
            <a:endParaRPr lang="en-US"/>
          </a:p>
        </p:txBody>
      </p:sp>
      <p:pic>
        <p:nvPicPr>
          <p:cNvPr id="7170" name="Picture 2">
            <a:extLst>
              <a:ext uri="{FF2B5EF4-FFF2-40B4-BE49-F238E27FC236}">
                <a16:creationId xmlns:a16="http://schemas.microsoft.com/office/drawing/2014/main" id="{15A43449-DC8E-8668-D910-3D17C1C1909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780298"/>
            <a:ext cx="4405132" cy="426832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742E34E-E36B-FD9F-C69A-4F3D4EB1C44B}"/>
              </a:ext>
            </a:extLst>
          </p:cNvPr>
          <p:cNvSpPr txBox="1"/>
          <p:nvPr/>
        </p:nvSpPr>
        <p:spPr>
          <a:xfrm>
            <a:off x="5975584" y="2298634"/>
            <a:ext cx="5031167" cy="2677656"/>
          </a:xfrm>
          <a:prstGeom prst="rect">
            <a:avLst/>
          </a:prstGeom>
          <a:noFill/>
        </p:spPr>
        <p:txBody>
          <a:bodyPr wrap="square" lIns="91440" tIns="45720" rIns="91440" bIns="45720" rtlCol="0" anchor="t">
            <a:spAutoFit/>
          </a:bodyPr>
          <a:lstStyle/>
          <a:p>
            <a:r>
              <a:rPr lang="en-US" sz="1200" b="1">
                <a:latin typeface="Aptos"/>
              </a:rPr>
              <a:t>On TRAINING Data- </a:t>
            </a:r>
            <a:endParaRPr lang="en-US" sz="1200" b="1">
              <a:latin typeface="Aptos" panose="020B0004020202020204" pitchFamily="34" charset="0"/>
            </a:endParaRPr>
          </a:p>
          <a:p>
            <a:endParaRPr lang="en-US" sz="1200">
              <a:latin typeface="Aptos"/>
            </a:endParaRPr>
          </a:p>
          <a:p>
            <a:pPr>
              <a:buFont typeface="+mj-lt"/>
              <a:buAutoNum type="arabicPeriod"/>
            </a:pPr>
            <a:r>
              <a:rPr lang="en-US" sz="1200" b="1">
                <a:latin typeface="Aptos"/>
              </a:rPr>
              <a:t> Gaussian NB :</a:t>
            </a:r>
            <a:r>
              <a:rPr lang="en-US" sz="1200">
                <a:latin typeface="Aptos"/>
              </a:rPr>
              <a:t>  Its curve is close to the diagonal line, indicating it's barely better than random guessing. The AUC is also relatively low.</a:t>
            </a:r>
          </a:p>
          <a:p>
            <a:pPr>
              <a:buAutoNum type="arabicPeriod"/>
            </a:pPr>
            <a:endParaRPr lang="en-US" sz="1200" b="1">
              <a:latin typeface="Aptos"/>
            </a:endParaRPr>
          </a:p>
          <a:p>
            <a:pPr>
              <a:buAutoNum type="arabicPeriod"/>
            </a:pPr>
            <a:r>
              <a:rPr lang="en-US" sz="1200" b="1">
                <a:latin typeface="Aptos"/>
              </a:rPr>
              <a:t> K neighbors Classifier :</a:t>
            </a:r>
            <a:r>
              <a:rPr lang="en-US" sz="1200">
                <a:latin typeface="Aptos"/>
              </a:rPr>
              <a:t> This model performs very well, with its curve close to the top-left corner. </a:t>
            </a:r>
            <a:endParaRPr lang="en-US" sz="1200">
              <a:latin typeface="Aptos" panose="020B0004020202020204" pitchFamily="34" charset="0"/>
            </a:endParaRPr>
          </a:p>
          <a:p>
            <a:pPr>
              <a:buAutoNum type="arabicPeriod"/>
            </a:pPr>
            <a:endParaRPr lang="en-US" sz="1200" b="1">
              <a:latin typeface="Aptos"/>
            </a:endParaRPr>
          </a:p>
          <a:p>
            <a:pPr>
              <a:buAutoNum type="arabicPeriod"/>
            </a:pPr>
            <a:r>
              <a:rPr lang="en-US" sz="1200" b="1">
                <a:latin typeface="Aptos"/>
              </a:rPr>
              <a:t>Decision Tree Classifier :</a:t>
            </a:r>
            <a:r>
              <a:rPr lang="en-US" sz="1200">
                <a:latin typeface="Aptos"/>
              </a:rPr>
              <a:t> This model has perfect performance. However, a perfect AUC often suggests potential overfitting.</a:t>
            </a:r>
            <a:endParaRPr lang="en-US" sz="1200">
              <a:latin typeface="Aptos" panose="020B0004020202020204" pitchFamily="34" charset="0"/>
            </a:endParaRPr>
          </a:p>
          <a:p>
            <a:pPr>
              <a:buAutoNum type="arabicPeriod"/>
            </a:pPr>
            <a:endParaRPr lang="en-US" sz="1200" b="1">
              <a:latin typeface="Aptos"/>
            </a:endParaRPr>
          </a:p>
          <a:p>
            <a:pPr>
              <a:buAutoNum type="arabicPeriod"/>
            </a:pPr>
            <a:r>
              <a:rPr lang="en-US" sz="1200" b="1">
                <a:latin typeface="Aptos"/>
              </a:rPr>
              <a:t>Random Forest Classifier :</a:t>
            </a:r>
            <a:r>
              <a:rPr lang="en-US" sz="1200">
                <a:latin typeface="Aptos"/>
              </a:rPr>
              <a:t> Similar to the Decision Tree, the same caution about potential overfitting applies.</a:t>
            </a:r>
            <a:endParaRPr lang="en-US"/>
          </a:p>
          <a:p>
            <a:pPr>
              <a:buFont typeface="+mj-lt"/>
              <a:buAutoNum type="arabicPeriod"/>
            </a:pPr>
            <a:endParaRPr lang="en-US" sz="1200">
              <a:latin typeface="Aptos"/>
            </a:endParaRPr>
          </a:p>
        </p:txBody>
      </p:sp>
    </p:spTree>
    <p:extLst>
      <p:ext uri="{BB962C8B-B14F-4D97-AF65-F5344CB8AC3E}">
        <p14:creationId xmlns:p14="http://schemas.microsoft.com/office/powerpoint/2010/main" val="1301736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D52E8-2E30-7E27-A904-8771C4B26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588CF-2E95-D770-B0DD-875C0DEB46C8}"/>
              </a:ext>
            </a:extLst>
          </p:cNvPr>
          <p:cNvSpPr>
            <a:spLocks noGrp="1"/>
          </p:cNvSpPr>
          <p:nvPr>
            <p:ph type="title"/>
          </p:nvPr>
        </p:nvSpPr>
        <p:spPr/>
        <p:txBody>
          <a:bodyPr>
            <a:normAutofit fontScale="90000"/>
          </a:bodyPr>
          <a:lstStyle/>
          <a:p>
            <a:r>
              <a:rPr lang="en-US"/>
              <a:t>ROC Curve Analysis</a:t>
            </a:r>
            <a:br>
              <a:rPr lang="en-US"/>
            </a:br>
            <a:r>
              <a:rPr lang="en-US" sz="2700"/>
              <a:t>(for testing dataset):</a:t>
            </a:r>
            <a:endParaRPr lang="en-US"/>
          </a:p>
        </p:txBody>
      </p:sp>
      <p:pic>
        <p:nvPicPr>
          <p:cNvPr id="9218" name="Picture 2">
            <a:extLst>
              <a:ext uri="{FF2B5EF4-FFF2-40B4-BE49-F238E27FC236}">
                <a16:creationId xmlns:a16="http://schemas.microsoft.com/office/drawing/2014/main" id="{BEE90073-6BBC-C629-9810-906EFE88A8E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354235" y="1816781"/>
            <a:ext cx="4416973" cy="4279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7237C7D-B5DF-E443-896B-756F49A58907}"/>
              </a:ext>
            </a:extLst>
          </p:cNvPr>
          <p:cNvSpPr txBox="1"/>
          <p:nvPr/>
        </p:nvSpPr>
        <p:spPr>
          <a:xfrm>
            <a:off x="702398" y="2344900"/>
            <a:ext cx="4999567" cy="3231654"/>
          </a:xfrm>
          <a:prstGeom prst="rect">
            <a:avLst/>
          </a:prstGeom>
          <a:noFill/>
        </p:spPr>
        <p:txBody>
          <a:bodyPr wrap="square" lIns="91440" tIns="45720" rIns="91440" bIns="45720" rtlCol="0" anchor="t">
            <a:spAutoFit/>
          </a:bodyPr>
          <a:lstStyle/>
          <a:p>
            <a:r>
              <a:rPr lang="en-US" sz="1200" b="1">
                <a:latin typeface="Aptos"/>
              </a:rPr>
              <a:t>On TESTING DATA- </a:t>
            </a:r>
          </a:p>
          <a:p>
            <a:endParaRPr lang="en-US" sz="1200" b="1">
              <a:latin typeface="Aptos"/>
            </a:endParaRPr>
          </a:p>
          <a:p>
            <a:pPr marL="228600" indent="-228600">
              <a:buAutoNum type="arabicPeriod"/>
            </a:pPr>
            <a:r>
              <a:rPr lang="en-US" sz="1200" b="1" err="1">
                <a:latin typeface="Aptos"/>
              </a:rPr>
              <a:t>GaussianNB</a:t>
            </a:r>
            <a:r>
              <a:rPr lang="en-US" sz="1200" b="1">
                <a:latin typeface="Aptos"/>
              </a:rPr>
              <a:t> (AUC = 0.59): </a:t>
            </a:r>
            <a:r>
              <a:rPr lang="en-US" sz="1200">
                <a:latin typeface="Aptos"/>
              </a:rPr>
              <a:t>Very poor. The curve is close to the diagonal line.</a:t>
            </a:r>
          </a:p>
          <a:p>
            <a:pPr marL="228600" indent="-228600">
              <a:buAutoNum type="arabicPeriod"/>
            </a:pPr>
            <a:endParaRPr lang="en-US" sz="1200" b="1">
              <a:latin typeface="Aptos"/>
            </a:endParaRPr>
          </a:p>
          <a:p>
            <a:pPr marL="228600" indent="-228600">
              <a:buAutoNum type="arabicPeriod"/>
            </a:pPr>
            <a:r>
              <a:rPr lang="en-US" sz="1200" b="1">
                <a:latin typeface="Aptos"/>
              </a:rPr>
              <a:t>Kneighbors Classifier (AUC = 0.82): </a:t>
            </a:r>
            <a:r>
              <a:rPr lang="en-US" sz="1200">
                <a:latin typeface="Aptos"/>
              </a:rPr>
              <a:t>Reasonably good performance. The curve is above the diagonal line. This model also performs well on the testing data, though not as strongly as Random Forest.</a:t>
            </a:r>
          </a:p>
          <a:p>
            <a:pPr marL="228600" indent="-228600">
              <a:buAutoNum type="arabicPeriod"/>
            </a:pPr>
            <a:endParaRPr lang="en-US" sz="1200">
              <a:latin typeface="Aptos"/>
            </a:endParaRPr>
          </a:p>
          <a:p>
            <a:pPr marL="228600" indent="-228600">
              <a:buAutoNum type="arabicPeriod"/>
            </a:pPr>
            <a:r>
              <a:rPr lang="en-US" sz="1200" b="1">
                <a:latin typeface="Aptos"/>
              </a:rPr>
              <a:t>Decision Tree Classifier (AUC = 0.74):</a:t>
            </a:r>
            <a:r>
              <a:rPr lang="en-US" sz="1200">
                <a:latin typeface="Aptos"/>
              </a:rPr>
              <a:t> Moderate performance. The curve is above the diagonal line, but not significantly.</a:t>
            </a:r>
          </a:p>
          <a:p>
            <a:pPr marL="228600" indent="-228600">
              <a:buAutoNum type="arabicPeriod"/>
            </a:pPr>
            <a:endParaRPr lang="en-US" sz="1200" b="1">
              <a:latin typeface="Aptos"/>
            </a:endParaRPr>
          </a:p>
          <a:p>
            <a:pPr marL="228600" indent="-228600">
              <a:buAutoNum type="arabicPeriod"/>
            </a:pPr>
            <a:r>
              <a:rPr lang="en-US" sz="1200" b="1">
                <a:latin typeface="Aptos"/>
              </a:rPr>
              <a:t>Random Forest Classifier (AUC = 0.90): </a:t>
            </a:r>
            <a:r>
              <a:rPr lang="en-US" sz="1200">
                <a:latin typeface="Aptos"/>
              </a:rPr>
              <a:t>Good performance. The curve is well above the diagonal line, indicating a strong ability to distinguish between classes. </a:t>
            </a:r>
            <a:r>
              <a:rPr lang="en-US" sz="1200" b="1">
                <a:latin typeface="Aptos"/>
              </a:rPr>
              <a:t>This model generalizes well to the testing data and is a good choice for this classification task.</a:t>
            </a:r>
            <a:endParaRPr lang="en-US" sz="1200">
              <a:latin typeface="Aptos"/>
            </a:endParaRPr>
          </a:p>
          <a:p>
            <a:endParaRPr lang="en-US" sz="1200">
              <a:latin typeface="Aptos"/>
            </a:endParaRPr>
          </a:p>
        </p:txBody>
      </p:sp>
    </p:spTree>
    <p:extLst>
      <p:ext uri="{BB962C8B-B14F-4D97-AF65-F5344CB8AC3E}">
        <p14:creationId xmlns:p14="http://schemas.microsoft.com/office/powerpoint/2010/main" val="1400333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8506-C1A7-B2D1-3BCC-99414DEEEED5}"/>
              </a:ext>
            </a:extLst>
          </p:cNvPr>
          <p:cNvSpPr>
            <a:spLocks noGrp="1"/>
          </p:cNvSpPr>
          <p:nvPr>
            <p:ph type="title"/>
          </p:nvPr>
        </p:nvSpPr>
        <p:spPr/>
        <p:txBody>
          <a:bodyPr anchor="t">
            <a:noAutofit/>
          </a:bodyPr>
          <a:lstStyle/>
          <a:p>
            <a:pPr>
              <a:lnSpc>
                <a:spcPct val="150000"/>
              </a:lnSpc>
            </a:pPr>
            <a:r>
              <a:rPr lang="en-US" sz="3600">
                <a:gradFill>
                  <a:gsLst>
                    <a:gs pos="0">
                      <a:srgbClr val="00BAC8"/>
                    </a:gs>
                    <a:gs pos="100000">
                      <a:srgbClr val="203040"/>
                    </a:gs>
                  </a:gsLst>
                  <a:lin ang="0" scaled="1"/>
                </a:gradFill>
                <a:effectLst/>
                <a:latin typeface="Helvetica"/>
                <a:cs typeface="Angsana New"/>
              </a:rPr>
              <a:t>Performance Comparison</a:t>
            </a:r>
            <a:br>
              <a:rPr lang="en-US" sz="3600">
                <a:effectLst/>
                <a:latin typeface="Helvetica" pitchFamily="2" charset="0"/>
              </a:rPr>
            </a:br>
            <a:r>
              <a:rPr lang="en-US" sz="2000">
                <a:gradFill>
                  <a:gsLst>
                    <a:gs pos="0">
                      <a:srgbClr val="00BAC8"/>
                    </a:gs>
                    <a:gs pos="100000">
                      <a:srgbClr val="203040"/>
                    </a:gs>
                  </a:gsLst>
                  <a:lin ang="0" scaled="1"/>
                </a:gradFill>
                <a:effectLst/>
                <a:latin typeface="Helvetica"/>
                <a:cs typeface="Angsana New"/>
              </a:rPr>
              <a:t>Evaluating </a:t>
            </a:r>
            <a:r>
              <a:rPr lang="en-US" sz="2000">
                <a:gradFill>
                  <a:gsLst>
                    <a:gs pos="0">
                      <a:srgbClr val="00BAC8"/>
                    </a:gs>
                    <a:gs pos="100000">
                      <a:srgbClr val="203040"/>
                    </a:gs>
                  </a:gsLst>
                  <a:lin ang="0" scaled="1"/>
                </a:gradFill>
                <a:latin typeface="Helvetica"/>
                <a:cs typeface="Angsana New"/>
              </a:rPr>
              <a:t>Model Effectiveness</a:t>
            </a:r>
            <a:endParaRPr lang="en-US" sz="3600">
              <a:gradFill>
                <a:gsLst>
                  <a:gs pos="0">
                    <a:srgbClr val="00BAC8"/>
                  </a:gs>
                  <a:gs pos="100000">
                    <a:srgbClr val="203040"/>
                  </a:gs>
                </a:gsLst>
                <a:lin ang="0" scaled="1"/>
              </a:gradFill>
              <a:latin typeface="Helvetica"/>
              <a:cs typeface="Angsana New"/>
            </a:endParaRPr>
          </a:p>
        </p:txBody>
      </p:sp>
      <p:sp>
        <p:nvSpPr>
          <p:cNvPr id="3" name="Content Placeholder 2">
            <a:extLst>
              <a:ext uri="{FF2B5EF4-FFF2-40B4-BE49-F238E27FC236}">
                <a16:creationId xmlns:a16="http://schemas.microsoft.com/office/drawing/2014/main" id="{E6DD551F-A0D1-9230-4165-8CCE5C85448C}"/>
              </a:ext>
            </a:extLst>
          </p:cNvPr>
          <p:cNvSpPr>
            <a:spLocks noGrp="1"/>
          </p:cNvSpPr>
          <p:nvPr>
            <p:ph idx="1"/>
          </p:nvPr>
        </p:nvSpPr>
        <p:spPr/>
        <p:txBody>
          <a:bodyPr vert="horz" lIns="91440" tIns="45720" rIns="91440" bIns="45720" rtlCol="0" anchor="t">
            <a:normAutofit lnSpcReduction="10000"/>
          </a:bodyPr>
          <a:lstStyle/>
          <a:p>
            <a:pPr>
              <a:buFont typeface="Arial" panose="020B0604020202020204" pitchFamily="34" charset="0"/>
              <a:buChar char="•"/>
            </a:pPr>
            <a:r>
              <a:rPr lang="en-US">
                <a:effectLst/>
                <a:latin typeface="Aptos"/>
              </a:rPr>
              <a:t>﻿﻿</a:t>
            </a:r>
            <a:r>
              <a:rPr lang="en-US" b="1">
                <a:effectLst/>
                <a:latin typeface="Aptos"/>
              </a:rPr>
              <a:t>Accuracy: </a:t>
            </a:r>
            <a:r>
              <a:rPr lang="en-US">
                <a:effectLst/>
                <a:latin typeface="Aptos"/>
              </a:rPr>
              <a:t>Random Forest achieved the highest accuracy, outperforming other models.</a:t>
            </a:r>
          </a:p>
          <a:p>
            <a:pPr>
              <a:buFont typeface="Arial" panose="020B0604020202020204" pitchFamily="34" charset="0"/>
              <a:buChar char="•"/>
            </a:pPr>
            <a:r>
              <a:rPr lang="en-US" b="1">
                <a:effectLst/>
                <a:latin typeface="Aptos"/>
              </a:rPr>
              <a:t>﻿﻿Precision &amp; Recall: </a:t>
            </a:r>
            <a:r>
              <a:rPr lang="en-US">
                <a:effectLst/>
                <a:latin typeface="Aptos"/>
              </a:rPr>
              <a:t>Trade-off observed: Decision Trees had high precision but lower recall, while KNN struggled with both.</a:t>
            </a:r>
          </a:p>
          <a:p>
            <a:r>
              <a:rPr lang="en-US">
                <a:effectLst/>
                <a:latin typeface="Aptos"/>
              </a:rPr>
              <a:t>﻿﻿</a:t>
            </a:r>
            <a:r>
              <a:rPr lang="en-US" b="1">
                <a:effectLst/>
                <a:latin typeface="Aptos"/>
              </a:rPr>
              <a:t>F1-Score: </a:t>
            </a:r>
            <a:r>
              <a:rPr lang="en-US" b="1">
                <a:latin typeface="Aptos"/>
              </a:rPr>
              <a:t> </a:t>
            </a:r>
            <a:r>
              <a:rPr lang="en-US">
                <a:effectLst/>
                <a:latin typeface="Aptos"/>
              </a:rPr>
              <a:t>Random Forest maintained the best balance.</a:t>
            </a:r>
          </a:p>
          <a:p>
            <a:pPr>
              <a:buFont typeface="Arial" panose="020B0604020202020204" pitchFamily="34" charset="0"/>
              <a:buChar char="•"/>
            </a:pPr>
            <a:r>
              <a:rPr lang="en-US">
                <a:effectLst/>
                <a:latin typeface="Aptos"/>
              </a:rPr>
              <a:t>﻿﻿</a:t>
            </a:r>
            <a:r>
              <a:rPr lang="en-US" b="1">
                <a:effectLst/>
                <a:latin typeface="Aptos"/>
              </a:rPr>
              <a:t>Class</a:t>
            </a:r>
            <a:r>
              <a:rPr lang="en-US">
                <a:effectLst/>
                <a:latin typeface="Aptos"/>
              </a:rPr>
              <a:t> </a:t>
            </a:r>
            <a:r>
              <a:rPr lang="en-US" b="1">
                <a:effectLst/>
                <a:latin typeface="Aptos"/>
              </a:rPr>
              <a:t>Imbalance: </a:t>
            </a:r>
            <a:r>
              <a:rPr lang="en-US">
                <a:effectLst/>
                <a:latin typeface="Aptos"/>
              </a:rPr>
              <a:t>Some models were impacted by imbalanced data, affecting recall and precision.</a:t>
            </a:r>
          </a:p>
          <a:p>
            <a:pPr marL="0" indent="0">
              <a:buNone/>
            </a:pPr>
            <a:endParaRPr lang="en-US" sz="3200" b="1">
              <a:highlight>
                <a:srgbClr val="FFFF00"/>
              </a:highlight>
              <a:latin typeface="Aptos"/>
            </a:endParaRPr>
          </a:p>
          <a:p>
            <a:pPr marL="0" indent="0">
              <a:buNone/>
            </a:pPr>
            <a:r>
              <a:rPr lang="en-US" sz="3200" b="1">
                <a:effectLst/>
                <a:highlight>
                  <a:srgbClr val="FFFF00"/>
                </a:highlight>
                <a:latin typeface="Aptos"/>
              </a:rPr>
              <a:t>Overall : </a:t>
            </a:r>
            <a:endParaRPr lang="en-US"/>
          </a:p>
          <a:p>
            <a:pPr marL="0" indent="0">
              <a:buNone/>
            </a:pPr>
            <a:r>
              <a:rPr lang="en-US" b="1">
                <a:effectLst/>
                <a:latin typeface="Aptos"/>
              </a:rPr>
              <a:t>Random Forest </a:t>
            </a:r>
            <a:r>
              <a:rPr lang="en-US">
                <a:effectLst/>
                <a:latin typeface="Aptos"/>
              </a:rPr>
              <a:t>demonstrated the best overall performance across all metrics.</a:t>
            </a:r>
            <a:endParaRPr lang="en-US"/>
          </a:p>
        </p:txBody>
      </p:sp>
    </p:spTree>
    <p:extLst>
      <p:ext uri="{BB962C8B-B14F-4D97-AF65-F5344CB8AC3E}">
        <p14:creationId xmlns:p14="http://schemas.microsoft.com/office/powerpoint/2010/main" val="1184396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1AE94-2FD6-6C3F-F564-14B8CC947176}"/>
              </a:ext>
            </a:extLst>
          </p:cNvPr>
          <p:cNvSpPr>
            <a:spLocks noGrp="1"/>
          </p:cNvSpPr>
          <p:nvPr>
            <p:ph type="title"/>
          </p:nvPr>
        </p:nvSpPr>
        <p:spPr>
          <a:xfrm>
            <a:off x="838200" y="353550"/>
            <a:ext cx="10515600" cy="1325563"/>
          </a:xfrm>
        </p:spPr>
        <p:txBody>
          <a:bodyPr anchor="ctr">
            <a:noAutofit/>
          </a:bodyPr>
          <a:lstStyle/>
          <a:p>
            <a:pPr algn="ctr"/>
            <a:r>
              <a:rPr lang="en-US" sz="4000" b="1"/>
              <a:t>Classification report</a:t>
            </a:r>
            <a:r>
              <a:rPr lang="en-US" sz="4000"/>
              <a:t> of Random Forest</a:t>
            </a:r>
          </a:p>
        </p:txBody>
      </p:sp>
      <p:graphicFrame>
        <p:nvGraphicFramePr>
          <p:cNvPr id="4" name="Content Placeholder 3">
            <a:extLst>
              <a:ext uri="{FF2B5EF4-FFF2-40B4-BE49-F238E27FC236}">
                <a16:creationId xmlns:a16="http://schemas.microsoft.com/office/drawing/2014/main" id="{1D5EFBE5-9BA1-7D05-4257-95AE4F661D18}"/>
              </a:ext>
            </a:extLst>
          </p:cNvPr>
          <p:cNvGraphicFramePr>
            <a:graphicFrameLocks noGrp="1"/>
          </p:cNvGraphicFramePr>
          <p:nvPr>
            <p:ph idx="1"/>
            <p:extLst>
              <p:ext uri="{D42A27DB-BD31-4B8C-83A1-F6EECF244321}">
                <p14:modId xmlns:p14="http://schemas.microsoft.com/office/powerpoint/2010/main" val="3188466317"/>
              </p:ext>
            </p:extLst>
          </p:nvPr>
        </p:nvGraphicFramePr>
        <p:xfrm>
          <a:off x="838200" y="2316480"/>
          <a:ext cx="10515600" cy="22250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765852203"/>
                    </a:ext>
                  </a:extLst>
                </a:gridCol>
                <a:gridCol w="2103120">
                  <a:extLst>
                    <a:ext uri="{9D8B030D-6E8A-4147-A177-3AD203B41FA5}">
                      <a16:colId xmlns:a16="http://schemas.microsoft.com/office/drawing/2014/main" val="2639088938"/>
                    </a:ext>
                  </a:extLst>
                </a:gridCol>
                <a:gridCol w="2103120">
                  <a:extLst>
                    <a:ext uri="{9D8B030D-6E8A-4147-A177-3AD203B41FA5}">
                      <a16:colId xmlns:a16="http://schemas.microsoft.com/office/drawing/2014/main" val="1811987801"/>
                    </a:ext>
                  </a:extLst>
                </a:gridCol>
                <a:gridCol w="2103120">
                  <a:extLst>
                    <a:ext uri="{9D8B030D-6E8A-4147-A177-3AD203B41FA5}">
                      <a16:colId xmlns:a16="http://schemas.microsoft.com/office/drawing/2014/main" val="1952962755"/>
                    </a:ext>
                  </a:extLst>
                </a:gridCol>
                <a:gridCol w="2103120">
                  <a:extLst>
                    <a:ext uri="{9D8B030D-6E8A-4147-A177-3AD203B41FA5}">
                      <a16:colId xmlns:a16="http://schemas.microsoft.com/office/drawing/2014/main" val="236230955"/>
                    </a:ext>
                  </a:extLst>
                </a:gridCol>
              </a:tblGrid>
              <a:tr h="370840">
                <a:tc>
                  <a:txBody>
                    <a:bodyPr/>
                    <a:lstStyle/>
                    <a:p>
                      <a:endParaRPr lang="en-US"/>
                    </a:p>
                  </a:txBody>
                  <a:tcPr/>
                </a:tc>
                <a:tc>
                  <a:txBody>
                    <a:bodyPr/>
                    <a:lstStyle/>
                    <a:p>
                      <a:r>
                        <a:rPr lang="en-US"/>
                        <a:t>Precision</a:t>
                      </a:r>
                    </a:p>
                  </a:txBody>
                  <a:tcPr/>
                </a:tc>
                <a:tc>
                  <a:txBody>
                    <a:bodyPr/>
                    <a:lstStyle/>
                    <a:p>
                      <a:r>
                        <a:rPr lang="en-US"/>
                        <a:t>Recall</a:t>
                      </a:r>
                    </a:p>
                  </a:txBody>
                  <a:tcPr/>
                </a:tc>
                <a:tc>
                  <a:txBody>
                    <a:bodyPr/>
                    <a:lstStyle/>
                    <a:p>
                      <a:r>
                        <a:rPr lang="en-US"/>
                        <a:t>F1- score</a:t>
                      </a:r>
                    </a:p>
                  </a:txBody>
                  <a:tcPr/>
                </a:tc>
                <a:tc>
                  <a:txBody>
                    <a:bodyPr/>
                    <a:lstStyle/>
                    <a:p>
                      <a:r>
                        <a:rPr lang="en-US"/>
                        <a:t>support</a:t>
                      </a:r>
                    </a:p>
                  </a:txBody>
                  <a:tcPr/>
                </a:tc>
                <a:extLst>
                  <a:ext uri="{0D108BD9-81ED-4DB2-BD59-A6C34878D82A}">
                    <a16:rowId xmlns:a16="http://schemas.microsoft.com/office/drawing/2014/main" val="1079126806"/>
                  </a:ext>
                </a:extLst>
              </a:tr>
              <a:tr h="370840">
                <a:tc>
                  <a:txBody>
                    <a:bodyPr/>
                    <a:lstStyle/>
                    <a:p>
                      <a:r>
                        <a:rPr lang="en-US"/>
                        <a:t>Class 0</a:t>
                      </a:r>
                    </a:p>
                  </a:txBody>
                  <a:tcPr/>
                </a:tc>
                <a:tc>
                  <a:txBody>
                    <a:bodyPr/>
                    <a:lstStyle/>
                    <a:p>
                      <a:r>
                        <a:rPr lang="en-US"/>
                        <a:t>0.79</a:t>
                      </a:r>
                    </a:p>
                  </a:txBody>
                  <a:tcPr/>
                </a:tc>
                <a:tc>
                  <a:txBody>
                    <a:bodyPr/>
                    <a:lstStyle/>
                    <a:p>
                      <a:r>
                        <a:rPr lang="en-US"/>
                        <a:t>0.92</a:t>
                      </a:r>
                    </a:p>
                  </a:txBody>
                  <a:tcPr/>
                </a:tc>
                <a:tc>
                  <a:txBody>
                    <a:bodyPr/>
                    <a:lstStyle/>
                    <a:p>
                      <a:r>
                        <a:rPr lang="en-US"/>
                        <a:t>0.85</a:t>
                      </a:r>
                    </a:p>
                  </a:txBody>
                  <a:tcPr/>
                </a:tc>
                <a:tc>
                  <a:txBody>
                    <a:bodyPr/>
                    <a:lstStyle/>
                    <a:p>
                      <a:r>
                        <a:rPr lang="en-US"/>
                        <a:t>2356</a:t>
                      </a:r>
                    </a:p>
                  </a:txBody>
                  <a:tcPr/>
                </a:tc>
                <a:extLst>
                  <a:ext uri="{0D108BD9-81ED-4DB2-BD59-A6C34878D82A}">
                    <a16:rowId xmlns:a16="http://schemas.microsoft.com/office/drawing/2014/main" val="2913075145"/>
                  </a:ext>
                </a:extLst>
              </a:tr>
              <a:tr h="370840">
                <a:tc>
                  <a:txBody>
                    <a:bodyPr/>
                    <a:lstStyle/>
                    <a:p>
                      <a:r>
                        <a:rPr lang="en-US"/>
                        <a:t>Class 1</a:t>
                      </a:r>
                    </a:p>
                  </a:txBody>
                  <a:tcPr/>
                </a:tc>
                <a:tc>
                  <a:txBody>
                    <a:bodyPr/>
                    <a:lstStyle/>
                    <a:p>
                      <a:r>
                        <a:rPr lang="en-US"/>
                        <a:t>0.91</a:t>
                      </a:r>
                    </a:p>
                  </a:txBody>
                  <a:tcPr/>
                </a:tc>
                <a:tc>
                  <a:txBody>
                    <a:bodyPr/>
                    <a:lstStyle/>
                    <a:p>
                      <a:r>
                        <a:rPr lang="en-US"/>
                        <a:t>0.76</a:t>
                      </a:r>
                    </a:p>
                  </a:txBody>
                  <a:tcPr/>
                </a:tc>
                <a:tc>
                  <a:txBody>
                    <a:bodyPr/>
                    <a:lstStyle/>
                    <a:p>
                      <a:r>
                        <a:rPr lang="en-US"/>
                        <a:t>0.83</a:t>
                      </a:r>
                    </a:p>
                  </a:txBody>
                  <a:tcPr/>
                </a:tc>
                <a:tc>
                  <a:txBody>
                    <a:bodyPr/>
                    <a:lstStyle/>
                    <a:p>
                      <a:r>
                        <a:rPr lang="en-US"/>
                        <a:t>2380</a:t>
                      </a:r>
                    </a:p>
                  </a:txBody>
                  <a:tcPr/>
                </a:tc>
                <a:extLst>
                  <a:ext uri="{0D108BD9-81ED-4DB2-BD59-A6C34878D82A}">
                    <a16:rowId xmlns:a16="http://schemas.microsoft.com/office/drawing/2014/main" val="3976454330"/>
                  </a:ext>
                </a:extLst>
              </a:tr>
              <a:tr h="370840">
                <a:tc>
                  <a:txBody>
                    <a:bodyPr/>
                    <a:lstStyle/>
                    <a:p>
                      <a:r>
                        <a:rPr lang="en-US"/>
                        <a:t>Accuracy</a:t>
                      </a:r>
                    </a:p>
                  </a:txBody>
                  <a:tcPr/>
                </a:tc>
                <a:tc>
                  <a:txBody>
                    <a:bodyPr/>
                    <a:lstStyle/>
                    <a:p>
                      <a:endParaRPr lang="en-US"/>
                    </a:p>
                  </a:txBody>
                  <a:tcPr/>
                </a:tc>
                <a:tc>
                  <a:txBody>
                    <a:bodyPr/>
                    <a:lstStyle/>
                    <a:p>
                      <a:endParaRPr lang="en-US"/>
                    </a:p>
                  </a:txBody>
                  <a:tcPr/>
                </a:tc>
                <a:tc>
                  <a:txBody>
                    <a:bodyPr/>
                    <a:lstStyle/>
                    <a:p>
                      <a:r>
                        <a:rPr lang="en-US"/>
                        <a:t>0.84</a:t>
                      </a:r>
                    </a:p>
                  </a:txBody>
                  <a:tcPr/>
                </a:tc>
                <a:tc>
                  <a:txBody>
                    <a:bodyPr/>
                    <a:lstStyle/>
                    <a:p>
                      <a:r>
                        <a:rPr lang="en-US"/>
                        <a:t>4736</a:t>
                      </a:r>
                    </a:p>
                  </a:txBody>
                  <a:tcPr/>
                </a:tc>
                <a:extLst>
                  <a:ext uri="{0D108BD9-81ED-4DB2-BD59-A6C34878D82A}">
                    <a16:rowId xmlns:a16="http://schemas.microsoft.com/office/drawing/2014/main" val="134492994"/>
                  </a:ext>
                </a:extLst>
              </a:tr>
              <a:tr h="370840">
                <a:tc>
                  <a:txBody>
                    <a:bodyPr/>
                    <a:lstStyle/>
                    <a:p>
                      <a:r>
                        <a:rPr lang="en-US"/>
                        <a:t>Macro avg</a:t>
                      </a:r>
                    </a:p>
                  </a:txBody>
                  <a:tcPr/>
                </a:tc>
                <a:tc>
                  <a:txBody>
                    <a:bodyPr/>
                    <a:lstStyle/>
                    <a:p>
                      <a:r>
                        <a:rPr lang="en-US"/>
                        <a:t>0.85</a:t>
                      </a:r>
                    </a:p>
                  </a:txBody>
                  <a:tcPr/>
                </a:tc>
                <a:tc>
                  <a:txBody>
                    <a:bodyPr/>
                    <a:lstStyle/>
                    <a:p>
                      <a:r>
                        <a:rPr lang="en-US"/>
                        <a:t>0.84</a:t>
                      </a:r>
                    </a:p>
                  </a:txBody>
                  <a:tcPr/>
                </a:tc>
                <a:tc>
                  <a:txBody>
                    <a:bodyPr/>
                    <a:lstStyle/>
                    <a:p>
                      <a:r>
                        <a:rPr lang="en-US"/>
                        <a:t>0.84</a:t>
                      </a:r>
                    </a:p>
                  </a:txBody>
                  <a:tcPr/>
                </a:tc>
                <a:tc>
                  <a:txBody>
                    <a:bodyPr/>
                    <a:lstStyle/>
                    <a:p>
                      <a:r>
                        <a:rPr lang="en-US"/>
                        <a:t>4736</a:t>
                      </a:r>
                    </a:p>
                  </a:txBody>
                  <a:tcPr/>
                </a:tc>
                <a:extLst>
                  <a:ext uri="{0D108BD9-81ED-4DB2-BD59-A6C34878D82A}">
                    <a16:rowId xmlns:a16="http://schemas.microsoft.com/office/drawing/2014/main" val="3133653151"/>
                  </a:ext>
                </a:extLst>
              </a:tr>
              <a:tr h="370840">
                <a:tc>
                  <a:txBody>
                    <a:bodyPr/>
                    <a:lstStyle/>
                    <a:p>
                      <a:r>
                        <a:rPr lang="en-US"/>
                        <a:t>Weighted avg</a:t>
                      </a:r>
                    </a:p>
                  </a:txBody>
                  <a:tcPr/>
                </a:tc>
                <a:tc>
                  <a:txBody>
                    <a:bodyPr/>
                    <a:lstStyle/>
                    <a:p>
                      <a:r>
                        <a:rPr lang="en-US"/>
                        <a:t>0.85</a:t>
                      </a:r>
                    </a:p>
                  </a:txBody>
                  <a:tcPr/>
                </a:tc>
                <a:tc>
                  <a:txBody>
                    <a:bodyPr/>
                    <a:lstStyle/>
                    <a:p>
                      <a:r>
                        <a:rPr lang="en-US"/>
                        <a:t>0.84</a:t>
                      </a:r>
                    </a:p>
                  </a:txBody>
                  <a:tcPr/>
                </a:tc>
                <a:tc>
                  <a:txBody>
                    <a:bodyPr/>
                    <a:lstStyle/>
                    <a:p>
                      <a:r>
                        <a:rPr lang="en-US"/>
                        <a:t>0.84</a:t>
                      </a:r>
                    </a:p>
                  </a:txBody>
                  <a:tcPr/>
                </a:tc>
                <a:tc>
                  <a:txBody>
                    <a:bodyPr/>
                    <a:lstStyle/>
                    <a:p>
                      <a:r>
                        <a:rPr lang="en-US"/>
                        <a:t>4736</a:t>
                      </a:r>
                    </a:p>
                  </a:txBody>
                  <a:tcPr/>
                </a:tc>
                <a:extLst>
                  <a:ext uri="{0D108BD9-81ED-4DB2-BD59-A6C34878D82A}">
                    <a16:rowId xmlns:a16="http://schemas.microsoft.com/office/drawing/2014/main" val="3874006795"/>
                  </a:ext>
                </a:extLst>
              </a:tr>
            </a:tbl>
          </a:graphicData>
        </a:graphic>
      </p:graphicFrame>
      <p:sp>
        <p:nvSpPr>
          <p:cNvPr id="5" name="TextBox 4">
            <a:extLst>
              <a:ext uri="{FF2B5EF4-FFF2-40B4-BE49-F238E27FC236}">
                <a16:creationId xmlns:a16="http://schemas.microsoft.com/office/drawing/2014/main" id="{B1FA3C54-217E-F394-6BC8-5DA0251B46A2}"/>
              </a:ext>
            </a:extLst>
          </p:cNvPr>
          <p:cNvSpPr txBox="1"/>
          <p:nvPr/>
        </p:nvSpPr>
        <p:spPr>
          <a:xfrm>
            <a:off x="995423" y="5058137"/>
            <a:ext cx="10358377" cy="1015663"/>
          </a:xfrm>
          <a:prstGeom prst="rect">
            <a:avLst/>
          </a:prstGeom>
          <a:noFill/>
        </p:spPr>
        <p:txBody>
          <a:bodyPr wrap="square" rtlCol="0">
            <a:spAutoFit/>
          </a:bodyPr>
          <a:lstStyle/>
          <a:p>
            <a:r>
              <a:rPr lang="en-US" sz="2000" b="1">
                <a:solidFill>
                  <a:schemeClr val="accent1"/>
                </a:solidFill>
              </a:rPr>
              <a:t>Conclusion: </a:t>
            </a:r>
            <a:r>
              <a:rPr lang="en-US" sz="2000" b="1"/>
              <a:t>The model has an overall accuracy of 84% (0.84). </a:t>
            </a:r>
          </a:p>
          <a:p>
            <a:endParaRPr lang="en-US" sz="2000"/>
          </a:p>
          <a:p>
            <a:r>
              <a:rPr lang="en-US" sz="2000"/>
              <a:t>This means it correctly predicted the class labels for 84% of the samples in the test set.</a:t>
            </a:r>
          </a:p>
        </p:txBody>
      </p:sp>
    </p:spTree>
    <p:extLst>
      <p:ext uri="{BB962C8B-B14F-4D97-AF65-F5344CB8AC3E}">
        <p14:creationId xmlns:p14="http://schemas.microsoft.com/office/powerpoint/2010/main" val="430744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magnifying glass on a graph&#10;&#10;AI-generated content may be incorrect.">
            <a:extLst>
              <a:ext uri="{FF2B5EF4-FFF2-40B4-BE49-F238E27FC236}">
                <a16:creationId xmlns:a16="http://schemas.microsoft.com/office/drawing/2014/main" id="{30F92F71-0AAA-059D-71BE-4BE9CEB9BC56}"/>
              </a:ext>
            </a:extLst>
          </p:cNvPr>
          <p:cNvPicPr>
            <a:picLocks noGrp="1" noRot="1" noChangeAspect="1" noMove="1" noResize="1" noEditPoints="1" noAdjustHandles="1" noChangeArrowheads="1" noChangeShapeType="1" noCrop="1"/>
          </p:cNvPicPr>
          <p:nvPr/>
        </p:nvPicPr>
        <p:blipFill>
          <a:blip r:embed="rId3"/>
          <a:srcRect t="22146" b="21604"/>
          <a:stretch/>
        </p:blipFill>
        <p:spPr>
          <a:xfrm>
            <a:off x="20" y="10"/>
            <a:ext cx="12191979" cy="6857989"/>
          </a:xfrm>
          <a:prstGeom prst="rect">
            <a:avLst/>
          </a:prstGeom>
        </p:spPr>
      </p:pic>
      <p:sp>
        <p:nvSpPr>
          <p:cNvPr id="21" name="Rectangle 20">
            <a:extLst>
              <a:ext uri="{FF2B5EF4-FFF2-40B4-BE49-F238E27FC236}">
                <a16:creationId xmlns:a16="http://schemas.microsoft.com/office/drawing/2014/main" id="{F7C2A816-955C-4079-AAAB-066EBD441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chemeClr val="tx2">
                  <a:lumMod val="50000"/>
                  <a:alpha val="0"/>
                </a:schemeClr>
              </a:gs>
              <a:gs pos="58000">
                <a:srgbClr val="0E0D12">
                  <a:alpha val="58000"/>
                </a:srgbClr>
              </a:gs>
              <a:gs pos="93000">
                <a:srgbClr val="000000">
                  <a:alpha val="58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CA6AEF-AB93-07B1-124F-0160E944CE00}"/>
              </a:ext>
            </a:extLst>
          </p:cNvPr>
          <p:cNvSpPr>
            <a:spLocks noGrp="1" noRot="1" noMove="1" noResize="1" noEditPoints="1" noAdjustHandles="1" noChangeArrowheads="1" noChangeShapeType="1"/>
          </p:cNvSpPr>
          <p:nvPr>
            <p:ph type="title"/>
          </p:nvPr>
        </p:nvSpPr>
        <p:spPr>
          <a:xfrm>
            <a:off x="841248" y="914400"/>
            <a:ext cx="4892948" cy="3427867"/>
          </a:xfrm>
        </p:spPr>
        <p:txBody>
          <a:bodyPr vert="horz" lIns="91440" tIns="45720" rIns="91440" bIns="45720" rtlCol="0" anchor="t">
            <a:normAutofit/>
          </a:bodyPr>
          <a:lstStyle/>
          <a:p>
            <a:pPr>
              <a:lnSpc>
                <a:spcPct val="90000"/>
              </a:lnSpc>
            </a:pPr>
            <a:r>
              <a:rPr lang="en-US" sz="5100">
                <a:solidFill>
                  <a:srgbClr val="FFFFFF"/>
                </a:solidFill>
              </a:rPr>
              <a:t>Let's see how well our model performs on unseen data?</a:t>
            </a:r>
          </a:p>
        </p:txBody>
      </p:sp>
    </p:spTree>
    <p:extLst>
      <p:ext uri="{BB962C8B-B14F-4D97-AF65-F5344CB8AC3E}">
        <p14:creationId xmlns:p14="http://schemas.microsoft.com/office/powerpoint/2010/main" val="410280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C73F68-594F-9553-E12F-7644E0BAA99C}"/>
              </a:ext>
            </a:extLst>
          </p:cNvPr>
          <p:cNvSpPr>
            <a:spLocks noGrp="1"/>
          </p:cNvSpPr>
          <p:nvPr>
            <p:ph type="title"/>
          </p:nvPr>
        </p:nvSpPr>
        <p:spPr>
          <a:xfrm>
            <a:off x="838200" y="596644"/>
            <a:ext cx="6319746" cy="1962406"/>
          </a:xfrm>
        </p:spPr>
        <p:txBody>
          <a:bodyPr vert="horz" lIns="91440" tIns="45720" rIns="91440" bIns="45720" rtlCol="0" anchor="ctr">
            <a:normAutofit/>
          </a:bodyPr>
          <a:lstStyle/>
          <a:p>
            <a:r>
              <a:rPr lang="en-US" sz="6600"/>
              <a:t>New dataset:</a:t>
            </a:r>
          </a:p>
        </p:txBody>
      </p:sp>
      <p:graphicFrame>
        <p:nvGraphicFramePr>
          <p:cNvPr id="3" name="Table 2">
            <a:extLst>
              <a:ext uri="{FF2B5EF4-FFF2-40B4-BE49-F238E27FC236}">
                <a16:creationId xmlns:a16="http://schemas.microsoft.com/office/drawing/2014/main" id="{6FA03B07-2F07-4F1C-E63B-4518F40B0274}"/>
              </a:ext>
            </a:extLst>
          </p:cNvPr>
          <p:cNvGraphicFramePr>
            <a:graphicFrameLocks noGrp="1"/>
          </p:cNvGraphicFramePr>
          <p:nvPr>
            <p:extLst>
              <p:ext uri="{D42A27DB-BD31-4B8C-83A1-F6EECF244321}">
                <p14:modId xmlns:p14="http://schemas.microsoft.com/office/powerpoint/2010/main" val="967043950"/>
              </p:ext>
            </p:extLst>
          </p:nvPr>
        </p:nvGraphicFramePr>
        <p:xfrm>
          <a:off x="838199" y="3201513"/>
          <a:ext cx="10740397" cy="2770436"/>
        </p:xfrm>
        <a:graphic>
          <a:graphicData uri="http://schemas.openxmlformats.org/drawingml/2006/table">
            <a:tbl>
              <a:tblPr firstRow="1" bandRow="1">
                <a:tableStyleId>{5C22544A-7EE6-4342-B048-85BDC9FD1C3A}</a:tableStyleId>
              </a:tblPr>
              <a:tblGrid>
                <a:gridCol w="503612">
                  <a:extLst>
                    <a:ext uri="{9D8B030D-6E8A-4147-A177-3AD203B41FA5}">
                      <a16:colId xmlns:a16="http://schemas.microsoft.com/office/drawing/2014/main" val="3188932110"/>
                    </a:ext>
                  </a:extLst>
                </a:gridCol>
                <a:gridCol w="1226169">
                  <a:extLst>
                    <a:ext uri="{9D8B030D-6E8A-4147-A177-3AD203B41FA5}">
                      <a16:colId xmlns:a16="http://schemas.microsoft.com/office/drawing/2014/main" val="2183897140"/>
                    </a:ext>
                  </a:extLst>
                </a:gridCol>
                <a:gridCol w="982415">
                  <a:extLst>
                    <a:ext uri="{9D8B030D-6E8A-4147-A177-3AD203B41FA5}">
                      <a16:colId xmlns:a16="http://schemas.microsoft.com/office/drawing/2014/main" val="4270031304"/>
                    </a:ext>
                  </a:extLst>
                </a:gridCol>
                <a:gridCol w="1452510">
                  <a:extLst>
                    <a:ext uri="{9D8B030D-6E8A-4147-A177-3AD203B41FA5}">
                      <a16:colId xmlns:a16="http://schemas.microsoft.com/office/drawing/2014/main" val="463358264"/>
                    </a:ext>
                  </a:extLst>
                </a:gridCol>
                <a:gridCol w="1086880">
                  <a:extLst>
                    <a:ext uri="{9D8B030D-6E8A-4147-A177-3AD203B41FA5}">
                      <a16:colId xmlns:a16="http://schemas.microsoft.com/office/drawing/2014/main" val="3674390553"/>
                    </a:ext>
                  </a:extLst>
                </a:gridCol>
                <a:gridCol w="982415">
                  <a:extLst>
                    <a:ext uri="{9D8B030D-6E8A-4147-A177-3AD203B41FA5}">
                      <a16:colId xmlns:a16="http://schemas.microsoft.com/office/drawing/2014/main" val="2794068692"/>
                    </a:ext>
                  </a:extLst>
                </a:gridCol>
                <a:gridCol w="1036824">
                  <a:extLst>
                    <a:ext uri="{9D8B030D-6E8A-4147-A177-3AD203B41FA5}">
                      <a16:colId xmlns:a16="http://schemas.microsoft.com/office/drawing/2014/main" val="2768338684"/>
                    </a:ext>
                  </a:extLst>
                </a:gridCol>
                <a:gridCol w="1149995">
                  <a:extLst>
                    <a:ext uri="{9D8B030D-6E8A-4147-A177-3AD203B41FA5}">
                      <a16:colId xmlns:a16="http://schemas.microsoft.com/office/drawing/2014/main" val="2571579587"/>
                    </a:ext>
                  </a:extLst>
                </a:gridCol>
                <a:gridCol w="1117349">
                  <a:extLst>
                    <a:ext uri="{9D8B030D-6E8A-4147-A177-3AD203B41FA5}">
                      <a16:colId xmlns:a16="http://schemas.microsoft.com/office/drawing/2014/main" val="327816935"/>
                    </a:ext>
                  </a:extLst>
                </a:gridCol>
                <a:gridCol w="1202228">
                  <a:extLst>
                    <a:ext uri="{9D8B030D-6E8A-4147-A177-3AD203B41FA5}">
                      <a16:colId xmlns:a16="http://schemas.microsoft.com/office/drawing/2014/main" val="1927811338"/>
                    </a:ext>
                  </a:extLst>
                </a:gridCol>
              </a:tblGrid>
              <a:tr h="864977">
                <a:tc>
                  <a:txBody>
                    <a:bodyPr/>
                    <a:lstStyle/>
                    <a:p>
                      <a:endParaRPr lang="en-US" sz="1500"/>
                    </a:p>
                  </a:txBody>
                  <a:tcPr marL="125359" marR="125359" marT="62679" marB="62679"/>
                </a:tc>
                <a:tc>
                  <a:txBody>
                    <a:bodyPr/>
                    <a:lstStyle/>
                    <a:p>
                      <a:pPr algn="ctr"/>
                      <a:r>
                        <a:rPr lang="en-US" sz="1500" b="0"/>
                        <a:t>Customer ID</a:t>
                      </a:r>
                    </a:p>
                  </a:txBody>
                  <a:tcPr marL="125359" marR="125359" marT="62679" marB="62679"/>
                </a:tc>
                <a:tc>
                  <a:txBody>
                    <a:bodyPr/>
                    <a:lstStyle/>
                    <a:p>
                      <a:pPr algn="ctr"/>
                      <a:r>
                        <a:rPr lang="en-US" sz="1500" b="0"/>
                        <a:t>Age</a:t>
                      </a:r>
                    </a:p>
                  </a:txBody>
                  <a:tcPr marL="125359" marR="125359" marT="62679" marB="62679"/>
                </a:tc>
                <a:tc>
                  <a:txBody>
                    <a:bodyPr/>
                    <a:lstStyle/>
                    <a:p>
                      <a:pPr algn="ctr"/>
                      <a:r>
                        <a:rPr lang="en-US" sz="1500" b="0" kern="1200">
                          <a:solidFill>
                            <a:schemeClr val="lt1"/>
                          </a:solidFill>
                          <a:latin typeface="+mn-lt"/>
                          <a:ea typeface="+mn-ea"/>
                          <a:cs typeface="+mn-cs"/>
                        </a:rPr>
                        <a:t>Subscription</a:t>
                      </a:r>
                    </a:p>
                    <a:p>
                      <a:pPr algn="ctr"/>
                      <a:r>
                        <a:rPr lang="en-US" sz="1500" b="0" kern="1200">
                          <a:solidFill>
                            <a:schemeClr val="lt1"/>
                          </a:solidFill>
                          <a:latin typeface="+mn-lt"/>
                          <a:ea typeface="+mn-ea"/>
                          <a:cs typeface="+mn-cs"/>
                        </a:rPr>
                        <a:t>Length (months)</a:t>
                      </a:r>
                    </a:p>
                  </a:txBody>
                  <a:tcPr marL="125359" marR="125359" marT="62679" marB="62679"/>
                </a:tc>
                <a:tc>
                  <a:txBody>
                    <a:bodyPr/>
                    <a:lstStyle/>
                    <a:p>
                      <a:pPr algn="ctr"/>
                      <a:r>
                        <a:rPr lang="en-US" sz="1400" b="0"/>
                        <a:t>Monthly </a:t>
                      </a:r>
                    </a:p>
                    <a:p>
                      <a:pPr algn="ctr"/>
                      <a:r>
                        <a:rPr lang="en-US" sz="1400" b="0"/>
                        <a:t>Bill</a:t>
                      </a:r>
                    </a:p>
                    <a:p>
                      <a:pPr algn="ctr"/>
                      <a:r>
                        <a:rPr lang="en-US" sz="1400" b="0"/>
                        <a:t>($)</a:t>
                      </a:r>
                    </a:p>
                  </a:txBody>
                  <a:tcPr marL="125359" marR="125359" marT="62679" marB="62679"/>
                </a:tc>
                <a:tc>
                  <a:txBody>
                    <a:bodyPr/>
                    <a:lstStyle/>
                    <a:p>
                      <a:pPr algn="ctr"/>
                      <a:r>
                        <a:rPr lang="en-US" sz="1400" b="0"/>
                        <a:t>Total</a:t>
                      </a:r>
                    </a:p>
                    <a:p>
                      <a:pPr algn="ctr"/>
                      <a:r>
                        <a:rPr lang="en-US" sz="1400" b="0"/>
                        <a:t>Usage (GB)</a:t>
                      </a:r>
                    </a:p>
                  </a:txBody>
                  <a:tcPr marL="125359" marR="125359" marT="62679" marB="62679"/>
                </a:tc>
                <a:tc>
                  <a:txBody>
                    <a:bodyPr/>
                    <a:lstStyle/>
                    <a:p>
                      <a:pPr algn="ctr"/>
                      <a:r>
                        <a:rPr lang="en-US" sz="1400" b="0"/>
                        <a:t>Support Calls</a:t>
                      </a:r>
                    </a:p>
                  </a:txBody>
                  <a:tcPr marL="125359" marR="125359" marT="62679" marB="62679"/>
                </a:tc>
                <a:tc>
                  <a:txBody>
                    <a:bodyPr/>
                    <a:lstStyle/>
                    <a:p>
                      <a:pPr algn="ctr"/>
                      <a:r>
                        <a:rPr lang="en-US" sz="1400" b="0"/>
                        <a:t>Contract Type</a:t>
                      </a:r>
                    </a:p>
                  </a:txBody>
                  <a:tcPr marL="125359" marR="125359" marT="62679" marB="62679"/>
                </a:tc>
                <a:tc>
                  <a:txBody>
                    <a:bodyPr/>
                    <a:lstStyle/>
                    <a:p>
                      <a:pPr algn="ctr"/>
                      <a:r>
                        <a:rPr lang="en-US" sz="1400" b="0"/>
                        <a:t>Payment Method</a:t>
                      </a:r>
                    </a:p>
                  </a:txBody>
                  <a:tcPr marL="125359" marR="125359" marT="62679" marB="62679"/>
                </a:tc>
                <a:tc>
                  <a:txBody>
                    <a:bodyPr/>
                    <a:lstStyle/>
                    <a:p>
                      <a:pPr algn="ctr"/>
                      <a:r>
                        <a:rPr lang="en-US" sz="1400" b="0"/>
                        <a:t>Has Additional Services</a:t>
                      </a:r>
                    </a:p>
                  </a:txBody>
                  <a:tcPr marL="125359" marR="125359" marT="62679" marB="62679"/>
                </a:tc>
                <a:extLst>
                  <a:ext uri="{0D108BD9-81ED-4DB2-BD59-A6C34878D82A}">
                    <a16:rowId xmlns:a16="http://schemas.microsoft.com/office/drawing/2014/main" val="1268813656"/>
                  </a:ext>
                </a:extLst>
              </a:tr>
              <a:tr h="635153">
                <a:tc>
                  <a:txBody>
                    <a:bodyPr/>
                    <a:lstStyle/>
                    <a:p>
                      <a:pPr algn="ctr"/>
                      <a:r>
                        <a:rPr lang="en-US" sz="1500"/>
                        <a:t>1</a:t>
                      </a:r>
                    </a:p>
                  </a:txBody>
                  <a:tcPr marL="125359" marR="125359" marT="62679" marB="62679"/>
                </a:tc>
                <a:tc>
                  <a:txBody>
                    <a:bodyPr/>
                    <a:lstStyle/>
                    <a:p>
                      <a:pPr algn="ctr"/>
                      <a:r>
                        <a:rPr lang="en-US" sz="1500"/>
                        <a:t>10001</a:t>
                      </a:r>
                    </a:p>
                  </a:txBody>
                  <a:tcPr marL="125359" marR="125359" marT="62679" marB="62679"/>
                </a:tc>
                <a:tc>
                  <a:txBody>
                    <a:bodyPr/>
                    <a:lstStyle/>
                    <a:p>
                      <a:pPr algn="ctr"/>
                      <a:r>
                        <a:rPr lang="en-US" sz="1500"/>
                        <a:t>43.296</a:t>
                      </a:r>
                    </a:p>
                  </a:txBody>
                  <a:tcPr marL="125359" marR="125359" marT="62679" marB="62679"/>
                </a:tc>
                <a:tc>
                  <a:txBody>
                    <a:bodyPr/>
                    <a:lstStyle/>
                    <a:p>
                      <a:pPr algn="ctr"/>
                      <a:r>
                        <a:rPr lang="en-US" sz="1500"/>
                        <a:t>33.66</a:t>
                      </a:r>
                    </a:p>
                  </a:txBody>
                  <a:tcPr marL="125359" marR="125359" marT="62679" marB="62679"/>
                </a:tc>
                <a:tc>
                  <a:txBody>
                    <a:bodyPr/>
                    <a:lstStyle/>
                    <a:p>
                      <a:pPr algn="ctr"/>
                      <a:r>
                        <a:rPr lang="en-US" sz="1500"/>
                        <a:t>107.8</a:t>
                      </a:r>
                    </a:p>
                  </a:txBody>
                  <a:tcPr marL="125359" marR="125359" marT="62679" marB="62679"/>
                </a:tc>
                <a:tc>
                  <a:txBody>
                    <a:bodyPr/>
                    <a:lstStyle/>
                    <a:p>
                      <a:pPr algn="ctr"/>
                      <a:r>
                        <a:rPr lang="en-US" sz="1500"/>
                        <a:t>230.95</a:t>
                      </a:r>
                    </a:p>
                  </a:txBody>
                  <a:tcPr marL="125359" marR="125359" marT="62679" marB="62679"/>
                </a:tc>
                <a:tc>
                  <a:txBody>
                    <a:bodyPr/>
                    <a:lstStyle/>
                    <a:p>
                      <a:pPr algn="ctr"/>
                      <a:r>
                        <a:rPr lang="en-US" sz="1500"/>
                        <a:t>1</a:t>
                      </a:r>
                    </a:p>
                  </a:txBody>
                  <a:tcPr marL="125359" marR="125359" marT="62679" marB="62679"/>
                </a:tc>
                <a:tc>
                  <a:txBody>
                    <a:bodyPr/>
                    <a:lstStyle/>
                    <a:p>
                      <a:pPr algn="ctr"/>
                      <a:r>
                        <a:rPr lang="en-US" sz="1500"/>
                        <a:t>Month-to-Month</a:t>
                      </a:r>
                    </a:p>
                  </a:txBody>
                  <a:tcPr marL="125359" marR="125359" marT="62679" marB="62679"/>
                </a:tc>
                <a:tc>
                  <a:txBody>
                    <a:bodyPr/>
                    <a:lstStyle/>
                    <a:p>
                      <a:pPr algn="ctr"/>
                      <a:r>
                        <a:rPr lang="en-US" sz="1500"/>
                        <a:t>Debit Card</a:t>
                      </a:r>
                    </a:p>
                  </a:txBody>
                  <a:tcPr marL="125359" marR="125359" marT="62679" marB="62679"/>
                </a:tc>
                <a:tc>
                  <a:txBody>
                    <a:bodyPr/>
                    <a:lstStyle/>
                    <a:p>
                      <a:pPr algn="ctr"/>
                      <a:r>
                        <a:rPr lang="en-US" sz="1500"/>
                        <a:t>1</a:t>
                      </a:r>
                    </a:p>
                  </a:txBody>
                  <a:tcPr marL="125359" marR="125359" marT="62679" marB="62679"/>
                </a:tc>
                <a:extLst>
                  <a:ext uri="{0D108BD9-81ED-4DB2-BD59-A6C34878D82A}">
                    <a16:rowId xmlns:a16="http://schemas.microsoft.com/office/drawing/2014/main" val="3517296463"/>
                  </a:ext>
                </a:extLst>
              </a:tr>
              <a:tr h="635153">
                <a:tc>
                  <a:txBody>
                    <a:bodyPr/>
                    <a:lstStyle/>
                    <a:p>
                      <a:pPr algn="ctr"/>
                      <a:r>
                        <a:rPr lang="en-US" sz="1500"/>
                        <a:t>2</a:t>
                      </a:r>
                    </a:p>
                  </a:txBody>
                  <a:tcPr marL="125359" marR="125359" marT="62679" marB="62679"/>
                </a:tc>
                <a:tc>
                  <a:txBody>
                    <a:bodyPr/>
                    <a:lstStyle/>
                    <a:p>
                      <a:pPr algn="ctr"/>
                      <a:r>
                        <a:rPr lang="en-US" sz="1500"/>
                        <a:t>10002</a:t>
                      </a:r>
                    </a:p>
                  </a:txBody>
                  <a:tcPr marL="125359" marR="125359" marT="62679" marB="62679"/>
                </a:tc>
                <a:tc>
                  <a:txBody>
                    <a:bodyPr/>
                    <a:lstStyle/>
                    <a:p>
                      <a:pPr algn="ctr"/>
                      <a:r>
                        <a:rPr lang="en-US" sz="1500"/>
                        <a:t>55.704</a:t>
                      </a:r>
                    </a:p>
                  </a:txBody>
                  <a:tcPr marL="125359" marR="125359" marT="62679" marB="62679"/>
                </a:tc>
                <a:tc>
                  <a:txBody>
                    <a:bodyPr/>
                    <a:lstStyle/>
                    <a:p>
                      <a:pPr algn="ctr"/>
                      <a:r>
                        <a:rPr lang="en-US" sz="1500"/>
                        <a:t>48.45</a:t>
                      </a:r>
                    </a:p>
                  </a:txBody>
                  <a:tcPr marL="125359" marR="125359" marT="62679" marB="62679"/>
                </a:tc>
                <a:tc>
                  <a:txBody>
                    <a:bodyPr/>
                    <a:lstStyle/>
                    <a:p>
                      <a:pPr algn="ctr"/>
                      <a:r>
                        <a:rPr lang="en-US" sz="1500"/>
                        <a:t>144.6</a:t>
                      </a:r>
                    </a:p>
                  </a:txBody>
                  <a:tcPr marL="125359" marR="125359" marT="62679" marB="62679"/>
                </a:tc>
                <a:tc>
                  <a:txBody>
                    <a:bodyPr/>
                    <a:lstStyle/>
                    <a:p>
                      <a:pPr algn="ctr"/>
                      <a:r>
                        <a:rPr lang="en-US" sz="1500"/>
                        <a:t>398.05</a:t>
                      </a:r>
                    </a:p>
                  </a:txBody>
                  <a:tcPr marL="125359" marR="125359" marT="62679" marB="62679"/>
                </a:tc>
                <a:tc>
                  <a:txBody>
                    <a:bodyPr/>
                    <a:lstStyle/>
                    <a:p>
                      <a:pPr algn="ctr"/>
                      <a:r>
                        <a:rPr lang="en-US" sz="1500"/>
                        <a:t>9</a:t>
                      </a:r>
                    </a:p>
                  </a:txBody>
                  <a:tcPr marL="125359" marR="125359" marT="62679" marB="62679"/>
                </a:tc>
                <a:tc>
                  <a:txBody>
                    <a:bodyPr/>
                    <a:lstStyle/>
                    <a:p>
                      <a:pPr algn="ctr"/>
                      <a:r>
                        <a:rPr lang="en-US" sz="1500"/>
                        <a:t>One Year</a:t>
                      </a:r>
                    </a:p>
                  </a:txBody>
                  <a:tcPr marL="125359" marR="125359" marT="62679" marB="62679"/>
                </a:tc>
                <a:tc>
                  <a:txBody>
                    <a:bodyPr/>
                    <a:lstStyle/>
                    <a:p>
                      <a:pPr algn="ctr"/>
                      <a:r>
                        <a:rPr lang="en-US" sz="1500"/>
                        <a:t>Credit Card</a:t>
                      </a:r>
                    </a:p>
                  </a:txBody>
                  <a:tcPr marL="125359" marR="125359" marT="62679" marB="62679"/>
                </a:tc>
                <a:tc>
                  <a:txBody>
                    <a:bodyPr/>
                    <a:lstStyle/>
                    <a:p>
                      <a:pPr algn="ctr"/>
                      <a:r>
                        <a:rPr lang="en-US" sz="1500"/>
                        <a:t>1</a:t>
                      </a:r>
                    </a:p>
                  </a:txBody>
                  <a:tcPr marL="125359" marR="125359" marT="62679" marB="62679"/>
                </a:tc>
                <a:extLst>
                  <a:ext uri="{0D108BD9-81ED-4DB2-BD59-A6C34878D82A}">
                    <a16:rowId xmlns:a16="http://schemas.microsoft.com/office/drawing/2014/main" val="827871547"/>
                  </a:ext>
                </a:extLst>
              </a:tr>
              <a:tr h="635153">
                <a:tc>
                  <a:txBody>
                    <a:bodyPr/>
                    <a:lstStyle/>
                    <a:p>
                      <a:pPr algn="ctr"/>
                      <a:r>
                        <a:rPr lang="en-US" sz="1500"/>
                        <a:t>3</a:t>
                      </a:r>
                    </a:p>
                  </a:txBody>
                  <a:tcPr marL="125359" marR="125359" marT="62679" marB="62679"/>
                </a:tc>
                <a:tc>
                  <a:txBody>
                    <a:bodyPr/>
                    <a:lstStyle/>
                    <a:p>
                      <a:pPr algn="ctr"/>
                      <a:r>
                        <a:rPr lang="en-US" sz="1500"/>
                        <a:t>10003</a:t>
                      </a:r>
                    </a:p>
                  </a:txBody>
                  <a:tcPr marL="125359" marR="125359" marT="62679" marB="62679"/>
                </a:tc>
                <a:tc>
                  <a:txBody>
                    <a:bodyPr/>
                    <a:lstStyle/>
                    <a:p>
                      <a:pPr algn="ctr"/>
                      <a:r>
                        <a:rPr lang="en-US" sz="1500"/>
                        <a:t>35.928</a:t>
                      </a:r>
                    </a:p>
                  </a:txBody>
                  <a:tcPr marL="125359" marR="125359" marT="62679" marB="62679"/>
                </a:tc>
                <a:tc>
                  <a:txBody>
                    <a:bodyPr/>
                    <a:lstStyle/>
                    <a:p>
                      <a:pPr algn="ctr"/>
                      <a:r>
                        <a:rPr lang="en-US" sz="1500"/>
                        <a:t>27.08</a:t>
                      </a:r>
                    </a:p>
                  </a:txBody>
                  <a:tcPr marL="125359" marR="125359" marT="62679" marB="62679"/>
                </a:tc>
                <a:tc>
                  <a:txBody>
                    <a:bodyPr/>
                    <a:lstStyle/>
                    <a:p>
                      <a:pPr algn="ctr"/>
                      <a:r>
                        <a:rPr lang="en-US" sz="1500"/>
                        <a:t>71.65</a:t>
                      </a:r>
                    </a:p>
                  </a:txBody>
                  <a:tcPr marL="125359" marR="125359" marT="62679" marB="62679"/>
                </a:tc>
                <a:tc>
                  <a:txBody>
                    <a:bodyPr/>
                    <a:lstStyle/>
                    <a:p>
                      <a:pPr algn="ctr"/>
                      <a:r>
                        <a:rPr lang="en-US" sz="1500"/>
                        <a:t>131.65</a:t>
                      </a:r>
                    </a:p>
                  </a:txBody>
                  <a:tcPr marL="125359" marR="125359" marT="62679" marB="62679"/>
                </a:tc>
                <a:tc>
                  <a:txBody>
                    <a:bodyPr/>
                    <a:lstStyle/>
                    <a:p>
                      <a:pPr algn="ctr"/>
                      <a:r>
                        <a:rPr lang="en-US" sz="1500"/>
                        <a:t>1</a:t>
                      </a:r>
                    </a:p>
                  </a:txBody>
                  <a:tcPr marL="125359" marR="125359" marT="62679" marB="62679"/>
                </a:tc>
                <a:tc>
                  <a:txBody>
                    <a:bodyPr/>
                    <a:lstStyle/>
                    <a:p>
                      <a:pPr algn="ctr"/>
                      <a:r>
                        <a:rPr lang="en-US" sz="1500"/>
                        <a:t>Month-to-Month</a:t>
                      </a:r>
                    </a:p>
                  </a:txBody>
                  <a:tcPr marL="125359" marR="125359" marT="62679" marB="62679"/>
                </a:tc>
                <a:tc>
                  <a:txBody>
                    <a:bodyPr/>
                    <a:lstStyle/>
                    <a:p>
                      <a:pPr algn="ctr"/>
                      <a:r>
                        <a:rPr lang="en-US" sz="1500"/>
                        <a:t>PayPal</a:t>
                      </a:r>
                    </a:p>
                  </a:txBody>
                  <a:tcPr marL="125359" marR="125359" marT="62679" marB="62679"/>
                </a:tc>
                <a:tc>
                  <a:txBody>
                    <a:bodyPr/>
                    <a:lstStyle/>
                    <a:p>
                      <a:pPr algn="ctr"/>
                      <a:r>
                        <a:rPr lang="en-US" sz="1500"/>
                        <a:t>0</a:t>
                      </a:r>
                    </a:p>
                  </a:txBody>
                  <a:tcPr marL="125359" marR="125359" marT="62679" marB="62679"/>
                </a:tc>
                <a:extLst>
                  <a:ext uri="{0D108BD9-81ED-4DB2-BD59-A6C34878D82A}">
                    <a16:rowId xmlns:a16="http://schemas.microsoft.com/office/drawing/2014/main" val="3543222360"/>
                  </a:ext>
                </a:extLst>
              </a:tr>
            </a:tbl>
          </a:graphicData>
        </a:graphic>
      </p:graphicFrame>
    </p:spTree>
    <p:extLst>
      <p:ext uri="{BB962C8B-B14F-4D97-AF65-F5344CB8AC3E}">
        <p14:creationId xmlns:p14="http://schemas.microsoft.com/office/powerpoint/2010/main" val="2929722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42" name="Rectangle 5141">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453284-9AB8-C4AC-547B-57506572DC9D}"/>
              </a:ext>
            </a:extLst>
          </p:cNvPr>
          <p:cNvSpPr>
            <a:spLocks noGrp="1"/>
          </p:cNvSpPr>
          <p:nvPr>
            <p:ph type="title"/>
          </p:nvPr>
        </p:nvSpPr>
        <p:spPr>
          <a:xfrm>
            <a:off x="6726955" y="596644"/>
            <a:ext cx="4626845" cy="3435606"/>
          </a:xfrm>
        </p:spPr>
        <p:txBody>
          <a:bodyPr vert="horz" lIns="91440" tIns="45720" rIns="91440" bIns="45720" rtlCol="0" anchor="b">
            <a:normAutofit/>
          </a:bodyPr>
          <a:lstStyle/>
          <a:p>
            <a:pPr algn="r">
              <a:lnSpc>
                <a:spcPct val="90000"/>
              </a:lnSpc>
            </a:pPr>
            <a:r>
              <a:rPr lang="en-US" sz="5600"/>
              <a:t>Feature Importance using Naïve Bayes</a:t>
            </a:r>
          </a:p>
        </p:txBody>
      </p:sp>
      <p:pic>
        <p:nvPicPr>
          <p:cNvPr id="5130" name="Picture 10" descr="Output image">
            <a:extLst>
              <a:ext uri="{FF2B5EF4-FFF2-40B4-BE49-F238E27FC236}">
                <a16:creationId xmlns:a16="http://schemas.microsoft.com/office/drawing/2014/main" id="{4FD5A8CB-E0A7-0BD6-F624-228FF5B9AE5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1556" y="963479"/>
            <a:ext cx="2660904" cy="1922503"/>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Output image">
            <a:extLst>
              <a:ext uri="{FF2B5EF4-FFF2-40B4-BE49-F238E27FC236}">
                <a16:creationId xmlns:a16="http://schemas.microsoft.com/office/drawing/2014/main" id="{2B4947D3-DB74-8CA1-5F41-0AFFA3C0647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1556" y="4025236"/>
            <a:ext cx="2660904" cy="181606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Output image">
            <a:extLst>
              <a:ext uri="{FF2B5EF4-FFF2-40B4-BE49-F238E27FC236}">
                <a16:creationId xmlns:a16="http://schemas.microsoft.com/office/drawing/2014/main" id="{6FC010B7-DB14-E834-FFE7-D631F6F976ED}"/>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575370" y="1020024"/>
            <a:ext cx="2660904" cy="1809413"/>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Output image">
            <a:extLst>
              <a:ext uri="{FF2B5EF4-FFF2-40B4-BE49-F238E27FC236}">
                <a16:creationId xmlns:a16="http://schemas.microsoft.com/office/drawing/2014/main" id="{6F94ED73-D572-95FC-297B-053C8A13D53D}"/>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3575370" y="4031888"/>
            <a:ext cx="2660904" cy="18027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E8FB91-F984-01ED-2A56-F8659212D9C0}"/>
              </a:ext>
            </a:extLst>
          </p:cNvPr>
          <p:cNvSpPr txBox="1"/>
          <p:nvPr/>
        </p:nvSpPr>
        <p:spPr>
          <a:xfrm>
            <a:off x="9282048" y="5033329"/>
            <a:ext cx="49500" cy="89804"/>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285226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2A932-ED5D-E247-56C8-D2304F1FCF29}"/>
              </a:ext>
            </a:extLst>
          </p:cNvPr>
          <p:cNvSpPr>
            <a:spLocks noGrp="1"/>
          </p:cNvSpPr>
          <p:nvPr>
            <p:ph type="title"/>
          </p:nvPr>
        </p:nvSpPr>
        <p:spPr>
          <a:xfrm>
            <a:off x="247891" y="365125"/>
            <a:ext cx="10515600" cy="1325563"/>
          </a:xfrm>
        </p:spPr>
        <p:txBody>
          <a:bodyPr anchor="ctr">
            <a:normAutofit/>
          </a:bodyPr>
          <a:lstStyle/>
          <a:p>
            <a:r>
              <a:rPr lang="en-US" sz="4000"/>
              <a:t>Importance of Feature</a:t>
            </a:r>
            <a:br>
              <a:rPr lang="en-US" sz="4000"/>
            </a:br>
            <a:r>
              <a:rPr lang="en-US" sz="2000"/>
              <a:t>(determined using Random Forest):</a:t>
            </a:r>
            <a:endParaRPr lang="en-US" sz="4000"/>
          </a:p>
        </p:txBody>
      </p:sp>
      <p:pic>
        <p:nvPicPr>
          <p:cNvPr id="5122" name="Picture 2">
            <a:extLst>
              <a:ext uri="{FF2B5EF4-FFF2-40B4-BE49-F238E27FC236}">
                <a16:creationId xmlns:a16="http://schemas.microsoft.com/office/drawing/2014/main" id="{A8026E57-9F1E-A938-36E0-89D5DC3B879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71645" y="1820506"/>
            <a:ext cx="7868092" cy="4672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9159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AB73-3058-CF8A-9F31-F9568E3ED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EE581-4962-0EA2-6B93-ACF5CDBCA670}"/>
              </a:ext>
            </a:extLst>
          </p:cNvPr>
          <p:cNvSpPr>
            <a:spLocks noGrp="1"/>
          </p:cNvSpPr>
          <p:nvPr>
            <p:ph type="title"/>
          </p:nvPr>
        </p:nvSpPr>
        <p:spPr/>
        <p:txBody>
          <a:bodyPr/>
          <a:lstStyle/>
          <a:p>
            <a:r>
              <a:rPr lang="en-US"/>
              <a:t>Which model performed best?</a:t>
            </a:r>
          </a:p>
        </p:txBody>
      </p:sp>
      <p:sp>
        <p:nvSpPr>
          <p:cNvPr id="3" name="Content Placeholder 2">
            <a:extLst>
              <a:ext uri="{FF2B5EF4-FFF2-40B4-BE49-F238E27FC236}">
                <a16:creationId xmlns:a16="http://schemas.microsoft.com/office/drawing/2014/main" id="{710F8B3A-AA51-158F-5902-57B550A63D5C}"/>
              </a:ext>
            </a:extLst>
          </p:cNvPr>
          <p:cNvSpPr>
            <a:spLocks noGrp="1"/>
          </p:cNvSpPr>
          <p:nvPr>
            <p:ph idx="1"/>
          </p:nvPr>
        </p:nvSpPr>
        <p:spPr/>
        <p:txBody>
          <a:bodyPr>
            <a:normAutofit lnSpcReduction="10000"/>
          </a:bodyPr>
          <a:lstStyle/>
          <a:p>
            <a:r>
              <a:rPr lang="en-US" b="1" i="0">
                <a:solidFill>
                  <a:srgbClr val="374151"/>
                </a:solidFill>
                <a:effectLst/>
                <a:latin typeface="__foundersGrotesk_c3e0d2"/>
              </a:rPr>
              <a:t>Random Forest </a:t>
            </a:r>
            <a:r>
              <a:rPr lang="en-US" b="0" i="0">
                <a:solidFill>
                  <a:srgbClr val="374151"/>
                </a:solidFill>
                <a:effectLst/>
                <a:latin typeface="__foundersGrotesk_c3e0d2"/>
              </a:rPr>
              <a:t>emerged as the </a:t>
            </a:r>
            <a:r>
              <a:rPr lang="en-US" b="1" i="0">
                <a:solidFill>
                  <a:srgbClr val="374151"/>
                </a:solidFill>
                <a:effectLst/>
                <a:latin typeface="__foundersGrotesk_c3e0d2"/>
              </a:rPr>
              <a:t>top-performing model </a:t>
            </a:r>
            <a:r>
              <a:rPr lang="en-US" b="0" i="0">
                <a:solidFill>
                  <a:srgbClr val="374151"/>
                </a:solidFill>
                <a:effectLst/>
                <a:latin typeface="__foundersGrotesk_c3e0d2"/>
              </a:rPr>
              <a:t>due to its ensemble learning approach. Unlike a single decision tree, it aggregates predictions from multiple trees, significantly improving accuracy. </a:t>
            </a:r>
          </a:p>
          <a:p>
            <a:r>
              <a:rPr lang="en-US" b="0" i="0">
                <a:solidFill>
                  <a:srgbClr val="374151"/>
                </a:solidFill>
                <a:effectLst/>
                <a:latin typeface="__foundersGrotesk_c3e0d2"/>
              </a:rPr>
              <a:t>One of its key strengths is robustness—Random Forest is less sensitive to noisy data and missing values compared to other classifiers. </a:t>
            </a:r>
          </a:p>
          <a:p>
            <a:r>
              <a:rPr lang="en-US" b="0" i="0">
                <a:solidFill>
                  <a:srgbClr val="374151"/>
                </a:solidFill>
                <a:effectLst/>
                <a:latin typeface="__foundersGrotesk_c3e0d2"/>
              </a:rPr>
              <a:t>It also provides feature importance rankings, helping us understand which variables influence predictions the most. </a:t>
            </a:r>
          </a:p>
          <a:p>
            <a:r>
              <a:rPr lang="en-US" b="0" i="0">
                <a:solidFill>
                  <a:srgbClr val="374151"/>
                </a:solidFill>
                <a:effectLst/>
                <a:latin typeface="__foundersGrotesk_c3e0d2"/>
              </a:rPr>
              <a:t>Moreover, it strikes an excellent balance between bias and variance, avoiding overfitting while maintaining high predictive power. </a:t>
            </a:r>
          </a:p>
          <a:p>
            <a:r>
              <a:rPr lang="en-US" b="0" i="0">
                <a:solidFill>
                  <a:srgbClr val="374151"/>
                </a:solidFill>
                <a:effectLst/>
                <a:latin typeface="__foundersGrotesk_c3e0d2"/>
              </a:rPr>
              <a:t>Our results confirm that </a:t>
            </a:r>
            <a:r>
              <a:rPr lang="en-US" b="1" i="0">
                <a:solidFill>
                  <a:srgbClr val="374151"/>
                </a:solidFill>
                <a:effectLst/>
                <a:latin typeface="__foundersGrotesk_c3e0d2"/>
              </a:rPr>
              <a:t>Random Forest </a:t>
            </a:r>
            <a:r>
              <a:rPr lang="en-US" b="0" i="0">
                <a:solidFill>
                  <a:srgbClr val="374151"/>
                </a:solidFill>
                <a:effectLst/>
                <a:latin typeface="__foundersGrotesk_c3e0d2"/>
              </a:rPr>
              <a:t>consistently outperformed other models across all key performance metrics.</a:t>
            </a:r>
            <a:endParaRPr lang="en-US"/>
          </a:p>
        </p:txBody>
      </p:sp>
    </p:spTree>
    <p:extLst>
      <p:ext uri="{BB962C8B-B14F-4D97-AF65-F5344CB8AC3E}">
        <p14:creationId xmlns:p14="http://schemas.microsoft.com/office/powerpoint/2010/main" val="3109864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547A7-2AB2-1A55-038A-D232D5C12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E6490-E90C-B343-1AD0-B75EABF676CE}"/>
              </a:ext>
            </a:extLst>
          </p:cNvPr>
          <p:cNvSpPr>
            <a:spLocks noGrp="1"/>
          </p:cNvSpPr>
          <p:nvPr>
            <p:ph type="title"/>
          </p:nvPr>
        </p:nvSpPr>
        <p:spPr>
          <a:xfrm>
            <a:off x="695960" y="452837"/>
            <a:ext cx="10515600" cy="1325563"/>
          </a:xfrm>
        </p:spPr>
        <p:txBody>
          <a:bodyPr anchor="ctr">
            <a:normAutofit/>
          </a:bodyPr>
          <a:lstStyle/>
          <a:p>
            <a:r>
              <a:rPr lang="en-US"/>
              <a:t>New dataset with churn values:</a:t>
            </a:r>
          </a:p>
        </p:txBody>
      </p:sp>
      <p:graphicFrame>
        <p:nvGraphicFramePr>
          <p:cNvPr id="3" name="Table 2">
            <a:extLst>
              <a:ext uri="{FF2B5EF4-FFF2-40B4-BE49-F238E27FC236}">
                <a16:creationId xmlns:a16="http://schemas.microsoft.com/office/drawing/2014/main" id="{586AB3A4-295C-ED98-85D5-50953B9CC0F5}"/>
              </a:ext>
            </a:extLst>
          </p:cNvPr>
          <p:cNvGraphicFramePr>
            <a:graphicFrameLocks noGrp="1"/>
          </p:cNvGraphicFramePr>
          <p:nvPr>
            <p:extLst>
              <p:ext uri="{D42A27DB-BD31-4B8C-83A1-F6EECF244321}">
                <p14:modId xmlns:p14="http://schemas.microsoft.com/office/powerpoint/2010/main" val="2248280800"/>
              </p:ext>
            </p:extLst>
          </p:nvPr>
        </p:nvGraphicFramePr>
        <p:xfrm>
          <a:off x="995680" y="2491740"/>
          <a:ext cx="8128000" cy="1874520"/>
        </p:xfrm>
        <a:graphic>
          <a:graphicData uri="http://schemas.openxmlformats.org/drawingml/2006/table">
            <a:tbl>
              <a:tblPr firstRow="1" bandRow="1">
                <a:tableStyleId>{5C22544A-7EE6-4342-B048-85BDC9FD1C3A}</a:tableStyleId>
              </a:tblPr>
              <a:tblGrid>
                <a:gridCol w="568960">
                  <a:extLst>
                    <a:ext uri="{9D8B030D-6E8A-4147-A177-3AD203B41FA5}">
                      <a16:colId xmlns:a16="http://schemas.microsoft.com/office/drawing/2014/main" val="3188932110"/>
                    </a:ext>
                  </a:extLst>
                </a:gridCol>
                <a:gridCol w="880534">
                  <a:extLst>
                    <a:ext uri="{9D8B030D-6E8A-4147-A177-3AD203B41FA5}">
                      <a16:colId xmlns:a16="http://schemas.microsoft.com/office/drawing/2014/main" val="2183897140"/>
                    </a:ext>
                  </a:extLst>
                </a:gridCol>
                <a:gridCol w="650240">
                  <a:extLst>
                    <a:ext uri="{9D8B030D-6E8A-4147-A177-3AD203B41FA5}">
                      <a16:colId xmlns:a16="http://schemas.microsoft.com/office/drawing/2014/main" val="4270031304"/>
                    </a:ext>
                  </a:extLst>
                </a:gridCol>
                <a:gridCol w="1178560">
                  <a:extLst>
                    <a:ext uri="{9D8B030D-6E8A-4147-A177-3AD203B41FA5}">
                      <a16:colId xmlns:a16="http://schemas.microsoft.com/office/drawing/2014/main" val="463358264"/>
                    </a:ext>
                  </a:extLst>
                </a:gridCol>
                <a:gridCol w="758613">
                  <a:extLst>
                    <a:ext uri="{9D8B030D-6E8A-4147-A177-3AD203B41FA5}">
                      <a16:colId xmlns:a16="http://schemas.microsoft.com/office/drawing/2014/main" val="3674390553"/>
                    </a:ext>
                  </a:extLst>
                </a:gridCol>
                <a:gridCol w="1002453">
                  <a:extLst>
                    <a:ext uri="{9D8B030D-6E8A-4147-A177-3AD203B41FA5}">
                      <a16:colId xmlns:a16="http://schemas.microsoft.com/office/drawing/2014/main" val="2794068692"/>
                    </a:ext>
                  </a:extLst>
                </a:gridCol>
                <a:gridCol w="684107">
                  <a:extLst>
                    <a:ext uri="{9D8B030D-6E8A-4147-A177-3AD203B41FA5}">
                      <a16:colId xmlns:a16="http://schemas.microsoft.com/office/drawing/2014/main" val="2768338684"/>
                    </a:ext>
                  </a:extLst>
                </a:gridCol>
                <a:gridCol w="778933">
                  <a:extLst>
                    <a:ext uri="{9D8B030D-6E8A-4147-A177-3AD203B41FA5}">
                      <a16:colId xmlns:a16="http://schemas.microsoft.com/office/drawing/2014/main" val="2571579587"/>
                    </a:ext>
                  </a:extLst>
                </a:gridCol>
                <a:gridCol w="799254">
                  <a:extLst>
                    <a:ext uri="{9D8B030D-6E8A-4147-A177-3AD203B41FA5}">
                      <a16:colId xmlns:a16="http://schemas.microsoft.com/office/drawing/2014/main" val="327816935"/>
                    </a:ext>
                  </a:extLst>
                </a:gridCol>
                <a:gridCol w="826346">
                  <a:extLst>
                    <a:ext uri="{9D8B030D-6E8A-4147-A177-3AD203B41FA5}">
                      <a16:colId xmlns:a16="http://schemas.microsoft.com/office/drawing/2014/main" val="1927811338"/>
                    </a:ext>
                  </a:extLst>
                </a:gridCol>
              </a:tblGrid>
              <a:tr h="370840">
                <a:tc>
                  <a:txBody>
                    <a:bodyPr/>
                    <a:lstStyle/>
                    <a:p>
                      <a:pPr algn="ctr"/>
                      <a:endParaRPr lang="en-US" sz="1100">
                        <a:latin typeface="Aptos" panose="020B0004020202020204" pitchFamily="34" charset="0"/>
                      </a:endParaRPr>
                    </a:p>
                  </a:txBody>
                  <a:tcPr anchor="ctr"/>
                </a:tc>
                <a:tc>
                  <a:txBody>
                    <a:bodyPr/>
                    <a:lstStyle/>
                    <a:p>
                      <a:pPr algn="ctr"/>
                      <a:r>
                        <a:rPr lang="en-US" sz="1100" b="0">
                          <a:latin typeface="Aptos" panose="020B0004020202020204" pitchFamily="34" charset="0"/>
                        </a:rPr>
                        <a:t>Customer ID</a:t>
                      </a:r>
                    </a:p>
                  </a:txBody>
                  <a:tcPr anchor="ctr"/>
                </a:tc>
                <a:tc>
                  <a:txBody>
                    <a:bodyPr/>
                    <a:lstStyle/>
                    <a:p>
                      <a:pPr algn="ctr"/>
                      <a:r>
                        <a:rPr lang="en-US" sz="1100" b="0">
                          <a:latin typeface="Aptos" panose="020B0004020202020204" pitchFamily="34" charset="0"/>
                        </a:rPr>
                        <a:t>Age</a:t>
                      </a:r>
                    </a:p>
                  </a:txBody>
                  <a:tcPr anchor="ctr"/>
                </a:tc>
                <a:tc>
                  <a:txBody>
                    <a:bodyPr/>
                    <a:lstStyle/>
                    <a:p>
                      <a:pPr algn="ctr"/>
                      <a:r>
                        <a:rPr lang="en-US" sz="1100" b="0" kern="1200">
                          <a:solidFill>
                            <a:schemeClr val="lt1"/>
                          </a:solidFill>
                          <a:latin typeface="Aptos" panose="020B0004020202020204" pitchFamily="34" charset="0"/>
                          <a:ea typeface="+mn-ea"/>
                          <a:cs typeface="+mn-cs"/>
                        </a:rPr>
                        <a:t>Subscription</a:t>
                      </a:r>
                    </a:p>
                    <a:p>
                      <a:pPr algn="ctr"/>
                      <a:r>
                        <a:rPr lang="en-US" sz="1100" b="0" kern="1200">
                          <a:solidFill>
                            <a:schemeClr val="lt1"/>
                          </a:solidFill>
                          <a:latin typeface="Aptos" panose="020B0004020202020204" pitchFamily="34" charset="0"/>
                          <a:ea typeface="+mn-ea"/>
                          <a:cs typeface="+mn-cs"/>
                        </a:rPr>
                        <a:t>Length (months)</a:t>
                      </a:r>
                    </a:p>
                  </a:txBody>
                  <a:tcPr anchor="ctr"/>
                </a:tc>
                <a:tc>
                  <a:txBody>
                    <a:bodyPr/>
                    <a:lstStyle/>
                    <a:p>
                      <a:pPr algn="ctr"/>
                      <a:r>
                        <a:rPr lang="en-US" sz="1100" b="0">
                          <a:latin typeface="Aptos" panose="020B0004020202020204" pitchFamily="34" charset="0"/>
                        </a:rPr>
                        <a:t>Monthly </a:t>
                      </a:r>
                    </a:p>
                    <a:p>
                      <a:pPr algn="ctr"/>
                      <a:r>
                        <a:rPr lang="en-US" sz="1100" b="0">
                          <a:latin typeface="Aptos" panose="020B0004020202020204" pitchFamily="34" charset="0"/>
                        </a:rPr>
                        <a:t>Bill</a:t>
                      </a:r>
                    </a:p>
                    <a:p>
                      <a:pPr algn="ctr"/>
                      <a:r>
                        <a:rPr lang="en-US" sz="1100" b="0">
                          <a:latin typeface="Aptos" panose="020B0004020202020204" pitchFamily="34" charset="0"/>
                        </a:rPr>
                        <a:t>($)</a:t>
                      </a:r>
                    </a:p>
                  </a:txBody>
                  <a:tcPr anchor="ctr"/>
                </a:tc>
                <a:tc>
                  <a:txBody>
                    <a:bodyPr/>
                    <a:lstStyle/>
                    <a:p>
                      <a:pPr algn="ctr"/>
                      <a:r>
                        <a:rPr lang="en-US" sz="1100" b="0">
                          <a:latin typeface="Aptos" panose="020B0004020202020204" pitchFamily="34" charset="0"/>
                        </a:rPr>
                        <a:t>Total</a:t>
                      </a:r>
                    </a:p>
                    <a:p>
                      <a:pPr algn="ctr"/>
                      <a:r>
                        <a:rPr lang="en-US" sz="1100" b="0">
                          <a:latin typeface="Aptos" panose="020B0004020202020204" pitchFamily="34" charset="0"/>
                        </a:rPr>
                        <a:t>Usage (GB)</a:t>
                      </a:r>
                    </a:p>
                  </a:txBody>
                  <a:tcPr anchor="ctr"/>
                </a:tc>
                <a:tc>
                  <a:txBody>
                    <a:bodyPr/>
                    <a:lstStyle/>
                    <a:p>
                      <a:pPr algn="ctr"/>
                      <a:r>
                        <a:rPr lang="en-US" sz="1100" b="0">
                          <a:latin typeface="Aptos" panose="020B0004020202020204" pitchFamily="34" charset="0"/>
                        </a:rPr>
                        <a:t>Support Calls</a:t>
                      </a:r>
                    </a:p>
                  </a:txBody>
                  <a:tcPr anchor="ctr"/>
                </a:tc>
                <a:tc>
                  <a:txBody>
                    <a:bodyPr/>
                    <a:lstStyle/>
                    <a:p>
                      <a:pPr algn="ctr"/>
                      <a:r>
                        <a:rPr lang="en-US" sz="1100" b="0">
                          <a:latin typeface="Aptos" panose="020B0004020202020204" pitchFamily="34" charset="0"/>
                        </a:rPr>
                        <a:t>Contract Type</a:t>
                      </a:r>
                    </a:p>
                  </a:txBody>
                  <a:tcPr anchor="ctr"/>
                </a:tc>
                <a:tc>
                  <a:txBody>
                    <a:bodyPr/>
                    <a:lstStyle/>
                    <a:p>
                      <a:pPr algn="ctr"/>
                      <a:r>
                        <a:rPr lang="en-US" sz="1100" b="0">
                          <a:latin typeface="Aptos" panose="020B0004020202020204" pitchFamily="34" charset="0"/>
                        </a:rPr>
                        <a:t>Payment Method</a:t>
                      </a:r>
                    </a:p>
                  </a:txBody>
                  <a:tcPr anchor="ctr"/>
                </a:tc>
                <a:tc>
                  <a:txBody>
                    <a:bodyPr/>
                    <a:lstStyle/>
                    <a:p>
                      <a:pPr algn="ctr"/>
                      <a:r>
                        <a:rPr lang="en-US" sz="1100" b="0">
                          <a:latin typeface="Aptos" panose="020B0004020202020204" pitchFamily="34" charset="0"/>
                        </a:rPr>
                        <a:t>Has Additional Services</a:t>
                      </a:r>
                    </a:p>
                  </a:txBody>
                  <a:tcPr anchor="ctr"/>
                </a:tc>
                <a:extLst>
                  <a:ext uri="{0D108BD9-81ED-4DB2-BD59-A6C34878D82A}">
                    <a16:rowId xmlns:a16="http://schemas.microsoft.com/office/drawing/2014/main" val="1268813656"/>
                  </a:ext>
                </a:extLst>
              </a:tr>
              <a:tr h="370840">
                <a:tc>
                  <a:txBody>
                    <a:bodyPr/>
                    <a:lstStyle/>
                    <a:p>
                      <a:pPr algn="ctr"/>
                      <a:r>
                        <a:rPr lang="en-US" sz="1100">
                          <a:latin typeface="Aptos" panose="020B0004020202020204" pitchFamily="34" charset="0"/>
                        </a:rPr>
                        <a:t>1</a:t>
                      </a:r>
                    </a:p>
                  </a:txBody>
                  <a:tcPr anchor="ctr"/>
                </a:tc>
                <a:tc>
                  <a:txBody>
                    <a:bodyPr/>
                    <a:lstStyle/>
                    <a:p>
                      <a:pPr algn="ctr"/>
                      <a:r>
                        <a:rPr lang="en-US" sz="1100">
                          <a:latin typeface="Aptos" panose="020B0004020202020204" pitchFamily="34" charset="0"/>
                        </a:rPr>
                        <a:t>10001</a:t>
                      </a:r>
                    </a:p>
                  </a:txBody>
                  <a:tcPr anchor="ctr"/>
                </a:tc>
                <a:tc>
                  <a:txBody>
                    <a:bodyPr/>
                    <a:lstStyle/>
                    <a:p>
                      <a:pPr algn="ctr"/>
                      <a:r>
                        <a:rPr lang="en-US" sz="1100">
                          <a:latin typeface="Aptos" panose="020B0004020202020204" pitchFamily="34" charset="0"/>
                        </a:rPr>
                        <a:t>43.296</a:t>
                      </a:r>
                    </a:p>
                  </a:txBody>
                  <a:tcPr anchor="ctr"/>
                </a:tc>
                <a:tc>
                  <a:txBody>
                    <a:bodyPr/>
                    <a:lstStyle/>
                    <a:p>
                      <a:pPr algn="ctr"/>
                      <a:r>
                        <a:rPr lang="en-US" sz="1100">
                          <a:latin typeface="Aptos" panose="020B0004020202020204" pitchFamily="34" charset="0"/>
                        </a:rPr>
                        <a:t>33.66</a:t>
                      </a:r>
                    </a:p>
                  </a:txBody>
                  <a:tcPr anchor="ctr"/>
                </a:tc>
                <a:tc>
                  <a:txBody>
                    <a:bodyPr/>
                    <a:lstStyle/>
                    <a:p>
                      <a:pPr algn="ctr"/>
                      <a:r>
                        <a:rPr lang="en-US" sz="1100">
                          <a:latin typeface="Aptos" panose="020B0004020202020204" pitchFamily="34" charset="0"/>
                        </a:rPr>
                        <a:t>107.8</a:t>
                      </a:r>
                    </a:p>
                  </a:txBody>
                  <a:tcPr anchor="ctr"/>
                </a:tc>
                <a:tc>
                  <a:txBody>
                    <a:bodyPr/>
                    <a:lstStyle/>
                    <a:p>
                      <a:pPr algn="ctr"/>
                      <a:r>
                        <a:rPr lang="en-US" sz="1100">
                          <a:latin typeface="Aptos" panose="020B0004020202020204" pitchFamily="34" charset="0"/>
                        </a:rPr>
                        <a:t>230.95</a:t>
                      </a:r>
                    </a:p>
                  </a:txBody>
                  <a:tcPr anchor="ctr"/>
                </a:tc>
                <a:tc>
                  <a:txBody>
                    <a:bodyPr/>
                    <a:lstStyle/>
                    <a:p>
                      <a:pPr algn="ctr"/>
                      <a:r>
                        <a:rPr lang="en-US" sz="1100">
                          <a:latin typeface="Aptos" panose="020B0004020202020204" pitchFamily="34" charset="0"/>
                        </a:rPr>
                        <a:t>1</a:t>
                      </a:r>
                    </a:p>
                  </a:txBody>
                  <a:tcPr anchor="ctr"/>
                </a:tc>
                <a:tc>
                  <a:txBody>
                    <a:bodyPr/>
                    <a:lstStyle/>
                    <a:p>
                      <a:pPr algn="ctr"/>
                      <a:r>
                        <a:rPr lang="en-US" sz="1100">
                          <a:latin typeface="Aptos" panose="020B0004020202020204" pitchFamily="34" charset="0"/>
                        </a:rPr>
                        <a:t>Month-to-Month</a:t>
                      </a:r>
                    </a:p>
                  </a:txBody>
                  <a:tcPr anchor="ctr"/>
                </a:tc>
                <a:tc>
                  <a:txBody>
                    <a:bodyPr/>
                    <a:lstStyle/>
                    <a:p>
                      <a:pPr algn="ctr"/>
                      <a:r>
                        <a:rPr lang="en-US" sz="1100">
                          <a:latin typeface="Aptos" panose="020B0004020202020204" pitchFamily="34" charset="0"/>
                        </a:rPr>
                        <a:t>Debit Card</a:t>
                      </a:r>
                    </a:p>
                  </a:txBody>
                  <a:tcPr anchor="ctr"/>
                </a:tc>
                <a:tc>
                  <a:txBody>
                    <a:bodyPr/>
                    <a:lstStyle/>
                    <a:p>
                      <a:pPr algn="ctr"/>
                      <a:r>
                        <a:rPr lang="en-US" sz="1100">
                          <a:latin typeface="Aptos" panose="020B0004020202020204" pitchFamily="34" charset="0"/>
                        </a:rPr>
                        <a:t>1</a:t>
                      </a:r>
                    </a:p>
                  </a:txBody>
                  <a:tcPr anchor="ctr"/>
                </a:tc>
                <a:extLst>
                  <a:ext uri="{0D108BD9-81ED-4DB2-BD59-A6C34878D82A}">
                    <a16:rowId xmlns:a16="http://schemas.microsoft.com/office/drawing/2014/main" val="3517296463"/>
                  </a:ext>
                </a:extLst>
              </a:tr>
              <a:tr h="370840">
                <a:tc>
                  <a:txBody>
                    <a:bodyPr/>
                    <a:lstStyle/>
                    <a:p>
                      <a:pPr algn="ctr"/>
                      <a:r>
                        <a:rPr lang="en-US" sz="1100">
                          <a:latin typeface="Aptos" panose="020B0004020202020204" pitchFamily="34" charset="0"/>
                        </a:rPr>
                        <a:t>2</a:t>
                      </a:r>
                    </a:p>
                  </a:txBody>
                  <a:tcPr anchor="ctr"/>
                </a:tc>
                <a:tc>
                  <a:txBody>
                    <a:bodyPr/>
                    <a:lstStyle/>
                    <a:p>
                      <a:pPr algn="ctr"/>
                      <a:r>
                        <a:rPr lang="en-US" sz="1100">
                          <a:latin typeface="Aptos" panose="020B0004020202020204" pitchFamily="34" charset="0"/>
                        </a:rPr>
                        <a:t>10002</a:t>
                      </a:r>
                    </a:p>
                  </a:txBody>
                  <a:tcPr anchor="ctr"/>
                </a:tc>
                <a:tc>
                  <a:txBody>
                    <a:bodyPr/>
                    <a:lstStyle/>
                    <a:p>
                      <a:pPr algn="ctr"/>
                      <a:r>
                        <a:rPr lang="en-US" sz="1100">
                          <a:latin typeface="Aptos" panose="020B0004020202020204" pitchFamily="34" charset="0"/>
                        </a:rPr>
                        <a:t>55.704</a:t>
                      </a:r>
                    </a:p>
                  </a:txBody>
                  <a:tcPr anchor="ctr"/>
                </a:tc>
                <a:tc>
                  <a:txBody>
                    <a:bodyPr/>
                    <a:lstStyle/>
                    <a:p>
                      <a:pPr algn="ctr"/>
                      <a:r>
                        <a:rPr lang="en-US" sz="1100">
                          <a:latin typeface="Aptos" panose="020B0004020202020204" pitchFamily="34" charset="0"/>
                        </a:rPr>
                        <a:t>48.45</a:t>
                      </a:r>
                    </a:p>
                  </a:txBody>
                  <a:tcPr anchor="ctr"/>
                </a:tc>
                <a:tc>
                  <a:txBody>
                    <a:bodyPr/>
                    <a:lstStyle/>
                    <a:p>
                      <a:pPr algn="ctr"/>
                      <a:r>
                        <a:rPr lang="en-US" sz="1100">
                          <a:latin typeface="Aptos" panose="020B0004020202020204" pitchFamily="34" charset="0"/>
                        </a:rPr>
                        <a:t>144.6</a:t>
                      </a:r>
                    </a:p>
                  </a:txBody>
                  <a:tcPr anchor="ctr"/>
                </a:tc>
                <a:tc>
                  <a:txBody>
                    <a:bodyPr/>
                    <a:lstStyle/>
                    <a:p>
                      <a:pPr algn="ctr"/>
                      <a:r>
                        <a:rPr lang="en-US" sz="1100">
                          <a:latin typeface="Aptos" panose="020B0004020202020204" pitchFamily="34" charset="0"/>
                        </a:rPr>
                        <a:t>398.05</a:t>
                      </a:r>
                    </a:p>
                  </a:txBody>
                  <a:tcPr anchor="ctr"/>
                </a:tc>
                <a:tc>
                  <a:txBody>
                    <a:bodyPr/>
                    <a:lstStyle/>
                    <a:p>
                      <a:pPr algn="ctr"/>
                      <a:r>
                        <a:rPr lang="en-US" sz="1100">
                          <a:latin typeface="Aptos" panose="020B0004020202020204" pitchFamily="34" charset="0"/>
                        </a:rPr>
                        <a:t>9</a:t>
                      </a:r>
                    </a:p>
                  </a:txBody>
                  <a:tcPr anchor="ctr"/>
                </a:tc>
                <a:tc>
                  <a:txBody>
                    <a:bodyPr/>
                    <a:lstStyle/>
                    <a:p>
                      <a:pPr algn="ctr"/>
                      <a:r>
                        <a:rPr lang="en-US" sz="1100">
                          <a:latin typeface="Aptos" panose="020B0004020202020204" pitchFamily="34" charset="0"/>
                        </a:rPr>
                        <a:t>One Year</a:t>
                      </a:r>
                    </a:p>
                  </a:txBody>
                  <a:tcPr anchor="ctr"/>
                </a:tc>
                <a:tc>
                  <a:txBody>
                    <a:bodyPr/>
                    <a:lstStyle/>
                    <a:p>
                      <a:pPr algn="ctr"/>
                      <a:r>
                        <a:rPr lang="en-US" sz="1100">
                          <a:latin typeface="Aptos" panose="020B0004020202020204" pitchFamily="34" charset="0"/>
                        </a:rPr>
                        <a:t>Credit Card</a:t>
                      </a:r>
                    </a:p>
                  </a:txBody>
                  <a:tcPr anchor="ctr"/>
                </a:tc>
                <a:tc>
                  <a:txBody>
                    <a:bodyPr/>
                    <a:lstStyle/>
                    <a:p>
                      <a:pPr algn="ctr"/>
                      <a:r>
                        <a:rPr lang="en-US" sz="1100">
                          <a:latin typeface="Aptos" panose="020B0004020202020204" pitchFamily="34" charset="0"/>
                        </a:rPr>
                        <a:t>1</a:t>
                      </a:r>
                    </a:p>
                  </a:txBody>
                  <a:tcPr anchor="ctr"/>
                </a:tc>
                <a:extLst>
                  <a:ext uri="{0D108BD9-81ED-4DB2-BD59-A6C34878D82A}">
                    <a16:rowId xmlns:a16="http://schemas.microsoft.com/office/drawing/2014/main" val="827871547"/>
                  </a:ext>
                </a:extLst>
              </a:tr>
              <a:tr h="370840">
                <a:tc>
                  <a:txBody>
                    <a:bodyPr/>
                    <a:lstStyle/>
                    <a:p>
                      <a:pPr algn="ctr"/>
                      <a:r>
                        <a:rPr lang="en-US" sz="1100">
                          <a:latin typeface="Aptos" panose="020B0004020202020204" pitchFamily="34" charset="0"/>
                        </a:rPr>
                        <a:t>3</a:t>
                      </a:r>
                    </a:p>
                  </a:txBody>
                  <a:tcPr anchor="ctr"/>
                </a:tc>
                <a:tc>
                  <a:txBody>
                    <a:bodyPr/>
                    <a:lstStyle/>
                    <a:p>
                      <a:pPr algn="ctr"/>
                      <a:r>
                        <a:rPr lang="en-US" sz="1100">
                          <a:latin typeface="Aptos" panose="020B0004020202020204" pitchFamily="34" charset="0"/>
                        </a:rPr>
                        <a:t>10003</a:t>
                      </a:r>
                    </a:p>
                  </a:txBody>
                  <a:tcPr anchor="ctr"/>
                </a:tc>
                <a:tc>
                  <a:txBody>
                    <a:bodyPr/>
                    <a:lstStyle/>
                    <a:p>
                      <a:pPr algn="ctr"/>
                      <a:r>
                        <a:rPr lang="en-US" sz="1100">
                          <a:latin typeface="Aptos" panose="020B0004020202020204" pitchFamily="34" charset="0"/>
                        </a:rPr>
                        <a:t>35.928</a:t>
                      </a:r>
                    </a:p>
                  </a:txBody>
                  <a:tcPr anchor="ctr"/>
                </a:tc>
                <a:tc>
                  <a:txBody>
                    <a:bodyPr/>
                    <a:lstStyle/>
                    <a:p>
                      <a:pPr algn="ctr"/>
                      <a:r>
                        <a:rPr lang="en-US" sz="1100">
                          <a:latin typeface="Aptos" panose="020B0004020202020204" pitchFamily="34" charset="0"/>
                        </a:rPr>
                        <a:t>27.08</a:t>
                      </a:r>
                    </a:p>
                  </a:txBody>
                  <a:tcPr anchor="ctr"/>
                </a:tc>
                <a:tc>
                  <a:txBody>
                    <a:bodyPr/>
                    <a:lstStyle/>
                    <a:p>
                      <a:pPr algn="ctr"/>
                      <a:r>
                        <a:rPr lang="en-US" sz="1100">
                          <a:latin typeface="Aptos" panose="020B0004020202020204" pitchFamily="34" charset="0"/>
                        </a:rPr>
                        <a:t>71.65</a:t>
                      </a:r>
                    </a:p>
                  </a:txBody>
                  <a:tcPr anchor="ctr"/>
                </a:tc>
                <a:tc>
                  <a:txBody>
                    <a:bodyPr/>
                    <a:lstStyle/>
                    <a:p>
                      <a:pPr algn="ctr"/>
                      <a:r>
                        <a:rPr lang="en-US" sz="1100">
                          <a:latin typeface="Aptos" panose="020B0004020202020204" pitchFamily="34" charset="0"/>
                        </a:rPr>
                        <a:t>131.65</a:t>
                      </a:r>
                    </a:p>
                  </a:txBody>
                  <a:tcPr anchor="ctr"/>
                </a:tc>
                <a:tc>
                  <a:txBody>
                    <a:bodyPr/>
                    <a:lstStyle/>
                    <a:p>
                      <a:pPr algn="ctr"/>
                      <a:r>
                        <a:rPr lang="en-US" sz="1100">
                          <a:latin typeface="Aptos" panose="020B0004020202020204" pitchFamily="34" charset="0"/>
                        </a:rPr>
                        <a:t>1</a:t>
                      </a:r>
                    </a:p>
                  </a:txBody>
                  <a:tcPr anchor="ctr"/>
                </a:tc>
                <a:tc>
                  <a:txBody>
                    <a:bodyPr/>
                    <a:lstStyle/>
                    <a:p>
                      <a:pPr algn="ctr"/>
                      <a:r>
                        <a:rPr lang="en-US" sz="1100">
                          <a:latin typeface="Aptos" panose="020B0004020202020204" pitchFamily="34" charset="0"/>
                        </a:rPr>
                        <a:t>Month-to-Month</a:t>
                      </a:r>
                    </a:p>
                  </a:txBody>
                  <a:tcPr anchor="ctr"/>
                </a:tc>
                <a:tc>
                  <a:txBody>
                    <a:bodyPr/>
                    <a:lstStyle/>
                    <a:p>
                      <a:pPr algn="ctr"/>
                      <a:r>
                        <a:rPr lang="en-US" sz="1100">
                          <a:latin typeface="Aptos" panose="020B0004020202020204" pitchFamily="34" charset="0"/>
                        </a:rPr>
                        <a:t>PayPal</a:t>
                      </a:r>
                    </a:p>
                  </a:txBody>
                  <a:tcPr anchor="ctr"/>
                </a:tc>
                <a:tc>
                  <a:txBody>
                    <a:bodyPr/>
                    <a:lstStyle/>
                    <a:p>
                      <a:pPr algn="ctr"/>
                      <a:r>
                        <a:rPr lang="en-US" sz="1100">
                          <a:latin typeface="Aptos" panose="020B0004020202020204" pitchFamily="34" charset="0"/>
                        </a:rPr>
                        <a:t>0</a:t>
                      </a:r>
                    </a:p>
                  </a:txBody>
                  <a:tcPr anchor="ctr"/>
                </a:tc>
                <a:extLst>
                  <a:ext uri="{0D108BD9-81ED-4DB2-BD59-A6C34878D82A}">
                    <a16:rowId xmlns:a16="http://schemas.microsoft.com/office/drawing/2014/main" val="3543222360"/>
                  </a:ext>
                </a:extLst>
              </a:tr>
            </a:tbl>
          </a:graphicData>
        </a:graphic>
      </p:graphicFrame>
      <p:graphicFrame>
        <p:nvGraphicFramePr>
          <p:cNvPr id="5" name="Table 4">
            <a:extLst>
              <a:ext uri="{FF2B5EF4-FFF2-40B4-BE49-F238E27FC236}">
                <a16:creationId xmlns:a16="http://schemas.microsoft.com/office/drawing/2014/main" id="{D126E7CF-C7B2-8AD7-21C8-EA86D875364C}"/>
              </a:ext>
            </a:extLst>
          </p:cNvPr>
          <p:cNvGraphicFramePr>
            <a:graphicFrameLocks noGrp="1"/>
          </p:cNvGraphicFramePr>
          <p:nvPr>
            <p:extLst>
              <p:ext uri="{D42A27DB-BD31-4B8C-83A1-F6EECF244321}">
                <p14:modId xmlns:p14="http://schemas.microsoft.com/office/powerpoint/2010/main" val="171847854"/>
              </p:ext>
            </p:extLst>
          </p:nvPr>
        </p:nvGraphicFramePr>
        <p:xfrm>
          <a:off x="9353973" y="2491741"/>
          <a:ext cx="2607734" cy="1874519"/>
        </p:xfrm>
        <a:graphic>
          <a:graphicData uri="http://schemas.openxmlformats.org/drawingml/2006/table">
            <a:tbl>
              <a:tblPr firstRow="1" bandRow="1">
                <a:tableStyleId>{5C22544A-7EE6-4342-B048-85BDC9FD1C3A}</a:tableStyleId>
              </a:tblPr>
              <a:tblGrid>
                <a:gridCol w="1234879">
                  <a:extLst>
                    <a:ext uri="{9D8B030D-6E8A-4147-A177-3AD203B41FA5}">
                      <a16:colId xmlns:a16="http://schemas.microsoft.com/office/drawing/2014/main" val="2481785203"/>
                    </a:ext>
                  </a:extLst>
                </a:gridCol>
                <a:gridCol w="1372855">
                  <a:extLst>
                    <a:ext uri="{9D8B030D-6E8A-4147-A177-3AD203B41FA5}">
                      <a16:colId xmlns:a16="http://schemas.microsoft.com/office/drawing/2014/main" val="2254229757"/>
                    </a:ext>
                  </a:extLst>
                </a:gridCol>
              </a:tblGrid>
              <a:tr h="631206">
                <a:tc>
                  <a:txBody>
                    <a:bodyPr/>
                    <a:lstStyle/>
                    <a:p>
                      <a:pPr algn="ctr"/>
                      <a:r>
                        <a:rPr lang="en-US" sz="1100" b="0">
                          <a:latin typeface="Aptos" panose="020B0004020202020204" pitchFamily="34" charset="0"/>
                        </a:rPr>
                        <a:t>No Churn</a:t>
                      </a:r>
                    </a:p>
                  </a:txBody>
                  <a:tcPr anchor="ctr"/>
                </a:tc>
                <a:tc>
                  <a:txBody>
                    <a:bodyPr/>
                    <a:lstStyle/>
                    <a:p>
                      <a:pPr algn="ctr"/>
                      <a:r>
                        <a:rPr lang="en-US" sz="1100" b="0">
                          <a:latin typeface="Aptos" panose="020B0004020202020204" pitchFamily="34" charset="0"/>
                        </a:rPr>
                        <a:t>Churn = 1</a:t>
                      </a:r>
                    </a:p>
                  </a:txBody>
                  <a:tcPr anchor="ctr"/>
                </a:tc>
                <a:extLst>
                  <a:ext uri="{0D108BD9-81ED-4DB2-BD59-A6C34878D82A}">
                    <a16:rowId xmlns:a16="http://schemas.microsoft.com/office/drawing/2014/main" val="893147430"/>
                  </a:ext>
                </a:extLst>
              </a:tr>
              <a:tr h="452864">
                <a:tc>
                  <a:txBody>
                    <a:bodyPr/>
                    <a:lstStyle/>
                    <a:p>
                      <a:pPr algn="ctr"/>
                      <a:r>
                        <a:rPr lang="en-US" sz="1100">
                          <a:latin typeface="Aptos" panose="020B0004020202020204" pitchFamily="34" charset="0"/>
                        </a:rPr>
                        <a:t>62%</a:t>
                      </a:r>
                    </a:p>
                  </a:txBody>
                  <a:tcPr anchor="ctr"/>
                </a:tc>
                <a:tc>
                  <a:txBody>
                    <a:bodyPr/>
                    <a:lstStyle/>
                    <a:p>
                      <a:pPr algn="ctr"/>
                      <a:r>
                        <a:rPr lang="en-US" sz="1100">
                          <a:latin typeface="Aptos" panose="020B0004020202020204" pitchFamily="34" charset="0"/>
                        </a:rPr>
                        <a:t>38%</a:t>
                      </a:r>
                    </a:p>
                  </a:txBody>
                  <a:tcPr anchor="ctr"/>
                </a:tc>
                <a:extLst>
                  <a:ext uri="{0D108BD9-81ED-4DB2-BD59-A6C34878D82A}">
                    <a16:rowId xmlns:a16="http://schemas.microsoft.com/office/drawing/2014/main" val="1540485533"/>
                  </a:ext>
                </a:extLst>
              </a:tr>
              <a:tr h="446586">
                <a:tc>
                  <a:txBody>
                    <a:bodyPr/>
                    <a:lstStyle/>
                    <a:p>
                      <a:pPr algn="ctr"/>
                      <a:r>
                        <a:rPr lang="en-US" sz="1100">
                          <a:latin typeface="Aptos" panose="020B0004020202020204" pitchFamily="34" charset="0"/>
                        </a:rPr>
                        <a:t>72%</a:t>
                      </a:r>
                    </a:p>
                  </a:txBody>
                  <a:tcPr anchor="ctr"/>
                </a:tc>
                <a:tc>
                  <a:txBody>
                    <a:bodyPr/>
                    <a:lstStyle/>
                    <a:p>
                      <a:pPr algn="ctr"/>
                      <a:r>
                        <a:rPr lang="en-US" sz="1100">
                          <a:latin typeface="Aptos" panose="020B0004020202020204" pitchFamily="34" charset="0"/>
                        </a:rPr>
                        <a:t>28%</a:t>
                      </a:r>
                    </a:p>
                  </a:txBody>
                  <a:tcPr anchor="ctr"/>
                </a:tc>
                <a:extLst>
                  <a:ext uri="{0D108BD9-81ED-4DB2-BD59-A6C34878D82A}">
                    <a16:rowId xmlns:a16="http://schemas.microsoft.com/office/drawing/2014/main" val="125560224"/>
                  </a:ext>
                </a:extLst>
              </a:tr>
              <a:tr h="343863">
                <a:tc>
                  <a:txBody>
                    <a:bodyPr/>
                    <a:lstStyle/>
                    <a:p>
                      <a:pPr algn="ctr"/>
                      <a:r>
                        <a:rPr lang="en-US" sz="1100">
                          <a:latin typeface="Aptos" panose="020B0004020202020204" pitchFamily="34" charset="0"/>
                        </a:rPr>
                        <a:t>61%</a:t>
                      </a:r>
                    </a:p>
                  </a:txBody>
                  <a:tcPr anchor="ctr"/>
                </a:tc>
                <a:tc>
                  <a:txBody>
                    <a:bodyPr/>
                    <a:lstStyle/>
                    <a:p>
                      <a:pPr algn="ctr"/>
                      <a:r>
                        <a:rPr lang="en-US" sz="1100">
                          <a:latin typeface="Aptos" panose="020B0004020202020204" pitchFamily="34" charset="0"/>
                        </a:rPr>
                        <a:t>39%</a:t>
                      </a:r>
                    </a:p>
                  </a:txBody>
                  <a:tcPr anchor="ctr"/>
                </a:tc>
                <a:extLst>
                  <a:ext uri="{0D108BD9-81ED-4DB2-BD59-A6C34878D82A}">
                    <a16:rowId xmlns:a16="http://schemas.microsoft.com/office/drawing/2014/main" val="3980908501"/>
                  </a:ext>
                </a:extLst>
              </a:tr>
            </a:tbl>
          </a:graphicData>
        </a:graphic>
      </p:graphicFrame>
    </p:spTree>
    <p:extLst>
      <p:ext uri="{BB962C8B-B14F-4D97-AF65-F5344CB8AC3E}">
        <p14:creationId xmlns:p14="http://schemas.microsoft.com/office/powerpoint/2010/main" val="3268525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032BF-29E3-97DF-DC69-B7BD99527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9F2A66-2E1C-C192-7AEB-F739F95E4EBA}"/>
              </a:ext>
            </a:extLst>
          </p:cNvPr>
          <p:cNvSpPr>
            <a:spLocks noGrp="1"/>
          </p:cNvSpPr>
          <p:nvPr>
            <p:ph type="title"/>
          </p:nvPr>
        </p:nvSpPr>
        <p:spPr>
          <a:xfrm>
            <a:off x="838200" y="515595"/>
            <a:ext cx="10515600" cy="1325563"/>
          </a:xfrm>
        </p:spPr>
        <p:txBody>
          <a:bodyPr anchor="ctr">
            <a:noAutofit/>
          </a:bodyPr>
          <a:lstStyle/>
          <a:p>
            <a:r>
              <a:rPr lang="en-US" sz="4000">
                <a:latin typeface="Times New Roman" panose="02020603050405020304" pitchFamily="18" charset="0"/>
                <a:ea typeface="Calibri" panose="020F0502020204030204" pitchFamily="34" charset="0"/>
                <a:cs typeface="Arial" panose="020B0604020202020204" pitchFamily="34" charset="0"/>
              </a:rPr>
              <a:t>Are</a:t>
            </a:r>
            <a:r>
              <a:rPr lang="en-US" sz="4000">
                <a:effectLst/>
                <a:latin typeface="Times New Roman" panose="02020603050405020304" pitchFamily="18" charset="0"/>
                <a:ea typeface="Calibri" panose="020F0502020204030204" pitchFamily="34" charset="0"/>
                <a:cs typeface="Arial" panose="020B0604020202020204" pitchFamily="34" charset="0"/>
              </a:rPr>
              <a:t> there any signs of overfitting?</a:t>
            </a:r>
            <a:endParaRPr lang="en-US" sz="9600"/>
          </a:p>
        </p:txBody>
      </p:sp>
      <p:sp>
        <p:nvSpPr>
          <p:cNvPr id="7" name="Content Placeholder 6">
            <a:extLst>
              <a:ext uri="{FF2B5EF4-FFF2-40B4-BE49-F238E27FC236}">
                <a16:creationId xmlns:a16="http://schemas.microsoft.com/office/drawing/2014/main" id="{8ED50600-3F0F-0A1D-F9D1-6408F40FCCDC}"/>
              </a:ext>
            </a:extLst>
          </p:cNvPr>
          <p:cNvSpPr>
            <a:spLocks noGrp="1"/>
          </p:cNvSpPr>
          <p:nvPr>
            <p:ph idx="1"/>
          </p:nvPr>
        </p:nvSpPr>
        <p:spPr/>
        <p:txBody>
          <a:bodyPr>
            <a:normAutofit/>
          </a:bodyPr>
          <a:lstStyle/>
          <a:p>
            <a:pPr marL="0" indent="0">
              <a:buNone/>
            </a:pPr>
            <a:r>
              <a:rPr lang="en-US" b="0" i="0">
                <a:solidFill>
                  <a:srgbClr val="374151"/>
                </a:solidFill>
                <a:effectLst/>
                <a:latin typeface="__foundersGrotesk_c3e0d2"/>
              </a:rPr>
              <a:t>While machine learning models offer powerful predictive capabilities, they come with challenges and limitations. </a:t>
            </a:r>
          </a:p>
          <a:p>
            <a:r>
              <a:rPr lang="en-US" b="1">
                <a:solidFill>
                  <a:srgbClr val="374151"/>
                </a:solidFill>
                <a:latin typeface="__foundersGrotesk_c3e0d2"/>
              </a:rPr>
              <a:t>D</a:t>
            </a:r>
            <a:r>
              <a:rPr lang="en-US" b="1" i="0">
                <a:solidFill>
                  <a:srgbClr val="374151"/>
                </a:solidFill>
                <a:effectLst/>
                <a:latin typeface="__foundersGrotesk_c3e0d2"/>
              </a:rPr>
              <a:t>ata quality </a:t>
            </a:r>
            <a:r>
              <a:rPr lang="en-US" b="0" i="0">
                <a:solidFill>
                  <a:srgbClr val="374151"/>
                </a:solidFill>
                <a:effectLst/>
                <a:latin typeface="__foundersGrotesk_c3e0d2"/>
              </a:rPr>
              <a:t>—no model can outperform the quality of its input data. </a:t>
            </a:r>
          </a:p>
          <a:p>
            <a:r>
              <a:rPr lang="en-US" b="1">
                <a:solidFill>
                  <a:srgbClr val="374151"/>
                </a:solidFill>
                <a:latin typeface="__foundersGrotesk_c3e0d2"/>
              </a:rPr>
              <a:t>O</a:t>
            </a:r>
            <a:r>
              <a:rPr lang="en-US" b="1" i="0">
                <a:solidFill>
                  <a:srgbClr val="374151"/>
                </a:solidFill>
                <a:effectLst/>
                <a:latin typeface="__foundersGrotesk_c3e0d2"/>
              </a:rPr>
              <a:t>verfitting</a:t>
            </a:r>
            <a:r>
              <a:rPr lang="en-US" b="0" i="0">
                <a:solidFill>
                  <a:srgbClr val="374151"/>
                </a:solidFill>
                <a:effectLst/>
                <a:latin typeface="__foundersGrotesk_c3e0d2"/>
              </a:rPr>
              <a:t> –  where a model performs exceptionally well on training data but struggles on new data. </a:t>
            </a:r>
          </a:p>
          <a:p>
            <a:r>
              <a:rPr lang="en-US" b="1" i="0">
                <a:solidFill>
                  <a:srgbClr val="374151"/>
                </a:solidFill>
                <a:effectLst/>
                <a:latin typeface="__foundersGrotesk_c3e0d2"/>
              </a:rPr>
              <a:t>Computational cost </a:t>
            </a:r>
            <a:r>
              <a:rPr lang="en-US" b="0" i="0">
                <a:solidFill>
                  <a:srgbClr val="374151"/>
                </a:solidFill>
                <a:effectLst/>
                <a:latin typeface="__foundersGrotesk_c3e0d2"/>
              </a:rPr>
              <a:t>–models like Random Forest require significant processing power, making them less feasible for real-time applications. </a:t>
            </a:r>
          </a:p>
          <a:p>
            <a:r>
              <a:rPr lang="en-US" b="1">
                <a:solidFill>
                  <a:srgbClr val="374151"/>
                </a:solidFill>
                <a:latin typeface="__foundersGrotesk_c3e0d2"/>
              </a:rPr>
              <a:t>H</a:t>
            </a:r>
            <a:r>
              <a:rPr lang="en-US" b="1" i="0">
                <a:solidFill>
                  <a:srgbClr val="374151"/>
                </a:solidFill>
                <a:effectLst/>
                <a:latin typeface="__foundersGrotesk_c3e0d2"/>
              </a:rPr>
              <a:t>yperparameter tuning </a:t>
            </a:r>
            <a:r>
              <a:rPr lang="en-US" b="0" i="0">
                <a:solidFill>
                  <a:srgbClr val="374151"/>
                </a:solidFill>
                <a:effectLst/>
                <a:latin typeface="__foundersGrotesk_c3e0d2"/>
              </a:rPr>
              <a:t>– finding the right balance between bias and variance. </a:t>
            </a:r>
          </a:p>
          <a:p>
            <a:r>
              <a:rPr lang="en-US" b="1" i="0">
                <a:solidFill>
                  <a:srgbClr val="374151"/>
                </a:solidFill>
                <a:effectLst/>
                <a:latin typeface="__foundersGrotesk_c3e0d2"/>
              </a:rPr>
              <a:t>Interpretability</a:t>
            </a:r>
            <a:r>
              <a:rPr lang="en-US" b="0" i="0">
                <a:solidFill>
                  <a:srgbClr val="374151"/>
                </a:solidFill>
                <a:effectLst/>
                <a:latin typeface="__foundersGrotesk_c3e0d2"/>
              </a:rPr>
              <a:t> – making it difficult to explain predictions, especially in fields requiring transparency, such as healthcare and finance.</a:t>
            </a:r>
            <a:endParaRPr lang="en-US"/>
          </a:p>
          <a:p>
            <a:endParaRPr lang="en-US"/>
          </a:p>
        </p:txBody>
      </p:sp>
    </p:spTree>
    <p:extLst>
      <p:ext uri="{BB962C8B-B14F-4D97-AF65-F5344CB8AC3E}">
        <p14:creationId xmlns:p14="http://schemas.microsoft.com/office/powerpoint/2010/main" val="2280622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0A4D3-23EC-A77A-32B8-03046D55C1E4}"/>
              </a:ext>
            </a:extLst>
          </p:cNvPr>
          <p:cNvSpPr>
            <a:spLocks noGrp="1"/>
          </p:cNvSpPr>
          <p:nvPr>
            <p:ph type="title"/>
          </p:nvPr>
        </p:nvSpPr>
        <p:spPr/>
        <p:txBody>
          <a:bodyPr>
            <a:noAutofit/>
          </a:bodyPr>
          <a:lstStyle/>
          <a:p>
            <a:r>
              <a:rPr lang="en-US" sz="2800"/>
              <a:t>Key Insights from Conditional Probability Analysis of Customer Churn:</a:t>
            </a:r>
          </a:p>
        </p:txBody>
      </p:sp>
      <p:sp>
        <p:nvSpPr>
          <p:cNvPr id="3" name="TextBox 2">
            <a:extLst>
              <a:ext uri="{FF2B5EF4-FFF2-40B4-BE49-F238E27FC236}">
                <a16:creationId xmlns:a16="http://schemas.microsoft.com/office/drawing/2014/main" id="{A9255120-7FE6-6DBA-C21E-B7BF92E018F9}"/>
              </a:ext>
            </a:extLst>
          </p:cNvPr>
          <p:cNvSpPr txBox="1"/>
          <p:nvPr/>
        </p:nvSpPr>
        <p:spPr>
          <a:xfrm>
            <a:off x="1381728" y="2253011"/>
            <a:ext cx="9428544" cy="3046988"/>
          </a:xfrm>
          <a:prstGeom prst="rect">
            <a:avLst/>
          </a:prstGeom>
          <a:noFill/>
        </p:spPr>
        <p:txBody>
          <a:bodyPr wrap="square" rtlCol="0">
            <a:spAutoFit/>
          </a:bodyPr>
          <a:lstStyle/>
          <a:p>
            <a:r>
              <a:rPr lang="en-US" sz="1600" b="1">
                <a:latin typeface="Aptos" panose="020B0004020202020204" pitchFamily="34" charset="0"/>
              </a:rPr>
              <a:t>Churn Risk Factors:</a:t>
            </a:r>
          </a:p>
          <a:p>
            <a:endParaRPr lang="en-US" sz="1600">
              <a:latin typeface="Aptos" panose="020B0004020202020204" pitchFamily="34" charset="0"/>
            </a:endParaRPr>
          </a:p>
          <a:p>
            <a:pPr marL="285750" indent="-285750">
              <a:buFont typeface="Arial" panose="020B0604020202020204" pitchFamily="34" charset="0"/>
              <a:buChar char="•"/>
            </a:pPr>
            <a:r>
              <a:rPr lang="en-US" sz="1600">
                <a:latin typeface="Aptos" panose="020B0004020202020204" pitchFamily="34" charset="0"/>
              </a:rPr>
              <a:t>Customers with </a:t>
            </a:r>
            <a:r>
              <a:rPr lang="en-US" sz="1600" b="1">
                <a:latin typeface="Aptos" panose="020B0004020202020204" pitchFamily="34" charset="0"/>
              </a:rPr>
              <a:t>high monthly bills ($90+)</a:t>
            </a:r>
            <a:r>
              <a:rPr lang="en-US" sz="1600">
                <a:latin typeface="Aptos" panose="020B0004020202020204" pitchFamily="34" charset="0"/>
              </a:rPr>
              <a:t>, </a:t>
            </a:r>
            <a:r>
              <a:rPr lang="en-US" sz="1600" b="1">
                <a:latin typeface="Aptos" panose="020B0004020202020204" pitchFamily="34" charset="0"/>
              </a:rPr>
              <a:t>heavy data usage (300GB+)</a:t>
            </a:r>
            <a:r>
              <a:rPr lang="en-US" sz="1600">
                <a:latin typeface="Aptos" panose="020B0004020202020204" pitchFamily="34" charset="0"/>
              </a:rPr>
              <a:t>, </a:t>
            </a:r>
          </a:p>
          <a:p>
            <a:r>
              <a:rPr lang="en-US" sz="1600">
                <a:latin typeface="Aptos" panose="020B0004020202020204" pitchFamily="34" charset="0"/>
              </a:rPr>
              <a:t>        or </a:t>
            </a:r>
            <a:r>
              <a:rPr lang="en-US" sz="1600" b="1">
                <a:latin typeface="Aptos" panose="020B0004020202020204" pitchFamily="34" charset="0"/>
              </a:rPr>
              <a:t>multiple support calls (5+ calls)</a:t>
            </a:r>
            <a:r>
              <a:rPr lang="en-US" sz="1600">
                <a:latin typeface="Aptos" panose="020B0004020202020204" pitchFamily="34" charset="0"/>
              </a:rPr>
              <a:t> → (~20%)</a:t>
            </a:r>
          </a:p>
          <a:p>
            <a:endParaRPr lang="en-US" sz="1600">
              <a:latin typeface="Aptos" panose="020B0004020202020204" pitchFamily="34" charset="0"/>
            </a:endParaRPr>
          </a:p>
          <a:p>
            <a:pPr marL="285750" indent="-285750">
              <a:buFont typeface="Arial" panose="020B0604020202020204" pitchFamily="34" charset="0"/>
              <a:buChar char="•"/>
            </a:pPr>
            <a:r>
              <a:rPr lang="en-US" sz="1600">
                <a:latin typeface="Aptos" panose="020B0004020202020204" pitchFamily="34" charset="0"/>
              </a:rPr>
              <a:t>Month-to-Month contract customers (especially heavy users) are at </a:t>
            </a:r>
            <a:r>
              <a:rPr lang="en-US" sz="1600" b="1">
                <a:latin typeface="Aptos" panose="020B0004020202020204" pitchFamily="34" charset="0"/>
              </a:rPr>
              <a:t>higher churn risk (33%)</a:t>
            </a:r>
          </a:p>
          <a:p>
            <a:endParaRPr lang="en-US" sz="1600">
              <a:latin typeface="Aptos" panose="020B0004020202020204" pitchFamily="34" charset="0"/>
            </a:endParaRPr>
          </a:p>
          <a:p>
            <a:pPr marL="285750" indent="-285750">
              <a:buFont typeface="Arial" panose="020B0604020202020204" pitchFamily="34" charset="0"/>
              <a:buChar char="•"/>
            </a:pPr>
            <a:r>
              <a:rPr lang="en-US" sz="1600">
                <a:latin typeface="Aptos" panose="020B0004020202020204" pitchFamily="34" charset="0"/>
              </a:rPr>
              <a:t>Customers with </a:t>
            </a:r>
            <a:r>
              <a:rPr lang="en-US" sz="1600" b="1">
                <a:latin typeface="Aptos" panose="020B0004020202020204" pitchFamily="34" charset="0"/>
              </a:rPr>
              <a:t>long-term contracts (2+ years, 36+ months)</a:t>
            </a:r>
            <a:r>
              <a:rPr lang="en-US" sz="1600">
                <a:latin typeface="Aptos" panose="020B0004020202020204" pitchFamily="34" charset="0"/>
              </a:rPr>
              <a:t> have slightly lower churn (~21%)</a:t>
            </a:r>
          </a:p>
          <a:p>
            <a:endParaRPr lang="en-US" sz="1600">
              <a:latin typeface="Aptos" panose="020B0004020202020204" pitchFamily="34" charset="0"/>
            </a:endParaRPr>
          </a:p>
          <a:p>
            <a:pPr marL="285750" indent="-285750">
              <a:buFont typeface="Arial" panose="020B0604020202020204" pitchFamily="34" charset="0"/>
              <a:buChar char="•"/>
            </a:pPr>
            <a:r>
              <a:rPr lang="en-US" sz="1600" b="1">
                <a:latin typeface="Aptos" panose="020B0004020202020204" pitchFamily="34" charset="0"/>
              </a:rPr>
              <a:t>Older customers (60+) with low usage (&lt;100GB)</a:t>
            </a:r>
            <a:r>
              <a:rPr lang="en-US" sz="1600">
                <a:latin typeface="Aptos" panose="020B0004020202020204" pitchFamily="34" charset="0"/>
              </a:rPr>
              <a:t> have the lowest churn probability (~18%)</a:t>
            </a:r>
          </a:p>
          <a:p>
            <a:pPr marL="285750" indent="-285750">
              <a:buFont typeface="Arial" panose="020B0604020202020204" pitchFamily="34" charset="0"/>
              <a:buChar char="•"/>
            </a:pPr>
            <a:endParaRPr lang="en-US" sz="1600">
              <a:latin typeface="Aptos" panose="020B0004020202020204" pitchFamily="34" charset="0"/>
            </a:endParaRPr>
          </a:p>
          <a:p>
            <a:endParaRPr lang="en-US" sz="1600">
              <a:latin typeface="Aptos" panose="020B0004020202020204" pitchFamily="34" charset="0"/>
            </a:endParaRPr>
          </a:p>
        </p:txBody>
      </p:sp>
    </p:spTree>
    <p:extLst>
      <p:ext uri="{BB962C8B-B14F-4D97-AF65-F5344CB8AC3E}">
        <p14:creationId xmlns:p14="http://schemas.microsoft.com/office/powerpoint/2010/main" val="3520169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44D03E-6208-9B6E-4D42-8F8E277378F7}"/>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D8A8D11-DB51-43C0-8618-65C820DB4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DC80A8F-1814-92AD-7ADA-480A78C11A77}"/>
              </a:ext>
            </a:extLst>
          </p:cNvPr>
          <p:cNvSpPr txBox="1"/>
          <p:nvPr/>
        </p:nvSpPr>
        <p:spPr>
          <a:xfrm>
            <a:off x="838201" y="659527"/>
            <a:ext cx="4638567" cy="3390880"/>
          </a:xfrm>
          <a:prstGeom prst="rect">
            <a:avLst/>
          </a:prstGeom>
        </p:spPr>
        <p:txBody>
          <a:bodyPr vert="horz" lIns="91440" tIns="45720" rIns="91440" bIns="45720" rtlCol="0" anchor="t">
            <a:normAutofit/>
          </a:bodyPr>
          <a:lstStyle/>
          <a:p>
            <a:pPr>
              <a:spcBef>
                <a:spcPct val="0"/>
              </a:spcBef>
              <a:spcAft>
                <a:spcPts val="600"/>
              </a:spcAft>
            </a:pPr>
            <a:r>
              <a:rPr lang="en-US" sz="6600" b="1">
                <a:gradFill>
                  <a:gsLst>
                    <a:gs pos="100000">
                      <a:schemeClr val="tx2"/>
                    </a:gs>
                    <a:gs pos="0">
                      <a:schemeClr val="accent1"/>
                    </a:gs>
                  </a:gsLst>
                  <a:lin ang="0" scaled="1"/>
                </a:gradFill>
                <a:latin typeface="Aharoni" panose="02010803020104030203" pitchFamily="2" charset="-79"/>
                <a:cs typeface="Angsana New" panose="02020603050405020304" pitchFamily="18" charset="-34"/>
              </a:rPr>
              <a:t>Regression Analysis:</a:t>
            </a:r>
          </a:p>
        </p:txBody>
      </p:sp>
      <p:pic>
        <p:nvPicPr>
          <p:cNvPr id="10" name="Graphic 9" descr="Statistics">
            <a:extLst>
              <a:ext uri="{FF2B5EF4-FFF2-40B4-BE49-F238E27FC236}">
                <a16:creationId xmlns:a16="http://schemas.microsoft.com/office/drawing/2014/main" id="{BCD20B42-DD7F-718D-F9A4-261D92759A0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1" y="682617"/>
            <a:ext cx="5492766" cy="5492766"/>
          </a:xfrm>
          <a:prstGeom prst="rect">
            <a:avLst/>
          </a:prstGeom>
        </p:spPr>
      </p:pic>
    </p:spTree>
    <p:extLst>
      <p:ext uri="{BB962C8B-B14F-4D97-AF65-F5344CB8AC3E}">
        <p14:creationId xmlns:p14="http://schemas.microsoft.com/office/powerpoint/2010/main" val="1564005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10"/>
                                        </p:tgtEl>
                                        <p:attrNameLst>
                                          <p:attrName>style.visibility</p:attrName>
                                        </p:attrNameLst>
                                      </p:cBhvr>
                                      <p:to>
                                        <p:strVal val="visible"/>
                                      </p:to>
                                    </p:set>
                                    <p:animEffect transition="in" filter="fade">
                                      <p:cBhvr>
                                        <p:cTn id="7" dur="7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94072-4E1D-4040-58E5-B0CDD4948F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F95521-392B-EFFF-038F-75644B274810}"/>
              </a:ext>
            </a:extLst>
          </p:cNvPr>
          <p:cNvSpPr txBox="1"/>
          <p:nvPr/>
        </p:nvSpPr>
        <p:spPr>
          <a:xfrm>
            <a:off x="560614" y="489857"/>
            <a:ext cx="6411686" cy="830997"/>
          </a:xfrm>
          <a:prstGeom prst="rect">
            <a:avLst/>
          </a:prstGeom>
          <a:noFill/>
        </p:spPr>
        <p:txBody>
          <a:bodyPr wrap="square" rtlCol="0">
            <a:spAutoFit/>
          </a:bodyPr>
          <a:lstStyle/>
          <a:p>
            <a:r>
              <a:rPr lang="en-US" sz="2800" b="1"/>
              <a:t>About Regression Dataset</a:t>
            </a:r>
          </a:p>
          <a:p>
            <a:r>
              <a:rPr lang="en-US" sz="2000"/>
              <a:t>House Rent Prediction Dataset:2</a:t>
            </a:r>
            <a:endParaRPr lang="en-US" sz="2000" b="1"/>
          </a:p>
        </p:txBody>
      </p:sp>
      <p:graphicFrame>
        <p:nvGraphicFramePr>
          <p:cNvPr id="5" name="TextBox 1">
            <a:extLst>
              <a:ext uri="{FF2B5EF4-FFF2-40B4-BE49-F238E27FC236}">
                <a16:creationId xmlns:a16="http://schemas.microsoft.com/office/drawing/2014/main" id="{8FFBAAEA-B8A9-6AE0-CFE7-55090AA88A0C}"/>
              </a:ext>
            </a:extLst>
          </p:cNvPr>
          <p:cNvGraphicFramePr/>
          <p:nvPr>
            <p:extLst>
              <p:ext uri="{D42A27DB-BD31-4B8C-83A1-F6EECF244321}">
                <p14:modId xmlns:p14="http://schemas.microsoft.com/office/powerpoint/2010/main" val="3670599052"/>
              </p:ext>
            </p:extLst>
          </p:nvPr>
        </p:nvGraphicFramePr>
        <p:xfrm>
          <a:off x="560614" y="1458685"/>
          <a:ext cx="11070772" cy="42473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64412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D1825-2CDB-E4F4-03AF-485963015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AA0D7-BFAB-04F7-F1B2-FB3252B916A0}"/>
              </a:ext>
            </a:extLst>
          </p:cNvPr>
          <p:cNvSpPr>
            <a:spLocks noGrp="1"/>
          </p:cNvSpPr>
          <p:nvPr>
            <p:ph type="title"/>
          </p:nvPr>
        </p:nvSpPr>
        <p:spPr/>
        <p:txBody>
          <a:bodyPr anchor="ctr">
            <a:normAutofit/>
          </a:bodyPr>
          <a:lstStyle/>
          <a:p>
            <a:r>
              <a:rPr lang="en-US" sz="4000" dirty="0"/>
              <a:t>Preprocessing steps:</a:t>
            </a:r>
          </a:p>
        </p:txBody>
      </p:sp>
      <p:sp>
        <p:nvSpPr>
          <p:cNvPr id="3" name="Content Placeholder 2">
            <a:extLst>
              <a:ext uri="{FF2B5EF4-FFF2-40B4-BE49-F238E27FC236}">
                <a16:creationId xmlns:a16="http://schemas.microsoft.com/office/drawing/2014/main" id="{B92D0E2E-D191-3A4B-8872-FE5F3B60515C}"/>
              </a:ext>
            </a:extLst>
          </p:cNvPr>
          <p:cNvSpPr>
            <a:spLocks noGrp="1"/>
          </p:cNvSpPr>
          <p:nvPr>
            <p:ph idx="1"/>
          </p:nvPr>
        </p:nvSpPr>
        <p:spPr/>
        <p:txBody>
          <a:bodyPr>
            <a:normAutofit/>
          </a:bodyPr>
          <a:lstStyle/>
          <a:p>
            <a:pPr>
              <a:buFont typeface="Arial" panose="020B0604020202020204" pitchFamily="34" charset="0"/>
              <a:buChar char="•"/>
            </a:pPr>
            <a:r>
              <a:rPr lang="en-US" b="1">
                <a:effectLst/>
                <a:latin typeface="Aptos" panose="020B0004020202020204" pitchFamily="34" charset="0"/>
              </a:rPr>
              <a:t>﻿﻿Dataset Overview: </a:t>
            </a:r>
            <a:r>
              <a:rPr lang="en-US">
                <a:latin typeface="Aptos" panose="020B0004020202020204" pitchFamily="34" charset="0"/>
              </a:rPr>
              <a:t>Real-world housing rental data with features like rent, size, location, and furnishing status.</a:t>
            </a:r>
          </a:p>
          <a:p>
            <a:pPr>
              <a:buFont typeface="Arial" panose="020B0604020202020204" pitchFamily="34" charset="0"/>
              <a:buChar char="•"/>
            </a:pPr>
            <a:r>
              <a:rPr lang="en-US">
                <a:effectLst/>
                <a:latin typeface="Aptos" panose="020B0004020202020204" pitchFamily="34" charset="0"/>
              </a:rPr>
              <a:t>﻿﻿</a:t>
            </a:r>
            <a:r>
              <a:rPr lang="en-US" b="1">
                <a:effectLst/>
                <a:latin typeface="Aptos" panose="020B0004020202020204" pitchFamily="34" charset="0"/>
              </a:rPr>
              <a:t>Handling Missing Data: </a:t>
            </a:r>
            <a:r>
              <a:rPr lang="en-US">
                <a:latin typeface="Aptos" panose="020B0004020202020204" pitchFamily="34" charset="0"/>
              </a:rPr>
              <a:t>Used imputation techniques to ensure data completeness.</a:t>
            </a:r>
            <a:r>
              <a:rPr lang="en-US">
                <a:effectLst/>
                <a:latin typeface="Aptos" panose="020B0004020202020204" pitchFamily="34" charset="0"/>
              </a:rPr>
              <a:t>﻿﻿</a:t>
            </a:r>
            <a:endParaRPr lang="en-US" b="1">
              <a:effectLst/>
              <a:latin typeface="Aptos" panose="020B0004020202020204" pitchFamily="34" charset="0"/>
            </a:endParaRPr>
          </a:p>
          <a:p>
            <a:pPr>
              <a:buFont typeface="Arial" panose="020B0604020202020204" pitchFamily="34" charset="0"/>
              <a:buChar char="•"/>
            </a:pPr>
            <a:r>
              <a:rPr lang="en-US" b="1">
                <a:latin typeface="Aptos" panose="020B0004020202020204" pitchFamily="34" charset="0"/>
              </a:rPr>
              <a:t>Categorical to Numerical Conversion</a:t>
            </a:r>
            <a:r>
              <a:rPr lang="en-US">
                <a:latin typeface="Aptos" panose="020B0004020202020204" pitchFamily="34" charset="0"/>
              </a:rPr>
              <a:t>: Transformed categorical features for model compatibility.</a:t>
            </a:r>
            <a:endParaRPr lang="en-US">
              <a:effectLst/>
              <a:latin typeface="Aptos" panose="020B0004020202020204" pitchFamily="34" charset="0"/>
            </a:endParaRPr>
          </a:p>
          <a:p>
            <a:pPr>
              <a:buFont typeface="Arial" panose="020B0604020202020204" pitchFamily="34" charset="0"/>
              <a:buChar char="•"/>
            </a:pPr>
            <a:r>
              <a:rPr lang="en-US" b="1">
                <a:latin typeface="Aptos" panose="020B0004020202020204" pitchFamily="34" charset="0"/>
              </a:rPr>
              <a:t>One-Hot Encoding</a:t>
            </a:r>
            <a:r>
              <a:rPr lang="en-US">
                <a:latin typeface="Aptos" panose="020B0004020202020204" pitchFamily="34" charset="0"/>
              </a:rPr>
              <a:t>: Applied one-hot Encoding to multi-category variables to retain information.</a:t>
            </a:r>
          </a:p>
          <a:p>
            <a:pPr>
              <a:buFont typeface="Arial" panose="020B0604020202020204" pitchFamily="34" charset="0"/>
              <a:buChar char="•"/>
            </a:pPr>
            <a:r>
              <a:rPr lang="en-US" b="1">
                <a:latin typeface="Aptos" panose="020B0004020202020204" pitchFamily="34" charset="0"/>
              </a:rPr>
              <a:t>Boolean Conversion</a:t>
            </a:r>
            <a:r>
              <a:rPr lang="en-US">
                <a:latin typeface="Aptos" panose="020B0004020202020204" pitchFamily="34" charset="0"/>
              </a:rPr>
              <a:t>: Converted Boolean columns to integers (0/1).</a:t>
            </a:r>
            <a:endParaRPr lang="en-US">
              <a:effectLst/>
              <a:latin typeface="Aptos" panose="020B0004020202020204" pitchFamily="34" charset="0"/>
            </a:endParaRPr>
          </a:p>
          <a:p>
            <a:pPr>
              <a:buFont typeface="Arial" panose="020B0604020202020204" pitchFamily="34" charset="0"/>
              <a:buChar char="•"/>
            </a:pPr>
            <a:r>
              <a:rPr lang="en-US">
                <a:effectLst/>
                <a:latin typeface="Aptos" panose="020B0004020202020204" pitchFamily="34" charset="0"/>
              </a:rPr>
              <a:t>﻿﻿</a:t>
            </a:r>
            <a:r>
              <a:rPr lang="en-US" b="1">
                <a:effectLst/>
                <a:latin typeface="Aptos" panose="020B0004020202020204" pitchFamily="34" charset="0"/>
              </a:rPr>
              <a:t>Splitting Strategy: </a:t>
            </a:r>
            <a:r>
              <a:rPr lang="en-US">
                <a:latin typeface="Aptos" panose="020B0004020202020204" pitchFamily="34" charset="0"/>
              </a:rPr>
              <a:t>Split data into training and testing sets for evaluation</a:t>
            </a:r>
            <a:r>
              <a:rPr lang="en-US">
                <a:effectLst/>
                <a:latin typeface="Aptos" panose="020B0004020202020204" pitchFamily="34" charset="0"/>
              </a:rPr>
              <a:t>.</a:t>
            </a:r>
          </a:p>
        </p:txBody>
      </p:sp>
    </p:spTree>
    <p:extLst>
      <p:ext uri="{BB962C8B-B14F-4D97-AF65-F5344CB8AC3E}">
        <p14:creationId xmlns:p14="http://schemas.microsoft.com/office/powerpoint/2010/main" val="3974341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3B19B0-4E5B-C6D8-58F6-34EF2593B5C9}"/>
              </a:ext>
            </a:extLst>
          </p:cNvPr>
          <p:cNvSpPr>
            <a:spLocks noGrp="1" noRot="1" noMove="1" noResize="1" noEditPoints="1" noAdjustHandles="1" noChangeArrowheads="1" noChangeShapeType="1"/>
          </p:cNvSpPr>
          <p:nvPr>
            <p:ph type="title"/>
          </p:nvPr>
        </p:nvSpPr>
        <p:spPr>
          <a:xfrm>
            <a:off x="838200" y="596644"/>
            <a:ext cx="6319746" cy="1962406"/>
          </a:xfrm>
        </p:spPr>
        <p:txBody>
          <a:bodyPr vert="horz" lIns="91440" tIns="45720" rIns="91440" bIns="45720" rtlCol="0" anchor="ctr">
            <a:noAutofit/>
          </a:bodyPr>
          <a:lstStyle/>
          <a:p>
            <a:pPr>
              <a:lnSpc>
                <a:spcPct val="90000"/>
              </a:lnSpc>
            </a:pPr>
            <a:r>
              <a:rPr lang="en-US" sz="4800" dirty="0"/>
              <a:t>Independent variables (after preprocessing):</a:t>
            </a:r>
          </a:p>
        </p:txBody>
      </p:sp>
      <p:graphicFrame>
        <p:nvGraphicFramePr>
          <p:cNvPr id="3" name="Table 2">
            <a:extLst>
              <a:ext uri="{FF2B5EF4-FFF2-40B4-BE49-F238E27FC236}">
                <a16:creationId xmlns:a16="http://schemas.microsoft.com/office/drawing/2014/main" id="{669C3D1C-7A5A-556A-D299-E7DD97181ACA}"/>
              </a:ext>
            </a:extLst>
          </p:cNvPr>
          <p:cNvGraphicFramePr>
            <a:graphicFrameLocks noGrp="1" noDrilldown="1" noMove="1" noResize="1"/>
          </p:cNvGraphicFramePr>
          <p:nvPr>
            <p:extLst>
              <p:ext uri="{D42A27DB-BD31-4B8C-83A1-F6EECF244321}">
                <p14:modId xmlns:p14="http://schemas.microsoft.com/office/powerpoint/2010/main" val="362579882"/>
              </p:ext>
            </p:extLst>
          </p:nvPr>
        </p:nvGraphicFramePr>
        <p:xfrm>
          <a:off x="838200" y="3155694"/>
          <a:ext cx="10740401" cy="2528661"/>
        </p:xfrm>
        <a:graphic>
          <a:graphicData uri="http://schemas.openxmlformats.org/drawingml/2006/table">
            <a:tbl>
              <a:tblPr firstRow="1" bandRow="1">
                <a:tableStyleId>{5C22544A-7EE6-4342-B048-85BDC9FD1C3A}</a:tableStyleId>
              </a:tblPr>
              <a:tblGrid>
                <a:gridCol w="454344">
                  <a:extLst>
                    <a:ext uri="{9D8B030D-6E8A-4147-A177-3AD203B41FA5}">
                      <a16:colId xmlns:a16="http://schemas.microsoft.com/office/drawing/2014/main" val="1063767585"/>
                    </a:ext>
                  </a:extLst>
                </a:gridCol>
                <a:gridCol w="578374">
                  <a:extLst>
                    <a:ext uri="{9D8B030D-6E8A-4147-A177-3AD203B41FA5}">
                      <a16:colId xmlns:a16="http://schemas.microsoft.com/office/drawing/2014/main" val="4025807579"/>
                    </a:ext>
                  </a:extLst>
                </a:gridCol>
                <a:gridCol w="846019">
                  <a:extLst>
                    <a:ext uri="{9D8B030D-6E8A-4147-A177-3AD203B41FA5}">
                      <a16:colId xmlns:a16="http://schemas.microsoft.com/office/drawing/2014/main" val="2870199285"/>
                    </a:ext>
                  </a:extLst>
                </a:gridCol>
                <a:gridCol w="939043">
                  <a:extLst>
                    <a:ext uri="{9D8B030D-6E8A-4147-A177-3AD203B41FA5}">
                      <a16:colId xmlns:a16="http://schemas.microsoft.com/office/drawing/2014/main" val="715837313"/>
                    </a:ext>
                  </a:extLst>
                </a:gridCol>
                <a:gridCol w="891715">
                  <a:extLst>
                    <a:ext uri="{9D8B030D-6E8A-4147-A177-3AD203B41FA5}">
                      <a16:colId xmlns:a16="http://schemas.microsoft.com/office/drawing/2014/main" val="1448344842"/>
                    </a:ext>
                  </a:extLst>
                </a:gridCol>
                <a:gridCol w="762789">
                  <a:extLst>
                    <a:ext uri="{9D8B030D-6E8A-4147-A177-3AD203B41FA5}">
                      <a16:colId xmlns:a16="http://schemas.microsoft.com/office/drawing/2014/main" val="2167062803"/>
                    </a:ext>
                  </a:extLst>
                </a:gridCol>
                <a:gridCol w="898243">
                  <a:extLst>
                    <a:ext uri="{9D8B030D-6E8A-4147-A177-3AD203B41FA5}">
                      <a16:colId xmlns:a16="http://schemas.microsoft.com/office/drawing/2014/main" val="2066091142"/>
                    </a:ext>
                  </a:extLst>
                </a:gridCol>
                <a:gridCol w="898243">
                  <a:extLst>
                    <a:ext uri="{9D8B030D-6E8A-4147-A177-3AD203B41FA5}">
                      <a16:colId xmlns:a16="http://schemas.microsoft.com/office/drawing/2014/main" val="261645671"/>
                    </a:ext>
                  </a:extLst>
                </a:gridCol>
                <a:gridCol w="898243">
                  <a:extLst>
                    <a:ext uri="{9D8B030D-6E8A-4147-A177-3AD203B41FA5}">
                      <a16:colId xmlns:a16="http://schemas.microsoft.com/office/drawing/2014/main" val="1932226090"/>
                    </a:ext>
                  </a:extLst>
                </a:gridCol>
                <a:gridCol w="898243">
                  <a:extLst>
                    <a:ext uri="{9D8B030D-6E8A-4147-A177-3AD203B41FA5}">
                      <a16:colId xmlns:a16="http://schemas.microsoft.com/office/drawing/2014/main" val="2979904603"/>
                    </a:ext>
                  </a:extLst>
                </a:gridCol>
                <a:gridCol w="970050">
                  <a:extLst>
                    <a:ext uri="{9D8B030D-6E8A-4147-A177-3AD203B41FA5}">
                      <a16:colId xmlns:a16="http://schemas.microsoft.com/office/drawing/2014/main" val="1044590098"/>
                    </a:ext>
                  </a:extLst>
                </a:gridCol>
                <a:gridCol w="806852">
                  <a:extLst>
                    <a:ext uri="{9D8B030D-6E8A-4147-A177-3AD203B41FA5}">
                      <a16:colId xmlns:a16="http://schemas.microsoft.com/office/drawing/2014/main" val="2041641922"/>
                    </a:ext>
                  </a:extLst>
                </a:gridCol>
                <a:gridCol w="898243">
                  <a:extLst>
                    <a:ext uri="{9D8B030D-6E8A-4147-A177-3AD203B41FA5}">
                      <a16:colId xmlns:a16="http://schemas.microsoft.com/office/drawing/2014/main" val="3686130456"/>
                    </a:ext>
                  </a:extLst>
                </a:gridCol>
              </a:tblGrid>
              <a:tr h="460611">
                <a:tc>
                  <a:txBody>
                    <a:bodyPr/>
                    <a:lstStyle/>
                    <a:p>
                      <a:endParaRPr lang="en-US" sz="1100" b="1"/>
                    </a:p>
                  </a:txBody>
                  <a:tcPr marL="94002" marR="94002" marT="47001" marB="47001"/>
                </a:tc>
                <a:tc>
                  <a:txBody>
                    <a:bodyPr/>
                    <a:lstStyle/>
                    <a:p>
                      <a:r>
                        <a:rPr lang="en-US" sz="1100" b="1"/>
                        <a:t>BHK</a:t>
                      </a:r>
                    </a:p>
                  </a:txBody>
                  <a:tcPr marL="94002" marR="94002" marT="47001" marB="47001"/>
                </a:tc>
                <a:tc>
                  <a:txBody>
                    <a:bodyPr/>
                    <a:lstStyle/>
                    <a:p>
                      <a:r>
                        <a:rPr lang="en-US" sz="1100" b="1"/>
                        <a:t>Size</a:t>
                      </a:r>
                    </a:p>
                  </a:txBody>
                  <a:tcPr marL="94002" marR="94002" marT="47001" marB="47001"/>
                </a:tc>
                <a:tc>
                  <a:txBody>
                    <a:bodyPr/>
                    <a:lstStyle/>
                    <a:p>
                      <a:r>
                        <a:rPr lang="en-US" sz="1100" b="1"/>
                        <a:t>Furnishing status</a:t>
                      </a:r>
                    </a:p>
                  </a:txBody>
                  <a:tcPr marL="94002" marR="94002" marT="47001" marB="47001"/>
                </a:tc>
                <a:tc>
                  <a:txBody>
                    <a:bodyPr/>
                    <a:lstStyle/>
                    <a:p>
                      <a:r>
                        <a:rPr lang="en-US" sz="1100" b="1"/>
                        <a:t>Bathroom</a:t>
                      </a:r>
                    </a:p>
                  </a:txBody>
                  <a:tcPr marL="94002" marR="94002" marT="47001" marB="47001"/>
                </a:tc>
                <a:tc>
                  <a:txBody>
                    <a:bodyPr/>
                    <a:lstStyle/>
                    <a:p>
                      <a:r>
                        <a:rPr lang="en-US" sz="1100" b="1"/>
                        <a:t>Floor number</a:t>
                      </a:r>
                    </a:p>
                  </a:txBody>
                  <a:tcPr marL="94002" marR="94002" marT="47001" marB="47001"/>
                </a:tc>
                <a:tc>
                  <a:txBody>
                    <a:bodyPr/>
                    <a:lstStyle/>
                    <a:p>
                      <a:r>
                        <a:rPr lang="en-US" sz="1100" b="1"/>
                        <a:t>Carpet Area</a:t>
                      </a:r>
                    </a:p>
                  </a:txBody>
                  <a:tcPr marL="94002" marR="94002" marT="47001" marB="47001"/>
                </a:tc>
                <a:tc>
                  <a:txBody>
                    <a:bodyPr/>
                    <a:lstStyle/>
                    <a:p>
                      <a:r>
                        <a:rPr lang="en-US" sz="1100" b="1"/>
                        <a:t>Super Area</a:t>
                      </a:r>
                    </a:p>
                  </a:txBody>
                  <a:tcPr marL="94002" marR="94002" marT="47001" marB="47001"/>
                </a:tc>
                <a:tc>
                  <a:txBody>
                    <a:bodyPr/>
                    <a:lstStyle/>
                    <a:p>
                      <a:r>
                        <a:rPr lang="en-US" sz="1100" b="1"/>
                        <a:t>Chennai</a:t>
                      </a:r>
                    </a:p>
                  </a:txBody>
                  <a:tcPr marL="94002" marR="94002" marT="47001" marB="47001"/>
                </a:tc>
                <a:tc>
                  <a:txBody>
                    <a:bodyPr/>
                    <a:lstStyle/>
                    <a:p>
                      <a:r>
                        <a:rPr lang="en-US" sz="1100" b="1"/>
                        <a:t>Delhi</a:t>
                      </a:r>
                    </a:p>
                  </a:txBody>
                  <a:tcPr marL="94002" marR="94002" marT="47001" marB="47001"/>
                </a:tc>
                <a:tc>
                  <a:txBody>
                    <a:bodyPr/>
                    <a:lstStyle/>
                    <a:p>
                      <a:r>
                        <a:rPr lang="en-US" sz="1100" b="1"/>
                        <a:t>Hyderabad</a:t>
                      </a:r>
                    </a:p>
                  </a:txBody>
                  <a:tcPr marL="94002" marR="94002" marT="47001" marB="47001"/>
                </a:tc>
                <a:tc>
                  <a:txBody>
                    <a:bodyPr/>
                    <a:lstStyle/>
                    <a:p>
                      <a:r>
                        <a:rPr lang="en-US" sz="1100" b="1"/>
                        <a:t>Kolkata</a:t>
                      </a:r>
                    </a:p>
                  </a:txBody>
                  <a:tcPr marL="94002" marR="94002" marT="47001" marB="47001"/>
                </a:tc>
                <a:tc>
                  <a:txBody>
                    <a:bodyPr/>
                    <a:lstStyle/>
                    <a:p>
                      <a:r>
                        <a:rPr lang="en-US" sz="1100" b="1"/>
                        <a:t>Mumbai</a:t>
                      </a:r>
                    </a:p>
                  </a:txBody>
                  <a:tcPr marL="94002" marR="94002" marT="47001" marB="47001"/>
                </a:tc>
                <a:extLst>
                  <a:ext uri="{0D108BD9-81ED-4DB2-BD59-A6C34878D82A}">
                    <a16:rowId xmlns:a16="http://schemas.microsoft.com/office/drawing/2014/main" val="1594863572"/>
                  </a:ext>
                </a:extLst>
              </a:tr>
              <a:tr h="413610">
                <a:tc>
                  <a:txBody>
                    <a:bodyPr/>
                    <a:lstStyle/>
                    <a:p>
                      <a:r>
                        <a:rPr lang="en-US" sz="1200"/>
                        <a:t>0</a:t>
                      </a:r>
                    </a:p>
                  </a:txBody>
                  <a:tcPr marL="94002" marR="94002" marT="47001" marB="47001"/>
                </a:tc>
                <a:tc>
                  <a:txBody>
                    <a:bodyPr/>
                    <a:lstStyle/>
                    <a:p>
                      <a:r>
                        <a:rPr lang="en-US" sz="1200"/>
                        <a:t>2</a:t>
                      </a:r>
                    </a:p>
                  </a:txBody>
                  <a:tcPr marL="94002" marR="94002" marT="47001" marB="47001"/>
                </a:tc>
                <a:tc>
                  <a:txBody>
                    <a:bodyPr/>
                    <a:lstStyle/>
                    <a:p>
                      <a:r>
                        <a:rPr lang="en-US" sz="1200"/>
                        <a:t>1100</a:t>
                      </a:r>
                    </a:p>
                  </a:txBody>
                  <a:tcPr marL="94002" marR="94002" marT="47001" marB="47001"/>
                </a:tc>
                <a:tc>
                  <a:txBody>
                    <a:bodyPr/>
                    <a:lstStyle/>
                    <a:p>
                      <a:r>
                        <a:rPr lang="en-US" sz="1200"/>
                        <a:t>0</a:t>
                      </a:r>
                    </a:p>
                  </a:txBody>
                  <a:tcPr marL="94002" marR="94002" marT="47001" marB="47001"/>
                </a:tc>
                <a:tc>
                  <a:txBody>
                    <a:bodyPr/>
                    <a:lstStyle/>
                    <a:p>
                      <a:r>
                        <a:rPr lang="en-US" sz="1200"/>
                        <a:t>2</a:t>
                      </a:r>
                    </a:p>
                  </a:txBody>
                  <a:tcPr marL="94002" marR="94002" marT="47001" marB="47001"/>
                </a:tc>
                <a:tc>
                  <a:txBody>
                    <a:bodyPr/>
                    <a:lstStyle/>
                    <a:p>
                      <a:r>
                        <a:rPr lang="en-US" sz="1200"/>
                        <a:t>0</a:t>
                      </a:r>
                    </a:p>
                  </a:txBody>
                  <a:tcPr marL="94002" marR="94002" marT="47001" marB="47001"/>
                </a:tc>
                <a:tc>
                  <a:txBody>
                    <a:bodyPr/>
                    <a:lstStyle/>
                    <a:p>
                      <a:r>
                        <a:rPr lang="en-US" sz="1200"/>
                        <a:t>False</a:t>
                      </a:r>
                    </a:p>
                  </a:txBody>
                  <a:tcPr marL="94002" marR="94002" marT="47001" marB="47001"/>
                </a:tc>
                <a:tc>
                  <a:txBody>
                    <a:bodyPr/>
                    <a:lstStyle/>
                    <a:p>
                      <a:r>
                        <a:rPr lang="en-US" sz="1200"/>
                        <a:t>True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True</a:t>
                      </a:r>
                    </a:p>
                  </a:txBody>
                  <a:tcPr marL="94002" marR="94002" marT="47001" marB="47001"/>
                </a:tc>
                <a:tc>
                  <a:txBody>
                    <a:bodyPr/>
                    <a:lstStyle/>
                    <a:p>
                      <a:r>
                        <a:rPr lang="en-US" sz="1200"/>
                        <a:t>False</a:t>
                      </a:r>
                    </a:p>
                  </a:txBody>
                  <a:tcPr marL="94002" marR="94002" marT="47001" marB="47001"/>
                </a:tc>
                <a:extLst>
                  <a:ext uri="{0D108BD9-81ED-4DB2-BD59-A6C34878D82A}">
                    <a16:rowId xmlns:a16="http://schemas.microsoft.com/office/drawing/2014/main" val="3044758315"/>
                  </a:ext>
                </a:extLst>
              </a:tr>
              <a:tr h="413610">
                <a:tc>
                  <a:txBody>
                    <a:bodyPr/>
                    <a:lstStyle/>
                    <a:p>
                      <a:r>
                        <a:rPr lang="en-US" sz="1200"/>
                        <a:t>1</a:t>
                      </a:r>
                    </a:p>
                  </a:txBody>
                  <a:tcPr marL="94002" marR="94002" marT="47001" marB="47001"/>
                </a:tc>
                <a:tc>
                  <a:txBody>
                    <a:bodyPr/>
                    <a:lstStyle/>
                    <a:p>
                      <a:r>
                        <a:rPr lang="en-US" sz="1200"/>
                        <a:t>2</a:t>
                      </a:r>
                    </a:p>
                  </a:txBody>
                  <a:tcPr marL="94002" marR="94002" marT="47001" marB="47001"/>
                </a:tc>
                <a:tc>
                  <a:txBody>
                    <a:bodyPr/>
                    <a:lstStyle/>
                    <a:p>
                      <a:r>
                        <a:rPr lang="en-US" sz="1200"/>
                        <a:t>800</a:t>
                      </a:r>
                    </a:p>
                  </a:txBody>
                  <a:tcPr marL="94002" marR="94002" marT="47001" marB="47001"/>
                </a:tc>
                <a:tc>
                  <a:txBody>
                    <a:bodyPr/>
                    <a:lstStyle/>
                    <a:p>
                      <a:r>
                        <a:rPr lang="en-US" sz="1200"/>
                        <a:t>1</a:t>
                      </a:r>
                    </a:p>
                  </a:txBody>
                  <a:tcPr marL="94002" marR="94002" marT="47001" marB="47001"/>
                </a:tc>
                <a:tc>
                  <a:txBody>
                    <a:bodyPr/>
                    <a:lstStyle/>
                    <a:p>
                      <a:r>
                        <a:rPr lang="en-US" sz="1200"/>
                        <a:t>1</a:t>
                      </a:r>
                    </a:p>
                  </a:txBody>
                  <a:tcPr marL="94002" marR="94002" marT="47001" marB="47001"/>
                </a:tc>
                <a:tc>
                  <a:txBody>
                    <a:bodyPr/>
                    <a:lstStyle/>
                    <a:p>
                      <a:r>
                        <a:rPr lang="en-US" sz="1200"/>
                        <a:t>1</a:t>
                      </a:r>
                    </a:p>
                  </a:txBody>
                  <a:tcPr marL="94002" marR="94002" marT="47001" marB="47001"/>
                </a:tc>
                <a:tc>
                  <a:txBody>
                    <a:bodyPr/>
                    <a:lstStyle/>
                    <a:p>
                      <a:r>
                        <a:rPr lang="en-US" sz="1200"/>
                        <a:t>False</a:t>
                      </a:r>
                    </a:p>
                  </a:txBody>
                  <a:tcPr marL="94002" marR="94002" marT="47001" marB="47001"/>
                </a:tc>
                <a:tc>
                  <a:txBody>
                    <a:bodyPr/>
                    <a:lstStyle/>
                    <a:p>
                      <a:r>
                        <a:rPr lang="en-US" sz="1200"/>
                        <a:t>True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True</a:t>
                      </a:r>
                    </a:p>
                  </a:txBody>
                  <a:tcPr marL="94002" marR="94002" marT="47001" marB="47001"/>
                </a:tc>
                <a:tc>
                  <a:txBody>
                    <a:bodyPr/>
                    <a:lstStyle/>
                    <a:p>
                      <a:r>
                        <a:rPr lang="en-US" sz="1200"/>
                        <a:t>False</a:t>
                      </a:r>
                    </a:p>
                  </a:txBody>
                  <a:tcPr marL="94002" marR="94002" marT="47001" marB="47001"/>
                </a:tc>
                <a:extLst>
                  <a:ext uri="{0D108BD9-81ED-4DB2-BD59-A6C34878D82A}">
                    <a16:rowId xmlns:a16="http://schemas.microsoft.com/office/drawing/2014/main" val="1955489714"/>
                  </a:ext>
                </a:extLst>
              </a:tr>
              <a:tr h="413610">
                <a:tc>
                  <a:txBody>
                    <a:bodyPr/>
                    <a:lstStyle/>
                    <a:p>
                      <a:r>
                        <a:rPr lang="en-US" sz="1200"/>
                        <a:t>2</a:t>
                      </a:r>
                    </a:p>
                  </a:txBody>
                  <a:tcPr marL="94002" marR="94002" marT="47001" marB="47001"/>
                </a:tc>
                <a:tc>
                  <a:txBody>
                    <a:bodyPr/>
                    <a:lstStyle/>
                    <a:p>
                      <a:r>
                        <a:rPr lang="en-US" sz="1200"/>
                        <a:t>2</a:t>
                      </a:r>
                    </a:p>
                  </a:txBody>
                  <a:tcPr marL="94002" marR="94002" marT="47001" marB="47001"/>
                </a:tc>
                <a:tc>
                  <a:txBody>
                    <a:bodyPr/>
                    <a:lstStyle/>
                    <a:p>
                      <a:r>
                        <a:rPr lang="en-US" sz="1200"/>
                        <a:t>1000</a:t>
                      </a:r>
                    </a:p>
                  </a:txBody>
                  <a:tcPr marL="94002" marR="94002" marT="47001" marB="47001"/>
                </a:tc>
                <a:tc>
                  <a:txBody>
                    <a:bodyPr/>
                    <a:lstStyle/>
                    <a:p>
                      <a:r>
                        <a:rPr lang="en-US" sz="1200"/>
                        <a:t>1</a:t>
                      </a:r>
                    </a:p>
                  </a:txBody>
                  <a:tcPr marL="94002" marR="94002" marT="47001" marB="47001"/>
                </a:tc>
                <a:tc>
                  <a:txBody>
                    <a:bodyPr/>
                    <a:lstStyle/>
                    <a:p>
                      <a:r>
                        <a:rPr lang="en-US" sz="1200"/>
                        <a:t>1</a:t>
                      </a:r>
                    </a:p>
                  </a:txBody>
                  <a:tcPr marL="94002" marR="94002" marT="47001" marB="47001"/>
                </a:tc>
                <a:tc>
                  <a:txBody>
                    <a:bodyPr/>
                    <a:lstStyle/>
                    <a:p>
                      <a:r>
                        <a:rPr lang="en-US" sz="1200"/>
                        <a:t>1</a:t>
                      </a:r>
                    </a:p>
                  </a:txBody>
                  <a:tcPr marL="94002" marR="94002" marT="47001" marB="47001"/>
                </a:tc>
                <a:tc>
                  <a:txBody>
                    <a:bodyPr/>
                    <a:lstStyle/>
                    <a:p>
                      <a:r>
                        <a:rPr lang="en-US" sz="1200"/>
                        <a:t>False</a:t>
                      </a:r>
                    </a:p>
                  </a:txBody>
                  <a:tcPr marL="94002" marR="94002" marT="47001" marB="47001"/>
                </a:tc>
                <a:tc>
                  <a:txBody>
                    <a:bodyPr/>
                    <a:lstStyle/>
                    <a:p>
                      <a:r>
                        <a:rPr lang="en-US" sz="1200"/>
                        <a:t>True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True</a:t>
                      </a:r>
                    </a:p>
                  </a:txBody>
                  <a:tcPr marL="94002" marR="94002" marT="47001" marB="47001"/>
                </a:tc>
                <a:tc>
                  <a:txBody>
                    <a:bodyPr/>
                    <a:lstStyle/>
                    <a:p>
                      <a:r>
                        <a:rPr lang="en-US" sz="1200"/>
                        <a:t>False</a:t>
                      </a:r>
                    </a:p>
                  </a:txBody>
                  <a:tcPr marL="94002" marR="94002" marT="47001" marB="47001"/>
                </a:tc>
                <a:extLst>
                  <a:ext uri="{0D108BD9-81ED-4DB2-BD59-A6C34878D82A}">
                    <a16:rowId xmlns:a16="http://schemas.microsoft.com/office/drawing/2014/main" val="1930979055"/>
                  </a:ext>
                </a:extLst>
              </a:tr>
              <a:tr h="413610">
                <a:tc>
                  <a:txBody>
                    <a:bodyPr/>
                    <a:lstStyle/>
                    <a:p>
                      <a:r>
                        <a:rPr lang="en-US" sz="1200"/>
                        <a:t>3</a:t>
                      </a:r>
                    </a:p>
                  </a:txBody>
                  <a:tcPr marL="94002" marR="94002" marT="47001" marB="47001"/>
                </a:tc>
                <a:tc>
                  <a:txBody>
                    <a:bodyPr/>
                    <a:lstStyle/>
                    <a:p>
                      <a:r>
                        <a:rPr lang="en-US" sz="1200"/>
                        <a:t>2</a:t>
                      </a:r>
                    </a:p>
                  </a:txBody>
                  <a:tcPr marL="94002" marR="94002" marT="47001" marB="47001"/>
                </a:tc>
                <a:tc>
                  <a:txBody>
                    <a:bodyPr/>
                    <a:lstStyle/>
                    <a:p>
                      <a:r>
                        <a:rPr lang="en-US" sz="1200"/>
                        <a:t>800</a:t>
                      </a:r>
                    </a:p>
                  </a:txBody>
                  <a:tcPr marL="94002" marR="94002" marT="47001" marB="47001"/>
                </a:tc>
                <a:tc>
                  <a:txBody>
                    <a:bodyPr/>
                    <a:lstStyle/>
                    <a:p>
                      <a:r>
                        <a:rPr lang="en-US" sz="1200"/>
                        <a:t>0</a:t>
                      </a:r>
                    </a:p>
                  </a:txBody>
                  <a:tcPr marL="94002" marR="94002" marT="47001" marB="47001"/>
                </a:tc>
                <a:tc>
                  <a:txBody>
                    <a:bodyPr/>
                    <a:lstStyle/>
                    <a:p>
                      <a:r>
                        <a:rPr lang="en-US" sz="1200"/>
                        <a:t>1</a:t>
                      </a:r>
                    </a:p>
                  </a:txBody>
                  <a:tcPr marL="94002" marR="94002" marT="47001" marB="47001"/>
                </a:tc>
                <a:tc>
                  <a:txBody>
                    <a:bodyPr/>
                    <a:lstStyle/>
                    <a:p>
                      <a:r>
                        <a:rPr lang="en-US" sz="1200"/>
                        <a:t>1</a:t>
                      </a:r>
                    </a:p>
                  </a:txBody>
                  <a:tcPr marL="94002" marR="94002" marT="47001" marB="47001"/>
                </a:tc>
                <a:tc>
                  <a:txBody>
                    <a:bodyPr/>
                    <a:lstStyle/>
                    <a:p>
                      <a:r>
                        <a:rPr lang="en-US" sz="1200"/>
                        <a:t>False</a:t>
                      </a:r>
                    </a:p>
                  </a:txBody>
                  <a:tcPr marL="94002" marR="94002" marT="47001" marB="47001"/>
                </a:tc>
                <a:tc>
                  <a:txBody>
                    <a:bodyPr/>
                    <a:lstStyle/>
                    <a:p>
                      <a:r>
                        <a:rPr lang="en-US" sz="1200"/>
                        <a:t>True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True</a:t>
                      </a:r>
                    </a:p>
                  </a:txBody>
                  <a:tcPr marL="94002" marR="94002" marT="47001" marB="47001"/>
                </a:tc>
                <a:tc>
                  <a:txBody>
                    <a:bodyPr/>
                    <a:lstStyle/>
                    <a:p>
                      <a:r>
                        <a:rPr lang="en-US" sz="1200"/>
                        <a:t>False</a:t>
                      </a:r>
                    </a:p>
                  </a:txBody>
                  <a:tcPr marL="94002" marR="94002" marT="47001" marB="47001"/>
                </a:tc>
                <a:extLst>
                  <a:ext uri="{0D108BD9-81ED-4DB2-BD59-A6C34878D82A}">
                    <a16:rowId xmlns:a16="http://schemas.microsoft.com/office/drawing/2014/main" val="2216147668"/>
                  </a:ext>
                </a:extLst>
              </a:tr>
              <a:tr h="413610">
                <a:tc>
                  <a:txBody>
                    <a:bodyPr/>
                    <a:lstStyle/>
                    <a:p>
                      <a:r>
                        <a:rPr lang="en-US" sz="1200"/>
                        <a:t>4</a:t>
                      </a:r>
                    </a:p>
                  </a:txBody>
                  <a:tcPr marL="94002" marR="94002" marT="47001" marB="47001"/>
                </a:tc>
                <a:tc>
                  <a:txBody>
                    <a:bodyPr/>
                    <a:lstStyle/>
                    <a:p>
                      <a:r>
                        <a:rPr lang="en-US" sz="1200"/>
                        <a:t>2</a:t>
                      </a:r>
                    </a:p>
                  </a:txBody>
                  <a:tcPr marL="94002" marR="94002" marT="47001" marB="47001"/>
                </a:tc>
                <a:tc>
                  <a:txBody>
                    <a:bodyPr/>
                    <a:lstStyle/>
                    <a:p>
                      <a:r>
                        <a:rPr lang="en-US" sz="1200"/>
                        <a:t>850</a:t>
                      </a:r>
                    </a:p>
                  </a:txBody>
                  <a:tcPr marL="94002" marR="94002" marT="47001" marB="47001"/>
                </a:tc>
                <a:tc>
                  <a:txBody>
                    <a:bodyPr/>
                    <a:lstStyle/>
                    <a:p>
                      <a:r>
                        <a:rPr lang="en-US" sz="1200"/>
                        <a:t>0</a:t>
                      </a:r>
                    </a:p>
                  </a:txBody>
                  <a:tcPr marL="94002" marR="94002" marT="47001" marB="47001"/>
                </a:tc>
                <a:tc>
                  <a:txBody>
                    <a:bodyPr/>
                    <a:lstStyle/>
                    <a:p>
                      <a:r>
                        <a:rPr lang="en-US" sz="1200"/>
                        <a:t>1</a:t>
                      </a:r>
                    </a:p>
                  </a:txBody>
                  <a:tcPr marL="94002" marR="94002" marT="47001" marB="47001"/>
                </a:tc>
                <a:tc>
                  <a:txBody>
                    <a:bodyPr/>
                    <a:lstStyle/>
                    <a:p>
                      <a:r>
                        <a:rPr lang="en-US" sz="1200"/>
                        <a:t>1</a:t>
                      </a:r>
                    </a:p>
                  </a:txBody>
                  <a:tcPr marL="94002" marR="94002" marT="47001" marB="47001"/>
                </a:tc>
                <a:tc>
                  <a:txBody>
                    <a:bodyPr/>
                    <a:lstStyle/>
                    <a:p>
                      <a:r>
                        <a:rPr lang="en-US" sz="1200"/>
                        <a:t>True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False</a:t>
                      </a:r>
                    </a:p>
                  </a:txBody>
                  <a:tcPr marL="94002" marR="94002" marT="47001" marB="47001"/>
                </a:tc>
                <a:tc>
                  <a:txBody>
                    <a:bodyPr/>
                    <a:lstStyle/>
                    <a:p>
                      <a:r>
                        <a:rPr lang="en-US" sz="1200"/>
                        <a:t>True</a:t>
                      </a:r>
                    </a:p>
                  </a:txBody>
                  <a:tcPr marL="94002" marR="94002" marT="47001" marB="47001"/>
                </a:tc>
                <a:tc>
                  <a:txBody>
                    <a:bodyPr/>
                    <a:lstStyle/>
                    <a:p>
                      <a:r>
                        <a:rPr lang="en-US" sz="1200"/>
                        <a:t>False</a:t>
                      </a:r>
                    </a:p>
                  </a:txBody>
                  <a:tcPr marL="94002" marR="94002" marT="47001" marB="47001"/>
                </a:tc>
                <a:extLst>
                  <a:ext uri="{0D108BD9-81ED-4DB2-BD59-A6C34878D82A}">
                    <a16:rowId xmlns:a16="http://schemas.microsoft.com/office/drawing/2014/main" val="3295533974"/>
                  </a:ext>
                </a:extLst>
              </a:tr>
            </a:tbl>
          </a:graphicData>
        </a:graphic>
      </p:graphicFrame>
    </p:spTree>
    <p:extLst>
      <p:ext uri="{BB962C8B-B14F-4D97-AF65-F5344CB8AC3E}">
        <p14:creationId xmlns:p14="http://schemas.microsoft.com/office/powerpoint/2010/main" val="402663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F105F-6B65-3C7E-2471-450C41C07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3472B-8068-A2DB-5ED5-76018EE417D0}"/>
              </a:ext>
            </a:extLst>
          </p:cNvPr>
          <p:cNvSpPr>
            <a:spLocks noGrp="1"/>
          </p:cNvSpPr>
          <p:nvPr>
            <p:ph type="title"/>
          </p:nvPr>
        </p:nvSpPr>
        <p:spPr/>
        <p:txBody>
          <a:bodyPr anchor="ctr">
            <a:noAutofit/>
          </a:bodyPr>
          <a:lstStyle/>
          <a:p>
            <a:r>
              <a:rPr lang="en-US" sz="4000"/>
              <a:t>Equation of the Model:</a:t>
            </a:r>
          </a:p>
        </p:txBody>
      </p:sp>
      <p:pic>
        <p:nvPicPr>
          <p:cNvPr id="6" name="Picture 5">
            <a:extLst>
              <a:ext uri="{FF2B5EF4-FFF2-40B4-BE49-F238E27FC236}">
                <a16:creationId xmlns:a16="http://schemas.microsoft.com/office/drawing/2014/main" id="{BA148FF3-46FB-E3C3-B6F2-EBAFC1EC6B63}"/>
              </a:ext>
            </a:extLst>
          </p:cNvPr>
          <p:cNvPicPr>
            <a:picLocks noChangeAspect="1"/>
          </p:cNvPicPr>
          <p:nvPr/>
        </p:nvPicPr>
        <p:blipFill>
          <a:blip r:embed="rId3"/>
          <a:stretch>
            <a:fillRect/>
          </a:stretch>
        </p:blipFill>
        <p:spPr>
          <a:xfrm>
            <a:off x="922100" y="2682072"/>
            <a:ext cx="10347800" cy="3776167"/>
          </a:xfrm>
          <a:prstGeom prst="rect">
            <a:avLst/>
          </a:prstGeom>
        </p:spPr>
      </p:pic>
      <p:pic>
        <p:nvPicPr>
          <p:cNvPr id="14" name="Picture 13" descr="A black and white math equation&#10;&#10;AI-generated content may be incorrect.">
            <a:extLst>
              <a:ext uri="{FF2B5EF4-FFF2-40B4-BE49-F238E27FC236}">
                <a16:creationId xmlns:a16="http://schemas.microsoft.com/office/drawing/2014/main" id="{2E97AC0E-825C-2667-7CDD-B8EAD9A2FD5C}"/>
              </a:ext>
            </a:extLst>
          </p:cNvPr>
          <p:cNvPicPr>
            <a:picLocks noChangeAspect="1"/>
          </p:cNvPicPr>
          <p:nvPr/>
        </p:nvPicPr>
        <p:blipFill>
          <a:blip r:embed="rId4"/>
          <a:stretch>
            <a:fillRect/>
          </a:stretch>
        </p:blipFill>
        <p:spPr>
          <a:xfrm>
            <a:off x="3238500" y="1697615"/>
            <a:ext cx="5715000" cy="863600"/>
          </a:xfrm>
          <a:prstGeom prst="rect">
            <a:avLst/>
          </a:prstGeom>
        </p:spPr>
      </p:pic>
    </p:spTree>
    <p:extLst>
      <p:ext uri="{BB962C8B-B14F-4D97-AF65-F5344CB8AC3E}">
        <p14:creationId xmlns:p14="http://schemas.microsoft.com/office/powerpoint/2010/main" val="3375289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F63AA5A-E6E1-46DA-AB40-C58233393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E97302-574F-08F7-A98A-0AD15C5C54EC}"/>
              </a:ext>
            </a:extLst>
          </p:cNvPr>
          <p:cNvSpPr>
            <a:spLocks noGrp="1"/>
          </p:cNvSpPr>
          <p:nvPr>
            <p:ph type="title"/>
          </p:nvPr>
        </p:nvSpPr>
        <p:spPr>
          <a:xfrm>
            <a:off x="838201" y="596644"/>
            <a:ext cx="10515600" cy="1209225"/>
          </a:xfrm>
        </p:spPr>
        <p:txBody>
          <a:bodyPr anchor="ctr">
            <a:normAutofit/>
          </a:bodyPr>
          <a:lstStyle/>
          <a:p>
            <a:r>
              <a:rPr lang="en-US" sz="4000" b="1"/>
              <a:t>Interpretation of the Regression Equation</a:t>
            </a:r>
            <a:endParaRPr lang="en-US" sz="4000"/>
          </a:p>
        </p:txBody>
      </p:sp>
      <p:sp>
        <p:nvSpPr>
          <p:cNvPr id="3" name="Content Placeholder 2">
            <a:extLst>
              <a:ext uri="{FF2B5EF4-FFF2-40B4-BE49-F238E27FC236}">
                <a16:creationId xmlns:a16="http://schemas.microsoft.com/office/drawing/2014/main" id="{7B3BDC29-D56B-391C-9B49-204F7EB93AB2}"/>
              </a:ext>
            </a:extLst>
          </p:cNvPr>
          <p:cNvSpPr>
            <a:spLocks noGrp="1"/>
          </p:cNvSpPr>
          <p:nvPr>
            <p:ph idx="1"/>
          </p:nvPr>
        </p:nvSpPr>
        <p:spPr>
          <a:xfrm>
            <a:off x="828622" y="2402513"/>
            <a:ext cx="5882640" cy="3002447"/>
          </a:xfrm>
        </p:spPr>
        <p:txBody>
          <a:bodyPr anchor="ctr">
            <a:normAutofit/>
          </a:bodyPr>
          <a:lstStyle/>
          <a:p>
            <a:pPr marL="0" indent="0">
              <a:lnSpc>
                <a:spcPct val="100000"/>
              </a:lnSpc>
              <a:buNone/>
            </a:pPr>
            <a:r>
              <a:rPr lang="en-US" sz="1400" b="1" dirty="0"/>
              <a:t>Rent is influenced by multiple factors</a:t>
            </a:r>
            <a:r>
              <a:rPr lang="en-US" sz="1400" dirty="0"/>
              <a:t>, including:</a:t>
            </a:r>
          </a:p>
          <a:p>
            <a:pPr marL="0" indent="0">
              <a:lnSpc>
                <a:spcPct val="100000"/>
              </a:lnSpc>
              <a:buNone/>
            </a:pPr>
            <a:endParaRPr lang="en-US" sz="1400" dirty="0"/>
          </a:p>
          <a:p>
            <a:pPr marL="742950" lvl="1" indent="-285750">
              <a:lnSpc>
                <a:spcPct val="100000"/>
              </a:lnSpc>
              <a:buFont typeface="Arial" panose="020B0604020202020204" pitchFamily="34" charset="0"/>
              <a:buChar char="•"/>
            </a:pPr>
            <a:r>
              <a:rPr lang="en-US" sz="1400" b="1" dirty="0"/>
              <a:t>Size</a:t>
            </a:r>
            <a:r>
              <a:rPr lang="en-US" sz="1400" dirty="0"/>
              <a:t>: Larger properties generally have higher rents.</a:t>
            </a:r>
          </a:p>
          <a:p>
            <a:pPr marL="742950" lvl="1" indent="-285750">
              <a:lnSpc>
                <a:spcPct val="100000"/>
              </a:lnSpc>
              <a:buFont typeface="Arial" panose="020B0604020202020204" pitchFamily="34" charset="0"/>
              <a:buChar char="•"/>
            </a:pPr>
            <a:r>
              <a:rPr lang="en-US" sz="1400" b="1" dirty="0"/>
              <a:t>BHK</a:t>
            </a:r>
            <a:r>
              <a:rPr lang="en-US" sz="1400" dirty="0"/>
              <a:t>: Larger number of rooms tend to have a higher impact on rents.</a:t>
            </a:r>
          </a:p>
          <a:p>
            <a:pPr marL="742950" lvl="1" indent="-285750">
              <a:lnSpc>
                <a:spcPct val="100000"/>
              </a:lnSpc>
              <a:buFont typeface="Arial" panose="020B0604020202020204" pitchFamily="34" charset="0"/>
              <a:buChar char="•"/>
            </a:pPr>
            <a:r>
              <a:rPr lang="en-US" sz="1400" b="1" dirty="0"/>
              <a:t>Furnishing Status</a:t>
            </a:r>
            <a:r>
              <a:rPr lang="en-US" sz="1400" dirty="0"/>
              <a:t>: Furnished properties command higher rents.</a:t>
            </a:r>
          </a:p>
          <a:p>
            <a:pPr marL="742950" lvl="1" indent="-285750">
              <a:lnSpc>
                <a:spcPct val="100000"/>
              </a:lnSpc>
              <a:buFont typeface="Arial" panose="020B0604020202020204" pitchFamily="34" charset="0"/>
              <a:buChar char="•"/>
            </a:pPr>
            <a:r>
              <a:rPr lang="en-US" sz="1400" b="1" dirty="0"/>
              <a:t>Bathrooms</a:t>
            </a:r>
            <a:r>
              <a:rPr lang="en-US" sz="1400" dirty="0"/>
              <a:t>: More bathrooms increases the rent.</a:t>
            </a:r>
          </a:p>
          <a:p>
            <a:pPr marL="742950" lvl="1" indent="-285750">
              <a:lnSpc>
                <a:spcPct val="100000"/>
              </a:lnSpc>
              <a:buFont typeface="Arial" panose="020B0604020202020204" pitchFamily="34" charset="0"/>
              <a:buChar char="•"/>
            </a:pPr>
            <a:r>
              <a:rPr lang="en-US" sz="1400" b="1" dirty="0"/>
              <a:t>Floor Number</a:t>
            </a:r>
            <a:r>
              <a:rPr lang="en-US" sz="1400" dirty="0"/>
              <a:t>: Higher floors slightly increase rent.</a:t>
            </a:r>
          </a:p>
          <a:p>
            <a:pPr marL="0" indent="0">
              <a:lnSpc>
                <a:spcPct val="100000"/>
              </a:lnSpc>
              <a:buNone/>
            </a:pPr>
            <a:endParaRPr lang="en-US" sz="1400" dirty="0"/>
          </a:p>
        </p:txBody>
      </p:sp>
      <p:pic>
        <p:nvPicPr>
          <p:cNvPr id="13" name="Graphic 12" descr="Suburban scene">
            <a:extLst>
              <a:ext uri="{FF2B5EF4-FFF2-40B4-BE49-F238E27FC236}">
                <a16:creationId xmlns:a16="http://schemas.microsoft.com/office/drawing/2014/main" id="{C419CC9B-FEEB-3B10-890B-2C9454F18D6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6808" y="2772304"/>
            <a:ext cx="2632656" cy="2632656"/>
          </a:xfrm>
          <a:prstGeom prst="rect">
            <a:avLst/>
          </a:prstGeom>
        </p:spPr>
      </p:pic>
    </p:spTree>
    <p:extLst>
      <p:ext uri="{BB962C8B-B14F-4D97-AF65-F5344CB8AC3E}">
        <p14:creationId xmlns:p14="http://schemas.microsoft.com/office/powerpoint/2010/main" val="2281447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61EB98-E0C4-4B95-984A-E7D9DFAD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4A6211-529C-8C56-2D8B-3D8476FEB1D5}"/>
              </a:ext>
            </a:extLst>
          </p:cNvPr>
          <p:cNvSpPr>
            <a:spLocks noGrp="1" noRot="1" noMove="1" noResize="1" noEditPoints="1" noAdjustHandles="1" noChangeArrowheads="1" noChangeShapeType="1"/>
          </p:cNvSpPr>
          <p:nvPr>
            <p:ph type="title"/>
          </p:nvPr>
        </p:nvSpPr>
        <p:spPr>
          <a:xfrm>
            <a:off x="838199" y="365125"/>
            <a:ext cx="10515601" cy="1795655"/>
          </a:xfrm>
        </p:spPr>
        <p:txBody>
          <a:bodyPr anchor="ctr">
            <a:normAutofit/>
          </a:bodyPr>
          <a:lstStyle/>
          <a:p>
            <a:r>
              <a:rPr lang="en-US"/>
              <a:t>Regression model methods:</a:t>
            </a:r>
          </a:p>
        </p:txBody>
      </p:sp>
      <p:graphicFrame>
        <p:nvGraphicFramePr>
          <p:cNvPr id="5" name="Content Placeholder 2">
            <a:extLst>
              <a:ext uri="{FF2B5EF4-FFF2-40B4-BE49-F238E27FC236}">
                <a16:creationId xmlns:a16="http://schemas.microsoft.com/office/drawing/2014/main" id="{FE20A8B3-5A98-5B7B-8D6A-3F768CD08022}"/>
              </a:ext>
            </a:extLst>
          </p:cNvPr>
          <p:cNvGraphicFramePr>
            <a:graphicFrameLocks noGrp="1" noDrilldown="1" noMove="1" noResize="1"/>
          </p:cNvGraphicFramePr>
          <p:nvPr>
            <p:ph idx="1"/>
            <p:extLst>
              <p:ext uri="{D42A27DB-BD31-4B8C-83A1-F6EECF244321}">
                <p14:modId xmlns:p14="http://schemas.microsoft.com/office/powerpoint/2010/main" val="1365895190"/>
              </p:ext>
            </p:extLst>
          </p:nvPr>
        </p:nvGraphicFramePr>
        <p:xfrm>
          <a:off x="1657350" y="2525905"/>
          <a:ext cx="8877300" cy="2926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53661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F63AA5A-E6E1-46DA-AB40-C58233393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7752D-A549-D1BA-A320-C96E3D112A9C}"/>
              </a:ext>
            </a:extLst>
          </p:cNvPr>
          <p:cNvSpPr>
            <a:spLocks noGrp="1"/>
          </p:cNvSpPr>
          <p:nvPr>
            <p:ph type="title"/>
          </p:nvPr>
        </p:nvSpPr>
        <p:spPr>
          <a:xfrm>
            <a:off x="838201" y="596644"/>
            <a:ext cx="10515600" cy="2053369"/>
          </a:xfrm>
        </p:spPr>
        <p:txBody>
          <a:bodyPr vert="horz" lIns="91440" tIns="45720" rIns="91440" bIns="45720" rtlCol="0" anchor="t">
            <a:normAutofit/>
          </a:bodyPr>
          <a:lstStyle/>
          <a:p>
            <a:pPr>
              <a:lnSpc>
                <a:spcPct val="90000"/>
              </a:lnSpc>
            </a:pPr>
            <a:r>
              <a:rPr lang="en-US" sz="4000" kern="120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rPr>
              <a:t>Interpretation of R2 and adjusted R2 </a:t>
            </a:r>
            <a:br>
              <a:rPr lang="en-US" sz="4600" kern="120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rPr>
            </a:br>
            <a:r>
              <a:rPr lang="en-US" sz="3200" kern="120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rPr>
              <a:t>(using Linear &amp; Polynomial Regression):</a:t>
            </a:r>
            <a:endParaRPr lang="en-US" sz="4600" kern="120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endParaRPr>
          </a:p>
        </p:txBody>
      </p:sp>
      <p:sp>
        <p:nvSpPr>
          <p:cNvPr id="5" name="Round Single Corner Rectangle 4">
            <a:extLst>
              <a:ext uri="{FF2B5EF4-FFF2-40B4-BE49-F238E27FC236}">
                <a16:creationId xmlns:a16="http://schemas.microsoft.com/office/drawing/2014/main" id="{F01FDB93-F4B7-4FE2-1AD6-3C39DDA5F013}"/>
              </a:ext>
            </a:extLst>
          </p:cNvPr>
          <p:cNvSpPr>
            <a:spLocks noGrp="1" noRot="1" noMove="1" noResize="1" noEditPoints="1" noAdjustHandles="1" noChangeArrowheads="1" noChangeShapeType="1"/>
          </p:cNvSpPr>
          <p:nvPr/>
        </p:nvSpPr>
        <p:spPr>
          <a:xfrm>
            <a:off x="838200" y="3044023"/>
            <a:ext cx="4645696" cy="3110382"/>
          </a:xfrm>
          <a:prstGeom prst="round1Rect">
            <a:avLst/>
          </a:prstGeom>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marL="0" indent="-228600">
              <a:lnSpc>
                <a:spcPct val="110000"/>
              </a:lnSpc>
              <a:spcAft>
                <a:spcPts val="600"/>
              </a:spcAft>
              <a:buClr>
                <a:schemeClr val="tx2"/>
              </a:buClr>
              <a:buFont typeface="Arial" panose="020B0604020202020204" pitchFamily="34" charset="0"/>
              <a:buChar char="•"/>
            </a:pPr>
            <a:r>
              <a:rPr lang="en-US">
                <a:ln w="0"/>
                <a:solidFill>
                  <a:schemeClr val="tx1"/>
                </a:solidFill>
                <a:effectLst>
                  <a:outerShdw blurRad="38100" dist="19050" dir="2700000" algn="tl" rotWithShape="0">
                    <a:schemeClr val="dk1">
                      <a:alpha val="40000"/>
                    </a:schemeClr>
                  </a:outerShdw>
                </a:effectLst>
              </a:rPr>
              <a:t>For Multiple Linear Regression:</a:t>
            </a:r>
          </a:p>
          <a:p>
            <a:pPr marL="0" indent="-228600">
              <a:lnSpc>
                <a:spcPct val="110000"/>
              </a:lnSpc>
              <a:spcAft>
                <a:spcPts val="600"/>
              </a:spcAft>
              <a:buClr>
                <a:schemeClr val="tx2"/>
              </a:buClr>
              <a:buFont typeface="Arial" panose="020B0604020202020204" pitchFamily="34" charset="0"/>
              <a:buChar char="•"/>
            </a:pPr>
            <a:endParaRPr lang="en-US">
              <a:ln w="0"/>
              <a:solidFill>
                <a:schemeClr val="tx1"/>
              </a:solidFill>
              <a:effectLst>
                <a:outerShdw blurRad="38100" dist="19050" dir="2700000" algn="tl" rotWithShape="0">
                  <a:schemeClr val="dk1">
                    <a:alpha val="40000"/>
                  </a:schemeClr>
                </a:outerShdw>
              </a:effectLst>
            </a:endParaRPr>
          </a:p>
          <a:p>
            <a:pPr lvl="1" indent="-228600">
              <a:lnSpc>
                <a:spcPct val="110000"/>
              </a:lnSpc>
              <a:spcAft>
                <a:spcPts val="600"/>
              </a:spcAft>
              <a:buClr>
                <a:schemeClr val="tx2"/>
              </a:buClr>
              <a:buFont typeface="Arial" panose="020B0604020202020204" pitchFamily="34" charset="0"/>
              <a:buChar char="•"/>
            </a:pPr>
            <a:r>
              <a:rPr lang="en-US" b="1">
                <a:solidFill>
                  <a:schemeClr val="tx1"/>
                </a:solidFill>
              </a:rPr>
              <a:t>R2:</a:t>
            </a:r>
            <a:r>
              <a:rPr lang="en-US">
                <a:solidFill>
                  <a:schemeClr val="tx1"/>
                </a:solidFill>
              </a:rPr>
              <a:t> 0.5228843329265807</a:t>
            </a:r>
          </a:p>
          <a:p>
            <a:pPr lvl="1" indent="-228600">
              <a:lnSpc>
                <a:spcPct val="110000"/>
              </a:lnSpc>
              <a:spcAft>
                <a:spcPts val="600"/>
              </a:spcAft>
              <a:buClr>
                <a:schemeClr val="tx2"/>
              </a:buClr>
              <a:buFont typeface="Arial" panose="020B0604020202020204" pitchFamily="34" charset="0"/>
              <a:buChar char="•"/>
            </a:pPr>
            <a:r>
              <a:rPr lang="en-US" b="1">
                <a:solidFill>
                  <a:schemeClr val="tx1"/>
                </a:solidFill>
              </a:rPr>
              <a:t>Adjusted R2: </a:t>
            </a:r>
            <a:r>
              <a:rPr lang="en-US">
                <a:solidFill>
                  <a:schemeClr val="tx1"/>
                </a:solidFill>
              </a:rPr>
              <a:t>0.5167739935403682</a:t>
            </a:r>
          </a:p>
        </p:txBody>
      </p:sp>
      <p:pic>
        <p:nvPicPr>
          <p:cNvPr id="13" name="Graphic 12" descr="Error">
            <a:extLst>
              <a:ext uri="{FF2B5EF4-FFF2-40B4-BE49-F238E27FC236}">
                <a16:creationId xmlns:a16="http://schemas.microsoft.com/office/drawing/2014/main" id="{86A368BB-D473-FE2B-4FAA-B6BFEDA45202}"/>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88431" y="2792563"/>
            <a:ext cx="3217333" cy="3217333"/>
          </a:xfrm>
          <a:prstGeom prst="rect">
            <a:avLst/>
          </a:prstGeom>
        </p:spPr>
      </p:pic>
      <p:sp>
        <p:nvSpPr>
          <p:cNvPr id="9" name="Round Single Corner Rectangle 8">
            <a:extLst>
              <a:ext uri="{FF2B5EF4-FFF2-40B4-BE49-F238E27FC236}">
                <a16:creationId xmlns:a16="http://schemas.microsoft.com/office/drawing/2014/main" id="{2113408C-D7B3-BA8E-C271-04F48C15948B}"/>
              </a:ext>
            </a:extLst>
          </p:cNvPr>
          <p:cNvSpPr>
            <a:spLocks noGrp="1" noRot="1" noMove="1" noResize="1" noEditPoints="1" noAdjustHandles="1" noChangeArrowheads="1" noChangeShapeType="1"/>
          </p:cNvSpPr>
          <p:nvPr/>
        </p:nvSpPr>
        <p:spPr>
          <a:xfrm>
            <a:off x="6488431" y="2546297"/>
            <a:ext cx="5147624" cy="2429758"/>
          </a:xfrm>
          <a:prstGeom prst="round1Rect">
            <a:avLst/>
          </a:prstGeom>
          <a:solidFill>
            <a:schemeClr val="tx2">
              <a:lumMod val="25000"/>
              <a:lumOff val="7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600"/>
              </a:spcAft>
            </a:pPr>
            <a:r>
              <a:rPr lang="en-US">
                <a:ln w="0"/>
                <a:solidFill>
                  <a:schemeClr val="tx1"/>
                </a:solidFill>
                <a:effectLst>
                  <a:outerShdw blurRad="38100" dist="19050" dir="2700000" algn="tl" rotWithShape="0">
                    <a:schemeClr val="dk1">
                      <a:alpha val="40000"/>
                    </a:schemeClr>
                  </a:outerShdw>
                </a:effectLst>
              </a:rPr>
              <a:t>For Polynomial Regression </a:t>
            </a:r>
          </a:p>
          <a:p>
            <a:pPr>
              <a:spcAft>
                <a:spcPts val="600"/>
              </a:spcAft>
            </a:pPr>
            <a:r>
              <a:rPr lang="en-US">
                <a:ln w="0"/>
                <a:solidFill>
                  <a:schemeClr val="tx1"/>
                </a:solidFill>
                <a:effectLst>
                  <a:outerShdw blurRad="38100" dist="19050" dir="2700000" algn="tl" rotWithShape="0">
                    <a:schemeClr val="dk1">
                      <a:alpha val="40000"/>
                    </a:schemeClr>
                  </a:outerShdw>
                </a:effectLst>
              </a:rPr>
              <a:t>(degree=2):</a:t>
            </a:r>
            <a:endParaRPr lang="en-US">
              <a:ln w="0"/>
              <a:solidFill>
                <a:schemeClr val="tx1"/>
              </a:solidFill>
              <a:effectLst>
                <a:outerShdw blurRad="38100" dist="19050" dir="2700000" algn="tl" rotWithShape="0">
                  <a:prstClr val="black">
                    <a:alpha val="40000"/>
                  </a:prstClr>
                </a:outerShdw>
              </a:effectLst>
            </a:endParaRPr>
          </a:p>
          <a:p>
            <a:pPr marL="0" indent="0">
              <a:spcAft>
                <a:spcPts val="600"/>
              </a:spcAft>
              <a:buNone/>
            </a:pPr>
            <a:endParaRPr lang="en-US">
              <a:ln w="0"/>
              <a:solidFill>
                <a:schemeClr val="tx1"/>
              </a:solidFill>
              <a:effectLst>
                <a:outerShdw blurRad="38100" dist="19050" dir="2700000" algn="tl" rotWithShape="0">
                  <a:schemeClr val="dk1">
                    <a:alpha val="40000"/>
                  </a:schemeClr>
                </a:outerShdw>
              </a:effectLst>
            </a:endParaRPr>
          </a:p>
          <a:p>
            <a:pPr lvl="1">
              <a:spcAft>
                <a:spcPts val="600"/>
              </a:spcAft>
            </a:pPr>
            <a:r>
              <a:rPr lang="en-US" b="1">
                <a:solidFill>
                  <a:schemeClr val="tx1"/>
                </a:solidFill>
              </a:rPr>
              <a:t>R2: </a:t>
            </a:r>
            <a:r>
              <a:rPr lang="en-US">
                <a:solidFill>
                  <a:schemeClr val="tx1"/>
                </a:solidFill>
              </a:rPr>
              <a:t>0.8137733813128744 </a:t>
            </a:r>
          </a:p>
          <a:p>
            <a:pPr lvl="1">
              <a:spcAft>
                <a:spcPts val="600"/>
              </a:spcAft>
            </a:pPr>
            <a:r>
              <a:rPr lang="en-US" b="1">
                <a:solidFill>
                  <a:schemeClr val="tx1"/>
                </a:solidFill>
              </a:rPr>
              <a:t>Adjusted R2: </a:t>
            </a:r>
            <a:r>
              <a:rPr lang="en-US">
                <a:solidFill>
                  <a:schemeClr val="tx1"/>
                </a:solidFill>
              </a:rPr>
              <a:t>0.7942618613107308</a:t>
            </a:r>
          </a:p>
        </p:txBody>
      </p:sp>
    </p:spTree>
    <p:extLst>
      <p:ext uri="{BB962C8B-B14F-4D97-AF65-F5344CB8AC3E}">
        <p14:creationId xmlns:p14="http://schemas.microsoft.com/office/powerpoint/2010/main" val="1924598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5E89F-109D-F975-860A-3DEEF5800C98}"/>
              </a:ext>
            </a:extLst>
          </p:cNvPr>
          <p:cNvSpPr>
            <a:spLocks noGrp="1"/>
          </p:cNvSpPr>
          <p:nvPr>
            <p:ph type="title"/>
          </p:nvPr>
        </p:nvSpPr>
        <p:spPr/>
        <p:txBody>
          <a:bodyPr anchor="ctr">
            <a:normAutofit/>
          </a:bodyPr>
          <a:lstStyle/>
          <a:p>
            <a:r>
              <a:rPr lang="en-US" sz="3600" b="1" i="0">
                <a:solidFill>
                  <a:schemeClr val="accent1"/>
                </a:solidFill>
                <a:effectLst/>
                <a:latin typeface="Arial" panose="020B0604020202020204" pitchFamily="34" charset="0"/>
              </a:rPr>
              <a:t>Interpretation of R2 &amp; R2 adjusted values: </a:t>
            </a:r>
            <a:endParaRPr lang="en-US" sz="3600">
              <a:solidFill>
                <a:schemeClr val="accent1"/>
              </a:solidFill>
            </a:endParaRPr>
          </a:p>
        </p:txBody>
      </p:sp>
      <p:sp>
        <p:nvSpPr>
          <p:cNvPr id="3" name="Content Placeholder 2">
            <a:extLst>
              <a:ext uri="{FF2B5EF4-FFF2-40B4-BE49-F238E27FC236}">
                <a16:creationId xmlns:a16="http://schemas.microsoft.com/office/drawing/2014/main" id="{137F2031-D383-FA3D-BC25-E345CA5BC185}"/>
              </a:ext>
            </a:extLst>
          </p:cNvPr>
          <p:cNvSpPr>
            <a:spLocks noGrp="1"/>
          </p:cNvSpPr>
          <p:nvPr>
            <p:ph idx="1"/>
          </p:nvPr>
        </p:nvSpPr>
        <p:spPr>
          <a:xfrm>
            <a:off x="429986" y="1437411"/>
            <a:ext cx="10515600" cy="5100140"/>
          </a:xfrm>
        </p:spPr>
        <p:txBody>
          <a:bodyPr vert="horz" lIns="91440" tIns="45720" rIns="91440" bIns="45720" rtlCol="0" anchor="t">
            <a:normAutofit fontScale="92500"/>
          </a:bodyPr>
          <a:lstStyle/>
          <a:p>
            <a:pPr algn="l">
              <a:buFont typeface="Arial" panose="020B0604020202020204" pitchFamily="34" charset="0"/>
              <a:buChar char="•"/>
            </a:pPr>
            <a:r>
              <a:rPr lang="en-US" b="1" i="0" dirty="0">
                <a:solidFill>
                  <a:srgbClr val="222222"/>
                </a:solidFill>
                <a:effectLst/>
                <a:latin typeface="Arial"/>
                <a:cs typeface="Arial"/>
              </a:rPr>
              <a:t>Multiple Linear Regression</a:t>
            </a:r>
            <a:r>
              <a:rPr lang="en-US" b="0" i="0" dirty="0">
                <a:solidFill>
                  <a:srgbClr val="222222"/>
                </a:solidFill>
                <a:effectLst/>
                <a:latin typeface="Arial"/>
                <a:cs typeface="Arial"/>
              </a:rPr>
              <a:t>:</a:t>
            </a:r>
          </a:p>
          <a:p>
            <a:pPr marL="742950" lvl="1" indent="-285750"/>
            <a:r>
              <a:rPr lang="en-US" b="1" dirty="0">
                <a:solidFill>
                  <a:srgbClr val="222222"/>
                </a:solidFill>
                <a:latin typeface="Arial"/>
                <a:cs typeface="Arial"/>
              </a:rPr>
              <a:t>R2 = </a:t>
            </a:r>
            <a:r>
              <a:rPr lang="en-US" b="1" dirty="0">
                <a:latin typeface="Avenir Next LT Pro"/>
                <a:cs typeface="Arial"/>
              </a:rPr>
              <a:t>0.52</a:t>
            </a:r>
            <a:r>
              <a:rPr lang="en-US" b="0" i="0" dirty="0">
                <a:solidFill>
                  <a:srgbClr val="222222"/>
                </a:solidFill>
                <a:effectLst/>
                <a:latin typeface="Arial"/>
                <a:cs typeface="Arial"/>
              </a:rPr>
              <a:t>→ The model explains 52.29% of the variance in rent prices </a:t>
            </a:r>
            <a:r>
              <a:rPr lang="en-US" dirty="0">
                <a:solidFill>
                  <a:srgbClr val="222222"/>
                </a:solidFill>
                <a:latin typeface="Arial"/>
                <a:cs typeface="Arial"/>
              </a:rPr>
              <a:t>can be explained by </a:t>
            </a:r>
            <a:r>
              <a:rPr lang="en-US" b="0" i="0" dirty="0">
                <a:solidFill>
                  <a:srgbClr val="222222"/>
                </a:solidFill>
                <a:effectLst/>
                <a:latin typeface="Arial"/>
                <a:cs typeface="Arial"/>
              </a:rPr>
              <a:t>the </a:t>
            </a:r>
            <a:r>
              <a:rPr lang="en-US" dirty="0">
                <a:solidFill>
                  <a:srgbClr val="222222"/>
                </a:solidFill>
                <a:latin typeface="Arial"/>
                <a:cs typeface="Arial"/>
              </a:rPr>
              <a:t>independent</a:t>
            </a:r>
            <a:r>
              <a:rPr lang="en-US" b="0" i="0" dirty="0">
                <a:solidFill>
                  <a:srgbClr val="222222"/>
                </a:solidFill>
                <a:effectLst/>
                <a:latin typeface="Arial"/>
                <a:cs typeface="Arial"/>
              </a:rPr>
              <a:t> features.</a:t>
            </a:r>
            <a:endParaRPr lang="en-US" dirty="0"/>
          </a:p>
          <a:p>
            <a:pPr marL="742950" lvl="1" indent="-285750"/>
            <a:r>
              <a:rPr lang="en-US" b="1" dirty="0">
                <a:solidFill>
                  <a:srgbClr val="222222"/>
                </a:solidFill>
                <a:ea typeface="+mn-lt"/>
                <a:cs typeface="+mn-lt"/>
              </a:rPr>
              <a:t>Adjusted R2 </a:t>
            </a:r>
            <a:r>
              <a:rPr lang="en-US" dirty="0">
                <a:solidFill>
                  <a:srgbClr val="222222"/>
                </a:solidFill>
                <a:ea typeface="+mn-lt"/>
                <a:cs typeface="+mn-lt"/>
              </a:rPr>
              <a:t>→ After accounting for the number of predictors, the model still explains </a:t>
            </a:r>
            <a:r>
              <a:rPr lang="en-US" b="1" dirty="0">
                <a:solidFill>
                  <a:srgbClr val="222222"/>
                </a:solidFill>
                <a:ea typeface="+mn-lt"/>
                <a:cs typeface="+mn-lt"/>
              </a:rPr>
              <a:t>51.7%</a:t>
            </a:r>
            <a:r>
              <a:rPr lang="en-US" dirty="0">
                <a:solidFill>
                  <a:srgbClr val="222222"/>
                </a:solidFill>
                <a:ea typeface="+mn-lt"/>
                <a:cs typeface="+mn-lt"/>
              </a:rPr>
              <a:t> of the variance, confirming that adding more features did not drastically improve the fit.</a:t>
            </a:r>
            <a:endParaRPr lang="en-US" b="0" i="0" dirty="0">
              <a:solidFill>
                <a:srgbClr val="222222"/>
              </a:solidFill>
              <a:effectLst/>
              <a:latin typeface="Arial" panose="020B0604020202020204" pitchFamily="34" charset="0"/>
              <a:cs typeface="Arial" panose="020B0604020202020204" pitchFamily="34" charset="0"/>
            </a:endParaRPr>
          </a:p>
          <a:p>
            <a:pPr marL="457200" lvl="1" indent="0">
              <a:buNone/>
            </a:pPr>
            <a:endParaRPr lang="en-US">
              <a:solidFill>
                <a:srgbClr val="222222"/>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b="1" i="0" dirty="0">
                <a:solidFill>
                  <a:srgbClr val="222222"/>
                </a:solidFill>
                <a:effectLst/>
                <a:latin typeface="Arial"/>
                <a:cs typeface="Arial"/>
              </a:rPr>
              <a:t>Polynomial Regression:</a:t>
            </a:r>
            <a:endParaRPr lang="en-US" b="0" i="0" dirty="0">
              <a:solidFill>
                <a:srgbClr val="222222"/>
              </a:solidFill>
              <a:effectLst/>
              <a:latin typeface="Arial"/>
              <a:cs typeface="Arial"/>
            </a:endParaRPr>
          </a:p>
          <a:p>
            <a:pPr marL="742950" lvl="1" indent="-285750"/>
            <a:r>
              <a:rPr lang="en-US" b="1" dirty="0">
                <a:solidFill>
                  <a:srgbClr val="222222"/>
                </a:solidFill>
                <a:latin typeface="Arial"/>
                <a:cs typeface="Arial"/>
              </a:rPr>
              <a:t>R2 = </a:t>
            </a:r>
            <a:r>
              <a:rPr lang="en-US" b="1" dirty="0">
                <a:latin typeface="Avenir Next LT Pro"/>
                <a:cs typeface="Arial"/>
              </a:rPr>
              <a:t>0.81</a:t>
            </a:r>
            <a:r>
              <a:rPr lang="en-US" b="1" dirty="0">
                <a:solidFill>
                  <a:srgbClr val="222222"/>
                </a:solidFill>
                <a:latin typeface="Arial"/>
                <a:cs typeface="Arial"/>
              </a:rPr>
              <a:t> </a:t>
            </a:r>
            <a:r>
              <a:rPr lang="en-US" b="0" i="0" dirty="0">
                <a:solidFill>
                  <a:srgbClr val="222222"/>
                </a:solidFill>
                <a:effectLst/>
                <a:latin typeface="Arial"/>
                <a:cs typeface="Arial"/>
              </a:rPr>
              <a:t>→ The model explains 81.38% of the </a:t>
            </a:r>
            <a:r>
              <a:rPr lang="en-US" dirty="0">
                <a:solidFill>
                  <a:srgbClr val="222222"/>
                </a:solidFill>
                <a:latin typeface="Arial"/>
                <a:cs typeface="Arial"/>
              </a:rPr>
              <a:t>variance in rent prices can be explained </a:t>
            </a:r>
            <a:r>
              <a:rPr lang="en-US" dirty="0" err="1">
                <a:solidFill>
                  <a:srgbClr val="222222"/>
                </a:solidFill>
                <a:latin typeface="Arial"/>
                <a:cs typeface="Arial"/>
              </a:rPr>
              <a:t>bu</a:t>
            </a:r>
            <a:r>
              <a:rPr lang="en-US" dirty="0">
                <a:solidFill>
                  <a:srgbClr val="222222"/>
                </a:solidFill>
                <a:latin typeface="Arial"/>
                <a:cs typeface="Arial"/>
              </a:rPr>
              <a:t> the independent variable , which</a:t>
            </a:r>
            <a:r>
              <a:rPr lang="en-US" b="0" i="0" dirty="0">
                <a:solidFill>
                  <a:srgbClr val="222222"/>
                </a:solidFill>
                <a:effectLst/>
                <a:latin typeface="Arial"/>
                <a:cs typeface="Arial"/>
              </a:rPr>
              <a:t> is significantly higher than the </a:t>
            </a:r>
            <a:r>
              <a:rPr lang="en-US" dirty="0">
                <a:solidFill>
                  <a:srgbClr val="222222"/>
                </a:solidFill>
                <a:latin typeface="Arial"/>
                <a:cs typeface="Arial"/>
              </a:rPr>
              <a:t>multiple </a:t>
            </a:r>
            <a:r>
              <a:rPr lang="en-US" b="0" i="0" dirty="0">
                <a:solidFill>
                  <a:srgbClr val="222222"/>
                </a:solidFill>
                <a:effectLst/>
                <a:latin typeface="Arial"/>
                <a:cs typeface="Arial"/>
              </a:rPr>
              <a:t>linear </a:t>
            </a:r>
            <a:r>
              <a:rPr lang="en-US" dirty="0">
                <a:solidFill>
                  <a:srgbClr val="222222"/>
                </a:solidFill>
                <a:latin typeface="Arial"/>
                <a:cs typeface="Arial"/>
              </a:rPr>
              <a:t>regression </a:t>
            </a:r>
            <a:r>
              <a:rPr lang="en-US" b="0" i="0" dirty="0">
                <a:solidFill>
                  <a:srgbClr val="222222"/>
                </a:solidFill>
                <a:effectLst/>
                <a:latin typeface="Arial"/>
                <a:cs typeface="Arial"/>
              </a:rPr>
              <a:t>model.</a:t>
            </a:r>
            <a:endParaRPr lang="en-US" dirty="0">
              <a:solidFill>
                <a:srgbClr val="222222"/>
              </a:solidFill>
              <a:latin typeface="Arial"/>
              <a:cs typeface="Arial"/>
            </a:endParaRPr>
          </a:p>
          <a:p>
            <a:pPr marL="742950" lvl="1" indent="-285750"/>
            <a:r>
              <a:rPr lang="en-US" b="1" dirty="0">
                <a:ea typeface="+mn-lt"/>
                <a:cs typeface="+mn-lt"/>
              </a:rPr>
              <a:t>Adjusted R² = 0.51</a:t>
            </a:r>
            <a:r>
              <a:rPr lang="en-US" dirty="0">
                <a:ea typeface="+mn-lt"/>
                <a:cs typeface="+mn-lt"/>
              </a:rPr>
              <a:t> →After adjusting for additional predictors, the model still explains </a:t>
            </a:r>
            <a:r>
              <a:rPr lang="en-US" b="1" dirty="0">
                <a:ea typeface="+mn-lt"/>
                <a:cs typeface="+mn-lt"/>
              </a:rPr>
              <a:t>79.4%</a:t>
            </a:r>
            <a:r>
              <a:rPr lang="en-US" dirty="0">
                <a:ea typeface="+mn-lt"/>
                <a:cs typeface="+mn-lt"/>
              </a:rPr>
              <a:t> of the variance.</a:t>
            </a:r>
            <a:endParaRPr lang="en-US" b="0" i="0" dirty="0">
              <a:effectLst/>
              <a:latin typeface="Arial"/>
              <a:cs typeface="Arial"/>
            </a:endParaRPr>
          </a:p>
          <a:p>
            <a:pPr marL="457200" lvl="1" indent="0">
              <a:buNone/>
            </a:pPr>
            <a:endParaRPr lang="en-US" b="1">
              <a:solidFill>
                <a:srgbClr val="000000"/>
              </a:solidFill>
              <a:ea typeface="+mn-lt"/>
              <a:cs typeface="+mn-lt"/>
            </a:endParaRPr>
          </a:p>
          <a:p>
            <a:pPr marL="457200" lvl="1" indent="0">
              <a:buNone/>
            </a:pPr>
            <a:r>
              <a:rPr lang="en-US" b="1" dirty="0">
                <a:solidFill>
                  <a:srgbClr val="000000"/>
                </a:solidFill>
                <a:highlight>
                  <a:srgbClr val="FFFF00"/>
                </a:highlight>
                <a:ea typeface="+mn-lt"/>
                <a:cs typeface="+mn-lt"/>
              </a:rPr>
              <a:t>INTERPRETATION:</a:t>
            </a:r>
            <a:endParaRPr lang="en-US" dirty="0">
              <a:highlight>
                <a:srgbClr val="FFFF00"/>
              </a:highlight>
            </a:endParaRPr>
          </a:p>
          <a:p>
            <a:pPr marL="457200" lvl="1" indent="0">
              <a:buNone/>
            </a:pPr>
            <a:r>
              <a:rPr lang="en-US" b="1" dirty="0">
                <a:solidFill>
                  <a:srgbClr val="000000"/>
                </a:solidFill>
                <a:ea typeface="+mn-lt"/>
                <a:cs typeface="+mn-lt"/>
              </a:rPr>
              <a:t>Polynomial regression</a:t>
            </a:r>
            <a:r>
              <a:rPr lang="en-US" dirty="0">
                <a:solidFill>
                  <a:srgbClr val="000000"/>
                </a:solidFill>
                <a:ea typeface="+mn-lt"/>
                <a:cs typeface="+mn-lt"/>
              </a:rPr>
              <a:t> </a:t>
            </a:r>
            <a:r>
              <a:rPr lang="en-US" b="1" dirty="0">
                <a:solidFill>
                  <a:srgbClr val="000000"/>
                </a:solidFill>
                <a:ea typeface="+mn-lt"/>
                <a:cs typeface="+mn-lt"/>
              </a:rPr>
              <a:t>outperforms</a:t>
            </a:r>
            <a:r>
              <a:rPr lang="en-US" dirty="0">
                <a:solidFill>
                  <a:srgbClr val="000000"/>
                </a:solidFill>
                <a:ea typeface="+mn-lt"/>
                <a:cs typeface="+mn-lt"/>
              </a:rPr>
              <a:t> multiple linear regression in explaining the data, indicating that a nonlinear model is more suitable for our dataset.</a:t>
            </a:r>
            <a:endParaRPr lang="en-US" dirty="0"/>
          </a:p>
          <a:p>
            <a:pPr marL="742950" lvl="1" indent="-285750"/>
            <a:endParaRPr lang="en-US">
              <a:solidFill>
                <a:srgbClr val="000000"/>
              </a:solidFill>
              <a:latin typeface="Avenir Next LT Pro"/>
              <a:cs typeface="Arial"/>
            </a:endParaRPr>
          </a:p>
          <a:p>
            <a:pPr marL="742950" lvl="1" indent="-285750"/>
            <a:endParaRPr lang="en-US">
              <a:solidFill>
                <a:srgbClr val="222222"/>
              </a:solidFill>
              <a:latin typeface="Arial"/>
              <a:cs typeface="Arial"/>
            </a:endParaRPr>
          </a:p>
          <a:p>
            <a:pPr marL="0" indent="0">
              <a:buNone/>
            </a:pPr>
            <a:endParaRPr lang="en-US">
              <a:solidFill>
                <a:srgbClr val="000000"/>
              </a:solidFill>
              <a:latin typeface="Avenir Next LT Pro"/>
              <a:cs typeface="Arial"/>
            </a:endParaRPr>
          </a:p>
        </p:txBody>
      </p:sp>
    </p:spTree>
    <p:extLst>
      <p:ext uri="{BB962C8B-B14F-4D97-AF65-F5344CB8AC3E}">
        <p14:creationId xmlns:p14="http://schemas.microsoft.com/office/powerpoint/2010/main" val="3147006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0BCBD-1787-2521-B564-2F8CD3942FA5}"/>
              </a:ext>
            </a:extLst>
          </p:cNvPr>
          <p:cNvSpPr>
            <a:spLocks noGrp="1" noRot="1" noMove="1" noResize="1" noEditPoints="1" noAdjustHandles="1" noChangeArrowheads="1" noChangeShapeType="1"/>
          </p:cNvSpPr>
          <p:nvPr>
            <p:ph type="title"/>
          </p:nvPr>
        </p:nvSpPr>
        <p:spPr/>
        <p:txBody>
          <a:bodyPr anchor="ctr">
            <a:normAutofit/>
          </a:bodyPr>
          <a:lstStyle/>
          <a:p>
            <a:r>
              <a:rPr lang="en-US" sz="4000"/>
              <a:t>Actual vs Predicted Rent:</a:t>
            </a:r>
          </a:p>
        </p:txBody>
      </p:sp>
      <p:pic>
        <p:nvPicPr>
          <p:cNvPr id="7" name="Content Placeholder 6" descr="A graph of a scatter plot&#10;&#10;AI-generated content may be incorrect.">
            <a:extLst>
              <a:ext uri="{FF2B5EF4-FFF2-40B4-BE49-F238E27FC236}">
                <a16:creationId xmlns:a16="http://schemas.microsoft.com/office/drawing/2014/main" id="{AAEB5C92-8532-B846-33D6-C70F57DD8630}"/>
              </a:ext>
            </a:extLst>
          </p:cNvPr>
          <p:cNvPicPr>
            <a:picLocks noGrp="1" noChangeAspect="1"/>
          </p:cNvPicPr>
          <p:nvPr>
            <p:ph idx="1"/>
          </p:nvPr>
        </p:nvPicPr>
        <p:blipFill>
          <a:blip r:embed="rId3"/>
          <a:stretch>
            <a:fillRect/>
          </a:stretch>
        </p:blipFill>
        <p:spPr>
          <a:xfrm>
            <a:off x="1536213" y="1345736"/>
            <a:ext cx="7656755" cy="4825664"/>
          </a:xfrm>
        </p:spPr>
      </p:pic>
    </p:spTree>
    <p:extLst>
      <p:ext uri="{BB962C8B-B14F-4D97-AF65-F5344CB8AC3E}">
        <p14:creationId xmlns:p14="http://schemas.microsoft.com/office/powerpoint/2010/main" val="34617677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579F5-A27A-47D2-CBD1-E778798B350F}"/>
              </a:ext>
            </a:extLst>
          </p:cNvPr>
          <p:cNvSpPr>
            <a:spLocks noGrp="1" noRot="1" noMove="1" noResize="1" noEditPoints="1" noAdjustHandles="1" noChangeArrowheads="1" noChangeShapeType="1"/>
          </p:cNvSpPr>
          <p:nvPr>
            <p:ph type="title"/>
          </p:nvPr>
        </p:nvSpPr>
        <p:spPr/>
        <p:txBody>
          <a:bodyPr anchor="t">
            <a:noAutofit/>
          </a:bodyPr>
          <a:lstStyle/>
          <a:p>
            <a:r>
              <a:rPr lang="en-US" sz="4000"/>
              <a:t>Correlation between Input variables:</a:t>
            </a:r>
          </a:p>
        </p:txBody>
      </p:sp>
      <p:pic>
        <p:nvPicPr>
          <p:cNvPr id="1026" name="Picture 2">
            <a:extLst>
              <a:ext uri="{FF2B5EF4-FFF2-40B4-BE49-F238E27FC236}">
                <a16:creationId xmlns:a16="http://schemas.microsoft.com/office/drawing/2014/main" id="{58B7F48D-5C35-10CE-350D-A52B2FD75697}"/>
              </a:ext>
            </a:extLst>
          </p:cNvPr>
          <p:cNvPicPr>
            <a:picLocks noGrp="1" noRot="1" noChangeAspect="1" noMove="1" noResize="1" noEditPoints="1" noAdjustHandles="1" noChangeArrowheads="1" noChangeShapeType="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72282" y="1569511"/>
            <a:ext cx="7247436" cy="4923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9438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B6B20-C650-832C-9CCC-CFE15AC02F52}"/>
              </a:ext>
            </a:extLst>
          </p:cNvPr>
          <p:cNvSpPr>
            <a:spLocks noGrp="1" noRot="1" noMove="1" noResize="1" noEditPoints="1" noAdjustHandles="1" noChangeArrowheads="1" noChangeShapeType="1"/>
          </p:cNvSpPr>
          <p:nvPr>
            <p:ph type="title"/>
          </p:nvPr>
        </p:nvSpPr>
        <p:spPr>
          <a:xfrm>
            <a:off x="421004" y="319405"/>
            <a:ext cx="11349990" cy="1325563"/>
          </a:xfrm>
        </p:spPr>
        <p:txBody>
          <a:bodyPr anchor="ctr">
            <a:noAutofit/>
          </a:bodyPr>
          <a:lstStyle/>
          <a:p>
            <a:r>
              <a:rPr lang="en-US" sz="4000"/>
              <a:t>Correlation between Input &amp; Output variable:</a:t>
            </a:r>
          </a:p>
        </p:txBody>
      </p:sp>
      <p:pic>
        <p:nvPicPr>
          <p:cNvPr id="2050" name="Picture 2">
            <a:extLst>
              <a:ext uri="{FF2B5EF4-FFF2-40B4-BE49-F238E27FC236}">
                <a16:creationId xmlns:a16="http://schemas.microsoft.com/office/drawing/2014/main" id="{809DA28C-39EC-7249-AAEA-9A8B3FA44B4F}"/>
              </a:ext>
            </a:extLst>
          </p:cNvPr>
          <p:cNvPicPr>
            <a:picLocks noGrp="1" noRot="1" noChangeAspect="1" noMove="1" noResize="1" noEditPoints="1" noAdjustHandles="1" noChangeArrowheads="1" noChangeShapeType="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85680" y="1781492"/>
            <a:ext cx="7020639" cy="4493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97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A2401-DC88-7638-BEEA-F338EAB7A1DB}"/>
              </a:ext>
            </a:extLst>
          </p:cNvPr>
          <p:cNvSpPr>
            <a:spLocks noGrp="1"/>
          </p:cNvSpPr>
          <p:nvPr>
            <p:ph type="title"/>
          </p:nvPr>
        </p:nvSpPr>
        <p:spPr>
          <a:xfrm>
            <a:off x="1868715" y="1714953"/>
            <a:ext cx="8454571" cy="2290763"/>
          </a:xfrm>
        </p:spPr>
        <p:txBody>
          <a:bodyPr>
            <a:normAutofit/>
          </a:bodyPr>
          <a:lstStyle/>
          <a:p>
            <a:r>
              <a:rPr lang="en-US" sz="9650">
                <a:gradFill>
                  <a:gsLst>
                    <a:gs pos="0">
                      <a:srgbClr val="00BAC8"/>
                    </a:gs>
                    <a:gs pos="100000">
                      <a:srgbClr val="203040"/>
                    </a:gs>
                  </a:gsLst>
                  <a:lin ang="0" scaled="1"/>
                </a:gradFill>
                <a:latin typeface="Aharoni"/>
                <a:cs typeface="Angsana New"/>
              </a:rPr>
              <a:t>Visualization</a:t>
            </a:r>
            <a:endParaRPr lang="en-US" sz="9650">
              <a:gradFill>
                <a:gsLst>
                  <a:gs pos="0">
                    <a:srgbClr val="00BAC8"/>
                  </a:gs>
                  <a:gs pos="100000">
                    <a:srgbClr val="203040"/>
                  </a:gs>
                </a:gsLst>
                <a:lin ang="0" scaled="1"/>
              </a:gradFill>
            </a:endParaRPr>
          </a:p>
        </p:txBody>
      </p:sp>
    </p:spTree>
    <p:extLst>
      <p:ext uri="{BB962C8B-B14F-4D97-AF65-F5344CB8AC3E}">
        <p14:creationId xmlns:p14="http://schemas.microsoft.com/office/powerpoint/2010/main" val="14919735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3CBAD-C667-1AA6-9F58-C214565204F3}"/>
              </a:ext>
            </a:extLst>
          </p:cNvPr>
          <p:cNvSpPr>
            <a:spLocks noGrp="1" noRot="1" noMove="1" noResize="1" noEditPoints="1" noAdjustHandles="1" noChangeArrowheads="1" noChangeShapeType="1"/>
          </p:cNvSpPr>
          <p:nvPr>
            <p:ph type="title"/>
          </p:nvPr>
        </p:nvSpPr>
        <p:spPr>
          <a:xfrm>
            <a:off x="838200" y="320027"/>
            <a:ext cx="10515600" cy="649610"/>
          </a:xfrm>
        </p:spPr>
        <p:txBody>
          <a:bodyPr anchor="t">
            <a:noAutofit/>
          </a:bodyPr>
          <a:lstStyle/>
          <a:p>
            <a:r>
              <a:rPr lang="en-US" sz="3200"/>
              <a:t>Visualizations for Binary Classification Analysis:</a:t>
            </a:r>
          </a:p>
        </p:txBody>
      </p:sp>
      <p:pic>
        <p:nvPicPr>
          <p:cNvPr id="1026" name="Picture 2">
            <a:extLst>
              <a:ext uri="{FF2B5EF4-FFF2-40B4-BE49-F238E27FC236}">
                <a16:creationId xmlns:a16="http://schemas.microsoft.com/office/drawing/2014/main" id="{921C369A-828B-55DE-40E0-A4C5317A41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243" y="2149708"/>
            <a:ext cx="3430640" cy="25585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7E258B9-1780-59B1-9E32-7D95FB5BBF38}"/>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654278" y="1270984"/>
            <a:ext cx="2443618" cy="223517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5910FA60-0AE2-8C24-765C-3F3D975CEF18}"/>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315071" y="1270985"/>
            <a:ext cx="2730536" cy="226844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8783F98-AE1E-7CC6-4041-521116DF06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44039" y="1277414"/>
            <a:ext cx="2730536" cy="226844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3367DBE3-A19E-C751-FAEA-7F8F1255D826}"/>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rcRect/>
          <a:stretch>
            <a:fillRect/>
          </a:stretch>
        </p:blipFill>
        <p:spPr bwMode="auto">
          <a:xfrm>
            <a:off x="6315071" y="3860898"/>
            <a:ext cx="2730537" cy="227369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5FC742E6-0E9E-51C0-EDB0-679764D27F5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97003" y="3866153"/>
            <a:ext cx="2730538" cy="227369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319F5C31-9027-116A-FF71-DE1A10FCE008}"/>
              </a:ext>
            </a:extLst>
          </p:cNvPr>
          <p:cNvPicPr>
            <a:picLocks noGrp="1" noRot="1" noChangeAspect="1" noMove="1" noResize="1" noEditPoints="1" noAdjustHandles="1" noChangeArrowheads="1" noChangeShapeType="1" noCrop="1"/>
          </p:cNvPicPr>
          <p:nvPr/>
        </p:nvPicPr>
        <p:blipFill>
          <a:blip r:embed="rId8">
            <a:extLst>
              <a:ext uri="{28A0092B-C50C-407E-A947-70E740481C1C}">
                <a14:useLocalDpi xmlns:a14="http://schemas.microsoft.com/office/drawing/2010/main" val="0"/>
              </a:ext>
            </a:extLst>
          </a:blip>
          <a:srcRect/>
          <a:stretch>
            <a:fillRect/>
          </a:stretch>
        </p:blipFill>
        <p:spPr bwMode="auto">
          <a:xfrm>
            <a:off x="3722773" y="3885994"/>
            <a:ext cx="2240239" cy="23473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267620E-0813-95DB-E248-47369F701C58}"/>
              </a:ext>
            </a:extLst>
          </p:cNvPr>
          <p:cNvSpPr txBox="1">
            <a:spLocks noGrp="1" noRot="1" noMove="1" noResize="1" noEditPoints="1" noAdjustHandles="1" noChangeArrowheads="1" noChangeShapeType="1"/>
          </p:cNvSpPr>
          <p:nvPr/>
        </p:nvSpPr>
        <p:spPr>
          <a:xfrm>
            <a:off x="838200" y="4708291"/>
            <a:ext cx="2071172" cy="307777"/>
          </a:xfrm>
          <a:prstGeom prst="rect">
            <a:avLst/>
          </a:prstGeom>
          <a:solidFill>
            <a:schemeClr val="tx2">
              <a:lumMod val="25000"/>
              <a:lumOff val="75000"/>
            </a:schemeClr>
          </a:solidFill>
        </p:spPr>
        <p:txBody>
          <a:bodyPr wrap="square" rtlCol="0">
            <a:spAutoFit/>
          </a:bodyPr>
          <a:lstStyle/>
          <a:p>
            <a:pPr algn="ctr"/>
            <a:r>
              <a:rPr lang="en-US" sz="1400"/>
              <a:t>Imbalanced data</a:t>
            </a:r>
          </a:p>
        </p:txBody>
      </p:sp>
      <p:sp>
        <p:nvSpPr>
          <p:cNvPr id="5" name="TextBox 4">
            <a:extLst>
              <a:ext uri="{FF2B5EF4-FFF2-40B4-BE49-F238E27FC236}">
                <a16:creationId xmlns:a16="http://schemas.microsoft.com/office/drawing/2014/main" id="{36DCD75E-999F-B334-E2F7-A69D35F0DC62}"/>
              </a:ext>
            </a:extLst>
          </p:cNvPr>
          <p:cNvSpPr txBox="1">
            <a:spLocks noGrp="1" noRot="1" noMove="1" noResize="1" noEditPoints="1" noAdjustHandles="1" noChangeArrowheads="1" noChangeShapeType="1"/>
          </p:cNvSpPr>
          <p:nvPr/>
        </p:nvSpPr>
        <p:spPr>
          <a:xfrm>
            <a:off x="3840501" y="3429399"/>
            <a:ext cx="2071172" cy="461665"/>
          </a:xfrm>
          <a:prstGeom prst="rect">
            <a:avLst/>
          </a:prstGeom>
          <a:solidFill>
            <a:schemeClr val="tx2">
              <a:lumMod val="25000"/>
              <a:lumOff val="75000"/>
            </a:schemeClr>
          </a:solidFill>
        </p:spPr>
        <p:txBody>
          <a:bodyPr wrap="square" rtlCol="0">
            <a:spAutoFit/>
          </a:bodyPr>
          <a:lstStyle/>
          <a:p>
            <a:pPr algn="ctr"/>
            <a:r>
              <a:rPr lang="en-US" sz="1200"/>
              <a:t>Class Distribution Before Balancing</a:t>
            </a:r>
          </a:p>
        </p:txBody>
      </p:sp>
      <p:sp>
        <p:nvSpPr>
          <p:cNvPr id="6" name="TextBox 5">
            <a:extLst>
              <a:ext uri="{FF2B5EF4-FFF2-40B4-BE49-F238E27FC236}">
                <a16:creationId xmlns:a16="http://schemas.microsoft.com/office/drawing/2014/main" id="{AECCAE82-574D-D6F2-50CC-63CF1AA483BE}"/>
              </a:ext>
            </a:extLst>
          </p:cNvPr>
          <p:cNvSpPr txBox="1">
            <a:spLocks noGrp="1" noRot="1" noMove="1" noResize="1" noEditPoints="1" noAdjustHandles="1" noChangeArrowheads="1" noChangeShapeType="1"/>
          </p:cNvSpPr>
          <p:nvPr/>
        </p:nvSpPr>
        <p:spPr>
          <a:xfrm>
            <a:off x="3807306" y="6233355"/>
            <a:ext cx="2071172" cy="461665"/>
          </a:xfrm>
          <a:prstGeom prst="rect">
            <a:avLst/>
          </a:prstGeom>
          <a:solidFill>
            <a:schemeClr val="tx2">
              <a:lumMod val="25000"/>
              <a:lumOff val="75000"/>
            </a:schemeClr>
          </a:solidFill>
        </p:spPr>
        <p:txBody>
          <a:bodyPr wrap="square" rtlCol="0">
            <a:spAutoFit/>
          </a:bodyPr>
          <a:lstStyle/>
          <a:p>
            <a:pPr algn="ctr"/>
            <a:r>
              <a:rPr lang="en-US" sz="1200"/>
              <a:t>Class Distribution After SMOTE</a:t>
            </a:r>
          </a:p>
        </p:txBody>
      </p:sp>
      <p:sp>
        <p:nvSpPr>
          <p:cNvPr id="7" name="TextBox 6">
            <a:extLst>
              <a:ext uri="{FF2B5EF4-FFF2-40B4-BE49-F238E27FC236}">
                <a16:creationId xmlns:a16="http://schemas.microsoft.com/office/drawing/2014/main" id="{4E125143-DFF6-3292-971E-D9B714C55D32}"/>
              </a:ext>
            </a:extLst>
          </p:cNvPr>
          <p:cNvSpPr txBox="1">
            <a:spLocks noGrp="1" noRot="1" noMove="1" noResize="1" noEditPoints="1" noAdjustHandles="1" noChangeArrowheads="1" noChangeShapeType="1"/>
          </p:cNvSpPr>
          <p:nvPr/>
        </p:nvSpPr>
        <p:spPr>
          <a:xfrm>
            <a:off x="6951643" y="3525109"/>
            <a:ext cx="4402157" cy="276999"/>
          </a:xfrm>
          <a:prstGeom prst="rect">
            <a:avLst/>
          </a:prstGeom>
          <a:solidFill>
            <a:schemeClr val="tx2">
              <a:lumMod val="25000"/>
              <a:lumOff val="75000"/>
            </a:schemeClr>
          </a:solidFill>
        </p:spPr>
        <p:txBody>
          <a:bodyPr wrap="square" rtlCol="0">
            <a:spAutoFit/>
          </a:bodyPr>
          <a:lstStyle/>
          <a:p>
            <a:pPr algn="ctr"/>
            <a:r>
              <a:rPr lang="en-US" sz="1200"/>
              <a:t>Outliers detected and removed for “Age” column</a:t>
            </a:r>
          </a:p>
        </p:txBody>
      </p:sp>
      <p:sp>
        <p:nvSpPr>
          <p:cNvPr id="8" name="TextBox 7">
            <a:extLst>
              <a:ext uri="{FF2B5EF4-FFF2-40B4-BE49-F238E27FC236}">
                <a16:creationId xmlns:a16="http://schemas.microsoft.com/office/drawing/2014/main" id="{2783C556-267C-6D9F-942F-7B44185D4FDA}"/>
              </a:ext>
            </a:extLst>
          </p:cNvPr>
          <p:cNvSpPr txBox="1">
            <a:spLocks noGrp="1" noRot="1" noMove="1" noResize="1" noEditPoints="1" noAdjustHandles="1" noChangeArrowheads="1" noChangeShapeType="1"/>
          </p:cNvSpPr>
          <p:nvPr/>
        </p:nvSpPr>
        <p:spPr>
          <a:xfrm>
            <a:off x="6951643" y="6167863"/>
            <a:ext cx="4318612" cy="276999"/>
          </a:xfrm>
          <a:prstGeom prst="rect">
            <a:avLst/>
          </a:prstGeom>
          <a:solidFill>
            <a:schemeClr val="tx2">
              <a:lumMod val="25000"/>
              <a:lumOff val="75000"/>
            </a:schemeClr>
          </a:solidFill>
        </p:spPr>
        <p:txBody>
          <a:bodyPr wrap="square" rtlCol="0">
            <a:spAutoFit/>
          </a:bodyPr>
          <a:lstStyle/>
          <a:p>
            <a:pPr algn="ctr"/>
            <a:r>
              <a:rPr lang="en-US" sz="1200"/>
              <a:t>Outliers detected and removed for “Monthly Bill” column</a:t>
            </a:r>
          </a:p>
        </p:txBody>
      </p:sp>
    </p:spTree>
    <p:extLst>
      <p:ext uri="{BB962C8B-B14F-4D97-AF65-F5344CB8AC3E}">
        <p14:creationId xmlns:p14="http://schemas.microsoft.com/office/powerpoint/2010/main" val="8592298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F486F-2F09-08BA-94F5-0B6BC0E44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C92E2-764A-C61D-D57B-12139E7A51CF}"/>
              </a:ext>
            </a:extLst>
          </p:cNvPr>
          <p:cNvSpPr>
            <a:spLocks noGrp="1" noRot="1" noMove="1" noResize="1" noEditPoints="1" noAdjustHandles="1" noChangeArrowheads="1" noChangeShapeType="1"/>
          </p:cNvSpPr>
          <p:nvPr>
            <p:ph type="title"/>
          </p:nvPr>
        </p:nvSpPr>
        <p:spPr>
          <a:xfrm>
            <a:off x="777050" y="255993"/>
            <a:ext cx="10515600" cy="667924"/>
          </a:xfrm>
        </p:spPr>
        <p:txBody>
          <a:bodyPr anchor="t">
            <a:noAutofit/>
          </a:bodyPr>
          <a:lstStyle/>
          <a:p>
            <a:r>
              <a:rPr lang="en-US" sz="3200"/>
              <a:t>Visualizations for Binary Classification Analysis:</a:t>
            </a:r>
          </a:p>
        </p:txBody>
      </p:sp>
      <p:pic>
        <p:nvPicPr>
          <p:cNvPr id="2050" name="Picture 2">
            <a:extLst>
              <a:ext uri="{FF2B5EF4-FFF2-40B4-BE49-F238E27FC236}">
                <a16:creationId xmlns:a16="http://schemas.microsoft.com/office/drawing/2014/main" id="{EDE316AD-A08B-9A08-6F69-251FB9E27792}"/>
              </a:ext>
            </a:extLst>
          </p:cNvPr>
          <p:cNvPicPr>
            <a:picLocks noGrp="1" noRot="1" noChangeAspect="1" noMove="1" noResize="1" noEditPoints="1" noAdjustHandles="1" noChangeArrowheads="1" noChangeShapeType="1" noCrop="1"/>
          </p:cNvPicPr>
          <p:nvPr>
            <p:ph idx="1"/>
          </p:nvPr>
        </p:nvPicPr>
        <p:blipFill rotWithShape="1">
          <a:blip r:embed="rId2">
            <a:extLst>
              <a:ext uri="{28A0092B-C50C-407E-A947-70E740481C1C}">
                <a14:useLocalDpi xmlns:a14="http://schemas.microsoft.com/office/drawing/2010/main" val="0"/>
              </a:ext>
            </a:extLst>
          </a:blip>
          <a:srcRect t="6426"/>
          <a:stretch/>
        </p:blipFill>
        <p:spPr bwMode="auto">
          <a:xfrm>
            <a:off x="394447" y="1228427"/>
            <a:ext cx="2682262" cy="208308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C268181-82D1-FB5B-CA9D-DA0FC64F819A}"/>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t="7747"/>
          <a:stretch/>
        </p:blipFill>
        <p:spPr bwMode="auto">
          <a:xfrm>
            <a:off x="336788" y="4175393"/>
            <a:ext cx="2611717" cy="200050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6E0D3E63-595A-1F1B-ACE1-8A381A4E7B83}"/>
              </a:ext>
            </a:extLst>
          </p:cNvPr>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6465"/>
          <a:stretch/>
        </p:blipFill>
        <p:spPr bwMode="auto">
          <a:xfrm>
            <a:off x="3141696" y="1228426"/>
            <a:ext cx="2682262" cy="208309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00886FD6-BA06-4816-221A-23D733695CBF}"/>
              </a:ext>
            </a:extLst>
          </p:cNvPr>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t="6563"/>
          <a:stretch/>
        </p:blipFill>
        <p:spPr bwMode="auto">
          <a:xfrm>
            <a:off x="3193522" y="4092865"/>
            <a:ext cx="2684988" cy="208303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1EAF2278-689F-D190-8438-F7E6C8CF2B61}"/>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rcRect/>
          <a:stretch>
            <a:fillRect/>
          </a:stretch>
        </p:blipFill>
        <p:spPr bwMode="auto">
          <a:xfrm>
            <a:off x="6034850" y="1094300"/>
            <a:ext cx="2410012" cy="233469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7F82D1FD-B108-81DC-3463-5C2752042DAF}"/>
              </a:ext>
            </a:extLst>
          </p:cNvPr>
          <p:cNvPicPr>
            <a:picLocks noGrp="1" noRot="1" noChangeAspec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rcRect/>
          <a:stretch>
            <a:fillRect/>
          </a:stretch>
        </p:blipFill>
        <p:spPr bwMode="auto">
          <a:xfrm>
            <a:off x="6008322" y="3869329"/>
            <a:ext cx="2611717" cy="2530101"/>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a:extLst>
              <a:ext uri="{FF2B5EF4-FFF2-40B4-BE49-F238E27FC236}">
                <a16:creationId xmlns:a16="http://schemas.microsoft.com/office/drawing/2014/main" id="{F47F85CC-932A-1837-9804-64A74E312488}"/>
              </a:ext>
            </a:extLst>
          </p:cNvPr>
          <p:cNvPicPr>
            <a:picLocks noGrp="1" noRot="1" noChangeAspect="1" noMove="1" noResize="1" noEditPoints="1" noAdjustHandles="1" noChangeArrowheads="1" noChangeShapeType="1" noCrop="1"/>
          </p:cNvPicPr>
          <p:nvPr/>
        </p:nvPicPr>
        <p:blipFill>
          <a:blip r:embed="rId8">
            <a:extLst>
              <a:ext uri="{28A0092B-C50C-407E-A947-70E740481C1C}">
                <a14:useLocalDpi xmlns:a14="http://schemas.microsoft.com/office/drawing/2010/main" val="0"/>
              </a:ext>
            </a:extLst>
          </a:blip>
          <a:srcRect/>
          <a:stretch>
            <a:fillRect/>
          </a:stretch>
        </p:blipFill>
        <p:spPr bwMode="auto">
          <a:xfrm>
            <a:off x="8603929" y="1228427"/>
            <a:ext cx="3502196" cy="2083089"/>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a:extLst>
              <a:ext uri="{FF2B5EF4-FFF2-40B4-BE49-F238E27FC236}">
                <a16:creationId xmlns:a16="http://schemas.microsoft.com/office/drawing/2014/main" id="{25B16857-479F-1D6B-1AFA-CD60DF640E2C}"/>
              </a:ext>
            </a:extLst>
          </p:cNvPr>
          <p:cNvPicPr>
            <a:picLocks noGrp="1" noRot="1" noChangeAspect="1" noMove="1" noResize="1" noEditPoints="1" noAdjustHandles="1" noChangeArrowheads="1" noChangeShapeType="1" noCrop="1"/>
          </p:cNvPicPr>
          <p:nvPr/>
        </p:nvPicPr>
        <p:blipFill>
          <a:blip r:embed="rId9">
            <a:extLst>
              <a:ext uri="{28A0092B-C50C-407E-A947-70E740481C1C}">
                <a14:useLocalDpi xmlns:a14="http://schemas.microsoft.com/office/drawing/2010/main" val="0"/>
              </a:ext>
            </a:extLst>
          </a:blip>
          <a:srcRect/>
          <a:stretch>
            <a:fillRect/>
          </a:stretch>
        </p:blipFill>
        <p:spPr bwMode="auto">
          <a:xfrm>
            <a:off x="8749852" y="4007407"/>
            <a:ext cx="3356273" cy="18175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315855F-D23F-C657-2AD2-D31556EE2567}"/>
              </a:ext>
            </a:extLst>
          </p:cNvPr>
          <p:cNvSpPr txBox="1">
            <a:spLocks noGrp="1" noRot="1" noMove="1" noResize="1" noEditPoints="1" noAdjustHandles="1" noChangeArrowheads="1" noChangeShapeType="1"/>
          </p:cNvSpPr>
          <p:nvPr/>
        </p:nvSpPr>
        <p:spPr>
          <a:xfrm>
            <a:off x="560042" y="3305889"/>
            <a:ext cx="2143642" cy="246221"/>
          </a:xfrm>
          <a:prstGeom prst="rect">
            <a:avLst/>
          </a:prstGeom>
          <a:solidFill>
            <a:schemeClr val="tx2">
              <a:lumMod val="25000"/>
              <a:lumOff val="75000"/>
            </a:schemeClr>
          </a:solidFill>
        </p:spPr>
        <p:txBody>
          <a:bodyPr wrap="square" rtlCol="0">
            <a:spAutoFit/>
          </a:bodyPr>
          <a:lstStyle/>
          <a:p>
            <a:r>
              <a:rPr lang="en-US" sz="1000"/>
              <a:t>confusion matrix for Naive Bayes</a:t>
            </a:r>
          </a:p>
        </p:txBody>
      </p:sp>
      <p:sp>
        <p:nvSpPr>
          <p:cNvPr id="8" name="TextBox 7">
            <a:extLst>
              <a:ext uri="{FF2B5EF4-FFF2-40B4-BE49-F238E27FC236}">
                <a16:creationId xmlns:a16="http://schemas.microsoft.com/office/drawing/2014/main" id="{539803F8-B214-DABE-EA34-2320898DA13D}"/>
              </a:ext>
            </a:extLst>
          </p:cNvPr>
          <p:cNvSpPr txBox="1">
            <a:spLocks noGrp="1" noRot="1" noMove="1" noResize="1" noEditPoints="1" noAdjustHandles="1" noChangeArrowheads="1" noChangeShapeType="1"/>
          </p:cNvSpPr>
          <p:nvPr/>
        </p:nvSpPr>
        <p:spPr>
          <a:xfrm>
            <a:off x="3380683" y="3332859"/>
            <a:ext cx="2281141" cy="246221"/>
          </a:xfrm>
          <a:prstGeom prst="rect">
            <a:avLst/>
          </a:prstGeom>
          <a:solidFill>
            <a:schemeClr val="tx2">
              <a:lumMod val="25000"/>
              <a:lumOff val="75000"/>
            </a:schemeClr>
          </a:solidFill>
        </p:spPr>
        <p:txBody>
          <a:bodyPr wrap="square" rtlCol="0">
            <a:spAutoFit/>
          </a:bodyPr>
          <a:lstStyle/>
          <a:p>
            <a:r>
              <a:rPr lang="en-US" sz="1000"/>
              <a:t>confusion matrix for Random Forest</a:t>
            </a:r>
          </a:p>
        </p:txBody>
      </p:sp>
      <p:sp>
        <p:nvSpPr>
          <p:cNvPr id="9" name="TextBox 8">
            <a:extLst>
              <a:ext uri="{FF2B5EF4-FFF2-40B4-BE49-F238E27FC236}">
                <a16:creationId xmlns:a16="http://schemas.microsoft.com/office/drawing/2014/main" id="{4E9CFE5D-B032-7AF3-0068-775F6293875A}"/>
              </a:ext>
            </a:extLst>
          </p:cNvPr>
          <p:cNvSpPr txBox="1">
            <a:spLocks noGrp="1" noRot="1" noMove="1" noResize="1" noEditPoints="1" noAdjustHandles="1" noChangeArrowheads="1" noChangeShapeType="1"/>
          </p:cNvSpPr>
          <p:nvPr/>
        </p:nvSpPr>
        <p:spPr>
          <a:xfrm>
            <a:off x="560042" y="6175895"/>
            <a:ext cx="2279296" cy="246221"/>
          </a:xfrm>
          <a:prstGeom prst="rect">
            <a:avLst/>
          </a:prstGeom>
          <a:solidFill>
            <a:schemeClr val="tx2">
              <a:lumMod val="25000"/>
              <a:lumOff val="75000"/>
            </a:schemeClr>
          </a:solidFill>
        </p:spPr>
        <p:txBody>
          <a:bodyPr wrap="square" rtlCol="0">
            <a:spAutoFit/>
          </a:bodyPr>
          <a:lstStyle/>
          <a:p>
            <a:r>
              <a:rPr lang="en-US" sz="1000"/>
              <a:t>confusion matrix for Decision Tree</a:t>
            </a:r>
          </a:p>
        </p:txBody>
      </p:sp>
      <p:sp>
        <p:nvSpPr>
          <p:cNvPr id="10" name="TextBox 9">
            <a:extLst>
              <a:ext uri="{FF2B5EF4-FFF2-40B4-BE49-F238E27FC236}">
                <a16:creationId xmlns:a16="http://schemas.microsoft.com/office/drawing/2014/main" id="{802A52F4-0C67-5A53-DFCC-A3B0BF5464A5}"/>
              </a:ext>
            </a:extLst>
          </p:cNvPr>
          <p:cNvSpPr txBox="1">
            <a:spLocks noGrp="1" noRot="1" noMove="1" noResize="1" noEditPoints="1" noAdjustHandles="1" noChangeArrowheads="1" noChangeShapeType="1"/>
          </p:cNvSpPr>
          <p:nvPr/>
        </p:nvSpPr>
        <p:spPr>
          <a:xfrm>
            <a:off x="3380684" y="6175895"/>
            <a:ext cx="2143642" cy="246221"/>
          </a:xfrm>
          <a:prstGeom prst="rect">
            <a:avLst/>
          </a:prstGeom>
          <a:solidFill>
            <a:schemeClr val="tx2">
              <a:lumMod val="25000"/>
              <a:lumOff val="75000"/>
            </a:schemeClr>
          </a:solidFill>
        </p:spPr>
        <p:txBody>
          <a:bodyPr wrap="square" rtlCol="0">
            <a:spAutoFit/>
          </a:bodyPr>
          <a:lstStyle/>
          <a:p>
            <a:r>
              <a:rPr lang="en-US" sz="1000"/>
              <a:t>confusion matrix for KNN</a:t>
            </a:r>
          </a:p>
        </p:txBody>
      </p:sp>
      <p:sp>
        <p:nvSpPr>
          <p:cNvPr id="11" name="TextBox 10">
            <a:extLst>
              <a:ext uri="{FF2B5EF4-FFF2-40B4-BE49-F238E27FC236}">
                <a16:creationId xmlns:a16="http://schemas.microsoft.com/office/drawing/2014/main" id="{00CF4978-0DE2-7A0C-3A41-F56F6DE52509}"/>
              </a:ext>
            </a:extLst>
          </p:cNvPr>
          <p:cNvSpPr txBox="1">
            <a:spLocks noGrp="1" noRot="1" noMove="1" noResize="1" noEditPoints="1" noAdjustHandles="1" noChangeArrowheads="1" noChangeShapeType="1"/>
          </p:cNvSpPr>
          <p:nvPr/>
        </p:nvSpPr>
        <p:spPr>
          <a:xfrm>
            <a:off x="6258184" y="3516554"/>
            <a:ext cx="2143642" cy="246221"/>
          </a:xfrm>
          <a:prstGeom prst="rect">
            <a:avLst/>
          </a:prstGeom>
          <a:solidFill>
            <a:schemeClr val="tx2">
              <a:lumMod val="25000"/>
              <a:lumOff val="75000"/>
            </a:schemeClr>
          </a:solidFill>
        </p:spPr>
        <p:txBody>
          <a:bodyPr wrap="square" rtlCol="0">
            <a:spAutoFit/>
          </a:bodyPr>
          <a:lstStyle/>
          <a:p>
            <a:r>
              <a:rPr lang="en-US" sz="1000"/>
              <a:t>ROC Curve for Training dataset</a:t>
            </a:r>
          </a:p>
        </p:txBody>
      </p:sp>
      <p:sp>
        <p:nvSpPr>
          <p:cNvPr id="12" name="TextBox 11">
            <a:extLst>
              <a:ext uri="{FF2B5EF4-FFF2-40B4-BE49-F238E27FC236}">
                <a16:creationId xmlns:a16="http://schemas.microsoft.com/office/drawing/2014/main" id="{B6BDE459-C5C1-93B7-DFE7-0852BBB05E3D}"/>
              </a:ext>
            </a:extLst>
          </p:cNvPr>
          <p:cNvSpPr txBox="1">
            <a:spLocks noGrp="1" noRot="1" noMove="1" noResize="1" noEditPoints="1" noAdjustHandles="1" noChangeArrowheads="1" noChangeShapeType="1"/>
          </p:cNvSpPr>
          <p:nvPr/>
        </p:nvSpPr>
        <p:spPr>
          <a:xfrm>
            <a:off x="6258184" y="6461966"/>
            <a:ext cx="2143642" cy="246221"/>
          </a:xfrm>
          <a:prstGeom prst="rect">
            <a:avLst/>
          </a:prstGeom>
          <a:solidFill>
            <a:schemeClr val="tx2">
              <a:lumMod val="25000"/>
              <a:lumOff val="75000"/>
            </a:schemeClr>
          </a:solidFill>
        </p:spPr>
        <p:txBody>
          <a:bodyPr wrap="square" rtlCol="0">
            <a:spAutoFit/>
          </a:bodyPr>
          <a:lstStyle/>
          <a:p>
            <a:r>
              <a:rPr lang="en-US" sz="1000"/>
              <a:t>ROC Curve for Testing dataset</a:t>
            </a:r>
          </a:p>
        </p:txBody>
      </p:sp>
      <p:sp>
        <p:nvSpPr>
          <p:cNvPr id="13" name="TextBox 12">
            <a:extLst>
              <a:ext uri="{FF2B5EF4-FFF2-40B4-BE49-F238E27FC236}">
                <a16:creationId xmlns:a16="http://schemas.microsoft.com/office/drawing/2014/main" id="{CC9271A1-83E1-A0CD-36F1-D95D6FBA0167}"/>
              </a:ext>
            </a:extLst>
          </p:cNvPr>
          <p:cNvSpPr txBox="1">
            <a:spLocks noGrp="1" noRot="1" noMove="1" noResize="1" noEditPoints="1" noAdjustHandles="1" noChangeArrowheads="1" noChangeShapeType="1"/>
          </p:cNvSpPr>
          <p:nvPr/>
        </p:nvSpPr>
        <p:spPr>
          <a:xfrm>
            <a:off x="9166131" y="3440538"/>
            <a:ext cx="2844946" cy="246221"/>
          </a:xfrm>
          <a:prstGeom prst="rect">
            <a:avLst/>
          </a:prstGeom>
          <a:solidFill>
            <a:schemeClr val="tx2">
              <a:lumMod val="25000"/>
              <a:lumOff val="75000"/>
            </a:schemeClr>
          </a:solidFill>
        </p:spPr>
        <p:txBody>
          <a:bodyPr wrap="square" rtlCol="0">
            <a:spAutoFit/>
          </a:bodyPr>
          <a:lstStyle/>
          <a:p>
            <a:r>
              <a:rPr lang="en-US" sz="1000"/>
              <a:t>Features importance using Random Forest</a:t>
            </a:r>
          </a:p>
        </p:txBody>
      </p:sp>
      <p:sp>
        <p:nvSpPr>
          <p:cNvPr id="14" name="TextBox 13">
            <a:extLst>
              <a:ext uri="{FF2B5EF4-FFF2-40B4-BE49-F238E27FC236}">
                <a16:creationId xmlns:a16="http://schemas.microsoft.com/office/drawing/2014/main" id="{EEEF6475-376E-6E95-DE21-90898557FAA7}"/>
              </a:ext>
            </a:extLst>
          </p:cNvPr>
          <p:cNvSpPr txBox="1">
            <a:spLocks noGrp="1" noRot="1" noMove="1" noResize="1" noEditPoints="1" noAdjustHandles="1" noChangeArrowheads="1" noChangeShapeType="1"/>
          </p:cNvSpPr>
          <p:nvPr/>
        </p:nvSpPr>
        <p:spPr>
          <a:xfrm>
            <a:off x="9334078" y="5953464"/>
            <a:ext cx="2509053" cy="246221"/>
          </a:xfrm>
          <a:prstGeom prst="rect">
            <a:avLst/>
          </a:prstGeom>
          <a:solidFill>
            <a:schemeClr val="tx2">
              <a:lumMod val="25000"/>
              <a:lumOff val="75000"/>
            </a:schemeClr>
          </a:solidFill>
        </p:spPr>
        <p:txBody>
          <a:bodyPr wrap="square" rtlCol="0">
            <a:spAutoFit/>
          </a:bodyPr>
          <a:lstStyle/>
          <a:p>
            <a:r>
              <a:rPr lang="en-US" sz="1000"/>
              <a:t>Finding best value of K in KNN</a:t>
            </a:r>
          </a:p>
        </p:txBody>
      </p:sp>
    </p:spTree>
    <p:extLst>
      <p:ext uri="{BB962C8B-B14F-4D97-AF65-F5344CB8AC3E}">
        <p14:creationId xmlns:p14="http://schemas.microsoft.com/office/powerpoint/2010/main" val="31060323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29CDB-C5C3-05F7-0087-3C4B753A2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55558-A9A8-5EBC-B2D0-9C363439C4B3}"/>
              </a:ext>
            </a:extLst>
          </p:cNvPr>
          <p:cNvSpPr>
            <a:spLocks noGrp="1"/>
          </p:cNvSpPr>
          <p:nvPr>
            <p:ph type="title"/>
          </p:nvPr>
        </p:nvSpPr>
        <p:spPr>
          <a:xfrm>
            <a:off x="838200" y="175735"/>
            <a:ext cx="10515600" cy="717509"/>
          </a:xfrm>
        </p:spPr>
        <p:txBody>
          <a:bodyPr anchor="t">
            <a:noAutofit/>
          </a:bodyPr>
          <a:lstStyle/>
          <a:p>
            <a:r>
              <a:rPr lang="en-US" sz="3600"/>
              <a:t>Visualizations for Regression Analysis:</a:t>
            </a:r>
          </a:p>
        </p:txBody>
      </p:sp>
      <p:pic>
        <p:nvPicPr>
          <p:cNvPr id="3074" name="Picture 2">
            <a:extLst>
              <a:ext uri="{FF2B5EF4-FFF2-40B4-BE49-F238E27FC236}">
                <a16:creationId xmlns:a16="http://schemas.microsoft.com/office/drawing/2014/main" id="{580DC58D-3C1B-F23D-2E6D-C4732959B576}"/>
              </a:ext>
            </a:extLst>
          </p:cNvPr>
          <p:cNvPicPr>
            <a:picLocks noGrp="1" noRot="1" noChangeAspect="1" noMove="1" noResize="1" noEditPoints="1" noAdjustHandles="1" noChangeArrowheads="1" noChangeShapeType="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62778" y="983054"/>
            <a:ext cx="3036498" cy="240109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DC2874F3-09F7-A754-C4D4-C2109F7CC2C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834303" y="949731"/>
            <a:ext cx="3036498" cy="2458374"/>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5C20CA94-E184-118A-867E-CC51790501E5}"/>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145686" y="1756567"/>
            <a:ext cx="4778759" cy="3255162"/>
          </a:xfrm>
          <a:prstGeom prst="rect">
            <a:avLst/>
          </a:prstGeom>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9DB00B94-3103-6922-CDE3-767F8F4BCEBD}"/>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62977" y="3909286"/>
            <a:ext cx="3493775" cy="22436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23E71DF-3146-3489-6A85-4D21707CC0DA}"/>
              </a:ext>
            </a:extLst>
          </p:cNvPr>
          <p:cNvSpPr txBox="1">
            <a:spLocks noGrp="1" noRot="1" noMove="1" noResize="1" noEditPoints="1" noAdjustHandles="1" noChangeArrowheads="1" noChangeShapeType="1"/>
          </p:cNvSpPr>
          <p:nvPr/>
        </p:nvSpPr>
        <p:spPr>
          <a:xfrm>
            <a:off x="892145" y="3440635"/>
            <a:ext cx="2395006" cy="246221"/>
          </a:xfrm>
          <a:prstGeom prst="rect">
            <a:avLst/>
          </a:prstGeom>
          <a:solidFill>
            <a:schemeClr val="tx2">
              <a:lumMod val="25000"/>
              <a:lumOff val="75000"/>
            </a:schemeClr>
          </a:solidFill>
        </p:spPr>
        <p:txBody>
          <a:bodyPr wrap="square" rtlCol="0">
            <a:spAutoFit/>
          </a:bodyPr>
          <a:lstStyle/>
          <a:p>
            <a:r>
              <a:rPr lang="en-US" sz="1000"/>
              <a:t>Residuals vs Fitted (Homoscedasticity)</a:t>
            </a:r>
          </a:p>
        </p:txBody>
      </p:sp>
      <p:sp>
        <p:nvSpPr>
          <p:cNvPr id="5" name="TextBox 4">
            <a:extLst>
              <a:ext uri="{FF2B5EF4-FFF2-40B4-BE49-F238E27FC236}">
                <a16:creationId xmlns:a16="http://schemas.microsoft.com/office/drawing/2014/main" id="{38F7E502-4DE7-A149-719D-EA01C118F019}"/>
              </a:ext>
            </a:extLst>
          </p:cNvPr>
          <p:cNvSpPr txBox="1">
            <a:spLocks noGrp="1" noRot="1" noMove="1" noResize="1" noEditPoints="1" noAdjustHandles="1" noChangeArrowheads="1" noChangeShapeType="1"/>
          </p:cNvSpPr>
          <p:nvPr/>
        </p:nvSpPr>
        <p:spPr>
          <a:xfrm>
            <a:off x="4444633" y="3420719"/>
            <a:ext cx="2143642" cy="246221"/>
          </a:xfrm>
          <a:prstGeom prst="rect">
            <a:avLst/>
          </a:prstGeom>
          <a:solidFill>
            <a:schemeClr val="tx2">
              <a:lumMod val="25000"/>
              <a:lumOff val="75000"/>
            </a:schemeClr>
          </a:solidFill>
        </p:spPr>
        <p:txBody>
          <a:bodyPr wrap="square" rtlCol="0">
            <a:spAutoFit/>
          </a:bodyPr>
          <a:lstStyle/>
          <a:p>
            <a:pPr algn="ctr"/>
            <a:r>
              <a:rPr lang="en-US" sz="1000"/>
              <a:t>Q-Q Plot of Residuals</a:t>
            </a:r>
          </a:p>
        </p:txBody>
      </p:sp>
      <p:sp>
        <p:nvSpPr>
          <p:cNvPr id="6" name="TextBox 5">
            <a:extLst>
              <a:ext uri="{FF2B5EF4-FFF2-40B4-BE49-F238E27FC236}">
                <a16:creationId xmlns:a16="http://schemas.microsoft.com/office/drawing/2014/main" id="{E8479945-1317-D4EA-7651-D1450EA91E63}"/>
              </a:ext>
            </a:extLst>
          </p:cNvPr>
          <p:cNvSpPr txBox="1">
            <a:spLocks noGrp="1" noRot="1" noMove="1" noResize="1" noEditPoints="1" noAdjustHandles="1" noChangeArrowheads="1" noChangeShapeType="1"/>
          </p:cNvSpPr>
          <p:nvPr/>
        </p:nvSpPr>
        <p:spPr>
          <a:xfrm>
            <a:off x="1017827" y="6367114"/>
            <a:ext cx="2143642" cy="246221"/>
          </a:xfrm>
          <a:prstGeom prst="rect">
            <a:avLst/>
          </a:prstGeom>
          <a:solidFill>
            <a:schemeClr val="tx2">
              <a:lumMod val="25000"/>
              <a:lumOff val="75000"/>
            </a:schemeClr>
          </a:solidFill>
        </p:spPr>
        <p:txBody>
          <a:bodyPr wrap="square" rtlCol="0">
            <a:spAutoFit/>
          </a:bodyPr>
          <a:lstStyle/>
          <a:p>
            <a:r>
              <a:rPr lang="en-US" sz="1000"/>
              <a:t>Correlation Heatmap with Rent</a:t>
            </a:r>
          </a:p>
        </p:txBody>
      </p:sp>
      <p:sp>
        <p:nvSpPr>
          <p:cNvPr id="8" name="TextBox 7">
            <a:extLst>
              <a:ext uri="{FF2B5EF4-FFF2-40B4-BE49-F238E27FC236}">
                <a16:creationId xmlns:a16="http://schemas.microsoft.com/office/drawing/2014/main" id="{6D1555A5-23EC-5DEA-E6B1-69D38A4AD0CF}"/>
              </a:ext>
            </a:extLst>
          </p:cNvPr>
          <p:cNvSpPr txBox="1">
            <a:spLocks noGrp="1" noRot="1" noMove="1" noResize="1" noEditPoints="1" noAdjustHandles="1" noChangeArrowheads="1" noChangeShapeType="1"/>
          </p:cNvSpPr>
          <p:nvPr/>
        </p:nvSpPr>
        <p:spPr>
          <a:xfrm>
            <a:off x="8435358" y="5077608"/>
            <a:ext cx="2918442" cy="246221"/>
          </a:xfrm>
          <a:prstGeom prst="rect">
            <a:avLst/>
          </a:prstGeom>
          <a:solidFill>
            <a:schemeClr val="tx2">
              <a:lumMod val="25000"/>
              <a:lumOff val="75000"/>
            </a:schemeClr>
          </a:solidFill>
        </p:spPr>
        <p:txBody>
          <a:bodyPr wrap="square" rtlCol="0">
            <a:spAutoFit/>
          </a:bodyPr>
          <a:lstStyle/>
          <a:p>
            <a:r>
              <a:rPr lang="en-US" sz="1000"/>
              <a:t>Correlation Heatmap of Independent Variables</a:t>
            </a:r>
          </a:p>
        </p:txBody>
      </p:sp>
      <p:pic>
        <p:nvPicPr>
          <p:cNvPr id="3" name="Picture 2" descr="A graph of a scatter plot&#10;&#10;AI-generated content may be incorrect.">
            <a:extLst>
              <a:ext uri="{FF2B5EF4-FFF2-40B4-BE49-F238E27FC236}">
                <a16:creationId xmlns:a16="http://schemas.microsoft.com/office/drawing/2014/main" id="{5AB94D28-52D9-0D67-9AE9-8540DE99AE44}"/>
              </a:ext>
            </a:extLst>
          </p:cNvPr>
          <p:cNvPicPr>
            <a:picLocks noChangeAspect="1"/>
          </p:cNvPicPr>
          <p:nvPr/>
        </p:nvPicPr>
        <p:blipFill>
          <a:blip r:embed="rId6"/>
          <a:stretch>
            <a:fillRect/>
          </a:stretch>
        </p:blipFill>
        <p:spPr>
          <a:xfrm>
            <a:off x="3410201" y="3696954"/>
            <a:ext cx="3727283" cy="2407821"/>
          </a:xfrm>
          <a:prstGeom prst="rect">
            <a:avLst/>
          </a:prstGeom>
        </p:spPr>
      </p:pic>
      <p:sp>
        <p:nvSpPr>
          <p:cNvPr id="10" name="TextBox 9">
            <a:extLst>
              <a:ext uri="{FF2B5EF4-FFF2-40B4-BE49-F238E27FC236}">
                <a16:creationId xmlns:a16="http://schemas.microsoft.com/office/drawing/2014/main" id="{82ACC30C-E00D-CBBF-CBEC-710CBBA3AFEF}"/>
              </a:ext>
            </a:extLst>
          </p:cNvPr>
          <p:cNvSpPr txBox="1"/>
          <p:nvPr/>
        </p:nvSpPr>
        <p:spPr>
          <a:xfrm>
            <a:off x="4126523" y="6365631"/>
            <a:ext cx="2743200" cy="246221"/>
          </a:xfrm>
          <a:prstGeom prst="rect">
            <a:avLst/>
          </a:prstGeom>
          <a:solidFill>
            <a:schemeClr val="tx2">
              <a:lumMod val="25000"/>
              <a:lumOff val="7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Scatter Plot: Actual vs Predicted Rent</a:t>
            </a:r>
          </a:p>
        </p:txBody>
      </p:sp>
    </p:spTree>
    <p:extLst>
      <p:ext uri="{BB962C8B-B14F-4D97-AF65-F5344CB8AC3E}">
        <p14:creationId xmlns:p14="http://schemas.microsoft.com/office/powerpoint/2010/main" val="2507331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F530C-A4E7-887D-DDFF-325275816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689C4-7BCF-9FFE-25F3-FA2F59C99059}"/>
              </a:ext>
            </a:extLst>
          </p:cNvPr>
          <p:cNvSpPr>
            <a:spLocks noGrp="1" noRot="1" noMove="1" noResize="1" noEditPoints="1" noAdjustHandles="1" noChangeArrowheads="1" noChangeShapeType="1"/>
          </p:cNvSpPr>
          <p:nvPr>
            <p:ph type="title"/>
          </p:nvPr>
        </p:nvSpPr>
        <p:spPr/>
        <p:txBody>
          <a:bodyPr anchor="t">
            <a:noAutofit/>
          </a:bodyPr>
          <a:lstStyle/>
          <a:p>
            <a:r>
              <a:rPr lang="en-US" sz="3600"/>
              <a:t>Visualizations for Regression Analysis:</a:t>
            </a:r>
          </a:p>
        </p:txBody>
      </p:sp>
      <p:pic>
        <p:nvPicPr>
          <p:cNvPr id="4098" name="Picture 2">
            <a:extLst>
              <a:ext uri="{FF2B5EF4-FFF2-40B4-BE49-F238E27FC236}">
                <a16:creationId xmlns:a16="http://schemas.microsoft.com/office/drawing/2014/main" id="{43FB9DD6-B2B8-7755-E7CC-8B62FC02A001}"/>
              </a:ext>
            </a:extLst>
          </p:cNvPr>
          <p:cNvPicPr>
            <a:picLocks noGrp="1" noRot="1" noChangeAspect="1" noMove="1" noResize="1" noEditPoints="1" noAdjustHandles="1" noChangeArrowheads="1" noChangeShapeType="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3487" y="1242700"/>
            <a:ext cx="3782094" cy="296088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7B60881-F2B5-3EA8-1197-87CC402B797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106790" y="2334081"/>
            <a:ext cx="3978421" cy="313113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8C6BB7F-1109-A108-6B52-4B0B2F6EC38D}"/>
              </a:ext>
            </a:extLst>
          </p:cNvPr>
          <p:cNvSpPr txBox="1">
            <a:spLocks noGrp="1" noRot="1" noMove="1" noResize="1" noEditPoints="1" noAdjustHandles="1" noChangeArrowheads="1" noChangeShapeType="1"/>
          </p:cNvSpPr>
          <p:nvPr/>
        </p:nvSpPr>
        <p:spPr>
          <a:xfrm>
            <a:off x="1299727" y="4687633"/>
            <a:ext cx="1713585" cy="261610"/>
          </a:xfrm>
          <a:prstGeom prst="rect">
            <a:avLst/>
          </a:prstGeom>
          <a:solidFill>
            <a:schemeClr val="tx2">
              <a:lumMod val="25000"/>
              <a:lumOff val="75000"/>
            </a:schemeClr>
          </a:solidFill>
        </p:spPr>
        <p:txBody>
          <a:bodyPr wrap="square" rtlCol="0">
            <a:spAutoFit/>
          </a:bodyPr>
          <a:lstStyle/>
          <a:p>
            <a:pPr algn="ctr"/>
            <a:r>
              <a:rPr lang="en-US" sz="1100"/>
              <a:t>Residual Plot</a:t>
            </a:r>
          </a:p>
        </p:txBody>
      </p:sp>
      <p:sp>
        <p:nvSpPr>
          <p:cNvPr id="7" name="TextBox 6">
            <a:extLst>
              <a:ext uri="{FF2B5EF4-FFF2-40B4-BE49-F238E27FC236}">
                <a16:creationId xmlns:a16="http://schemas.microsoft.com/office/drawing/2014/main" id="{213587B5-B6FE-5C8D-8544-E0F0AF6C8383}"/>
              </a:ext>
            </a:extLst>
          </p:cNvPr>
          <p:cNvSpPr txBox="1">
            <a:spLocks noGrp="1" noRot="1" noMove="1" noResize="1" noEditPoints="1" noAdjustHandles="1" noChangeArrowheads="1" noChangeShapeType="1"/>
          </p:cNvSpPr>
          <p:nvPr/>
        </p:nvSpPr>
        <p:spPr>
          <a:xfrm>
            <a:off x="5024179" y="5778304"/>
            <a:ext cx="2143642" cy="261610"/>
          </a:xfrm>
          <a:prstGeom prst="rect">
            <a:avLst/>
          </a:prstGeom>
          <a:solidFill>
            <a:schemeClr val="tx2">
              <a:lumMod val="25000"/>
              <a:lumOff val="75000"/>
            </a:schemeClr>
          </a:solidFill>
        </p:spPr>
        <p:txBody>
          <a:bodyPr wrap="square" rtlCol="0">
            <a:spAutoFit/>
          </a:bodyPr>
          <a:lstStyle/>
          <a:p>
            <a:pPr algn="ctr"/>
            <a:r>
              <a:rPr lang="en-US" sz="1100"/>
              <a:t>Distribution of Residuals</a:t>
            </a:r>
          </a:p>
        </p:txBody>
      </p:sp>
      <p:sp>
        <p:nvSpPr>
          <p:cNvPr id="8" name="TextBox 7">
            <a:extLst>
              <a:ext uri="{FF2B5EF4-FFF2-40B4-BE49-F238E27FC236}">
                <a16:creationId xmlns:a16="http://schemas.microsoft.com/office/drawing/2014/main" id="{A1BD0881-E056-7F1D-BC9A-47D4123023D4}"/>
              </a:ext>
            </a:extLst>
          </p:cNvPr>
          <p:cNvSpPr txBox="1">
            <a:spLocks noGrp="1" noRot="1" noMove="1" noResize="1" noEditPoints="1" noAdjustHandles="1" noChangeArrowheads="1" noChangeShapeType="1"/>
          </p:cNvSpPr>
          <p:nvPr/>
        </p:nvSpPr>
        <p:spPr>
          <a:xfrm>
            <a:off x="9073421" y="4687633"/>
            <a:ext cx="2143642" cy="261610"/>
          </a:xfrm>
          <a:prstGeom prst="rect">
            <a:avLst/>
          </a:prstGeom>
          <a:solidFill>
            <a:schemeClr val="tx2">
              <a:lumMod val="25000"/>
              <a:lumOff val="75000"/>
            </a:schemeClr>
          </a:solidFill>
        </p:spPr>
        <p:txBody>
          <a:bodyPr wrap="square" rtlCol="0">
            <a:spAutoFit/>
          </a:bodyPr>
          <a:lstStyle/>
          <a:p>
            <a:pPr algn="ctr"/>
            <a:r>
              <a:rPr lang="en-US" sz="1100"/>
              <a:t>Scatter Plot of Rent vs Size</a:t>
            </a:r>
          </a:p>
        </p:txBody>
      </p:sp>
      <p:pic>
        <p:nvPicPr>
          <p:cNvPr id="5" name="Picture 4" descr="A graph of a scatter plot&#10;&#10;AI-generated content may be incorrect.">
            <a:extLst>
              <a:ext uri="{FF2B5EF4-FFF2-40B4-BE49-F238E27FC236}">
                <a16:creationId xmlns:a16="http://schemas.microsoft.com/office/drawing/2014/main" id="{75A10711-29D3-67EC-E8A6-BC138B09A7FA}"/>
              </a:ext>
            </a:extLst>
          </p:cNvPr>
          <p:cNvPicPr>
            <a:picLocks noChangeAspect="1"/>
          </p:cNvPicPr>
          <p:nvPr/>
        </p:nvPicPr>
        <p:blipFill>
          <a:blip r:embed="rId4"/>
          <a:stretch>
            <a:fillRect/>
          </a:stretch>
        </p:blipFill>
        <p:spPr>
          <a:xfrm>
            <a:off x="8117340" y="1399495"/>
            <a:ext cx="3976461" cy="3151869"/>
          </a:xfrm>
          <a:prstGeom prst="rect">
            <a:avLst/>
          </a:prstGeom>
        </p:spPr>
      </p:pic>
    </p:spTree>
    <p:extLst>
      <p:ext uri="{BB962C8B-B14F-4D97-AF65-F5344CB8AC3E}">
        <p14:creationId xmlns:p14="http://schemas.microsoft.com/office/powerpoint/2010/main" val="1584848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CC25C2-139B-45CC-2658-E20D40D8AC9F}"/>
              </a:ext>
            </a:extLst>
          </p:cNvPr>
          <p:cNvSpPr>
            <a:spLocks noGrp="1"/>
          </p:cNvSpPr>
          <p:nvPr>
            <p:ph type="title"/>
          </p:nvPr>
        </p:nvSpPr>
        <p:spPr>
          <a:xfrm>
            <a:off x="838200" y="596644"/>
            <a:ext cx="10746213" cy="2455239"/>
          </a:xfrm>
        </p:spPr>
        <p:txBody>
          <a:bodyPr vert="horz" lIns="91440" tIns="45720" rIns="91440" bIns="45720" rtlCol="0" anchor="b">
            <a:normAutofit/>
          </a:bodyPr>
          <a:lstStyle/>
          <a:p>
            <a:r>
              <a:rPr lang="en-US" sz="6600"/>
              <a:t>Thank you!</a:t>
            </a:r>
          </a:p>
        </p:txBody>
      </p:sp>
      <p:pic>
        <p:nvPicPr>
          <p:cNvPr id="6" name="Graphic 5" descr="Smiling Face with No Fill">
            <a:extLst>
              <a:ext uri="{FF2B5EF4-FFF2-40B4-BE49-F238E27FC236}">
                <a16:creationId xmlns:a16="http://schemas.microsoft.com/office/drawing/2014/main" id="{558058AE-A14B-AF27-2A17-E2D8B28DD4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21906" y="3357317"/>
            <a:ext cx="2862508" cy="2862508"/>
          </a:xfrm>
          <a:prstGeom prst="rect">
            <a:avLst/>
          </a:prstGeom>
        </p:spPr>
      </p:pic>
    </p:spTree>
    <p:extLst>
      <p:ext uri="{BB962C8B-B14F-4D97-AF65-F5344CB8AC3E}">
        <p14:creationId xmlns:p14="http://schemas.microsoft.com/office/powerpoint/2010/main" val="2742083629"/>
      </p:ext>
    </p:extLst>
  </p:cSld>
  <p:clrMapOvr>
    <a:masterClrMapping/>
  </p:clrMapOvr>
</p:sld>
</file>

<file path=ppt/theme/theme1.xml><?xml version="1.0" encoding="utf-8"?>
<a:theme xmlns:a="http://schemas.openxmlformats.org/drawingml/2006/main" name="FadeVTI">
  <a:themeElements>
    <a:clrScheme name="gradient">
      <a:dk1>
        <a:sysClr val="windowText" lastClr="000000"/>
      </a:dk1>
      <a:lt1>
        <a:sysClr val="window" lastClr="FFFFFF"/>
      </a:lt1>
      <a:dk2>
        <a:srgbClr val="203040"/>
      </a:dk2>
      <a:lt2>
        <a:srgbClr val="ECF0F0"/>
      </a:lt2>
      <a:accent1>
        <a:srgbClr val="00BAC8"/>
      </a:accent1>
      <a:accent2>
        <a:srgbClr val="794DFF"/>
      </a:accent2>
      <a:accent3>
        <a:srgbClr val="00D17D"/>
      </a:accent3>
      <a:accent4>
        <a:srgbClr val="E69500"/>
      </a:accent4>
      <a:accent5>
        <a:srgbClr val="FE5D21"/>
      </a:accent5>
      <a:accent6>
        <a:srgbClr val="DA2A69"/>
      </a:accent6>
      <a:hlink>
        <a:srgbClr val="3E8FF1"/>
      </a:hlink>
      <a:folHlink>
        <a:srgbClr val="939393"/>
      </a:folHlink>
    </a:clrScheme>
    <a:fontScheme name="Custom 49">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deVTI" id="{1194088A-B135-4437-9FD8-7466BBC13A13}" vid="{B787DE2F-1995-45D8-A8E2-6B5CC521AC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3853</Words>
  <Application>Microsoft Macintosh PowerPoint</Application>
  <PresentationFormat>Widescreen</PresentationFormat>
  <Paragraphs>567</Paragraphs>
  <Slides>41</Slides>
  <Notes>31</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41</vt:i4>
      </vt:variant>
    </vt:vector>
  </HeadingPairs>
  <TitlesOfParts>
    <vt:vector size="53" baseType="lpstr">
      <vt:lpstr>__foundersGrotesk_c3e0d2</vt:lpstr>
      <vt:lpstr>Aharoni</vt:lpstr>
      <vt:lpstr>Aptos</vt:lpstr>
      <vt:lpstr>Arial</vt:lpstr>
      <vt:lpstr>Avenir Next LT Pro</vt:lpstr>
      <vt:lpstr>Calibri</vt:lpstr>
      <vt:lpstr>Helvetica</vt:lpstr>
      <vt:lpstr>Inter</vt:lpstr>
      <vt:lpstr>KaTeX_Main</vt:lpstr>
      <vt:lpstr>KaTeX_Math</vt:lpstr>
      <vt:lpstr>Times New Roman</vt:lpstr>
      <vt:lpstr>FadeVTI</vt:lpstr>
      <vt:lpstr>Final Project  SCM 516</vt:lpstr>
      <vt:lpstr>Objective</vt:lpstr>
      <vt:lpstr>PowerPoint Presentation</vt:lpstr>
      <vt:lpstr>Preprocessing steps:</vt:lpstr>
      <vt:lpstr>Models </vt:lpstr>
      <vt:lpstr>Confusion Matrix for Naïve Bayes</vt:lpstr>
      <vt:lpstr>Confusion Matrix for KNN</vt:lpstr>
      <vt:lpstr>Finding the Optimal K:</vt:lpstr>
      <vt:lpstr>Confusion Matrix for KNN for optimal k=1</vt:lpstr>
      <vt:lpstr>Confusion Matrix for Decision Tree</vt:lpstr>
      <vt:lpstr>Confusion Matrix for Random Forest</vt:lpstr>
      <vt:lpstr>ROC Curve Analysis (for training dataset):</vt:lpstr>
      <vt:lpstr>ROC Curve Analysis (for testing dataset):</vt:lpstr>
      <vt:lpstr>Performance Comparison Evaluating Model Effectiveness</vt:lpstr>
      <vt:lpstr>Classification report of Random Forest</vt:lpstr>
      <vt:lpstr>Let's see how well our model performs on unseen data?</vt:lpstr>
      <vt:lpstr>New dataset:</vt:lpstr>
      <vt:lpstr>Feature Importance using Naïve Bayes</vt:lpstr>
      <vt:lpstr>Importance of Feature (determined using Random Forest):</vt:lpstr>
      <vt:lpstr>Which model performed best?</vt:lpstr>
      <vt:lpstr>New dataset with churn values:</vt:lpstr>
      <vt:lpstr>Are there any signs of overfitting?</vt:lpstr>
      <vt:lpstr>Key Insights from Conditional Probability Analysis of Customer Churn:</vt:lpstr>
      <vt:lpstr>PowerPoint Presentation</vt:lpstr>
      <vt:lpstr>PowerPoint Presentation</vt:lpstr>
      <vt:lpstr>Preprocessing steps:</vt:lpstr>
      <vt:lpstr>Independent variables (after preprocessing):</vt:lpstr>
      <vt:lpstr>Equation of the Model:</vt:lpstr>
      <vt:lpstr>Interpretation of the Regression Equation</vt:lpstr>
      <vt:lpstr>Regression model methods:</vt:lpstr>
      <vt:lpstr>Interpretation of R2 and adjusted R2  (using Linear &amp; Polynomial Regression):</vt:lpstr>
      <vt:lpstr>Interpretation of R2 &amp; R2 adjusted values: </vt:lpstr>
      <vt:lpstr>Actual vs Predicted Rent:</vt:lpstr>
      <vt:lpstr>Correlation between Input variables:</vt:lpstr>
      <vt:lpstr>Correlation between Input &amp; Output variable:</vt:lpstr>
      <vt:lpstr>Visualization</vt:lpstr>
      <vt:lpstr>Visualizations for Binary Classification Analysis:</vt:lpstr>
      <vt:lpstr>Visualizations for Binary Classification Analysis:</vt:lpstr>
      <vt:lpstr>Visualizations for Regression Analysis:</vt:lpstr>
      <vt:lpstr>Visualizations for Regression Analysis: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Akanksha Manohar (Student)</dc:creator>
  <cp:lastModifiedBy>Meenakshi Rajeev Nair (Student)</cp:lastModifiedBy>
  <cp:revision>5</cp:revision>
  <dcterms:created xsi:type="dcterms:W3CDTF">2025-02-25T07:07:36Z</dcterms:created>
  <dcterms:modified xsi:type="dcterms:W3CDTF">2025-03-03T00:17:01Z</dcterms:modified>
</cp:coreProperties>
</file>